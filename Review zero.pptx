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3" r:id="rId3"/>
    <p:sldId id="264" r:id="rId4"/>
    <p:sldId id="257" r:id="rId5"/>
    <p:sldId id="261" r:id="rId6"/>
    <p:sldId id="259" r:id="rId7"/>
    <p:sldId id="258" r:id="rId8"/>
    <p:sldId id="260" r:id="rId9"/>
    <p:sldId id="262" r:id="rId1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EC1ECA-210E-4F5E-881A-15FC6748CF8B}" v="697" dt="2026-06-24T14:35:55.085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66" d="100"/>
          <a:sy n="66" d="100"/>
        </p:scale>
        <p:origin x="468" y="924"/>
      </p:cViewPr>
      <p:guideLst>
        <p:guide orient="horz" pos="2880"/>
        <p:guide pos="215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6704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1343025"/>
            <a:ext cx="1476375" cy="13811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999" y="4495800"/>
            <a:ext cx="1476375" cy="18383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3175" y="405828"/>
            <a:ext cx="4691380" cy="7254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9319" y="6386289"/>
            <a:ext cx="21653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05098" y="3581400"/>
            <a:ext cx="5540755" cy="234487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25"/>
              </a:spcBef>
            </a:pPr>
            <a:endParaRPr lang="en-IN" sz="2000" b="1" spc="-10" dirty="0">
              <a:latin typeface="Times New Roman" panose="02020603050405020304"/>
              <a:cs typeface="Times New Roman" panose="02020603050405020304"/>
            </a:endParaRPr>
          </a:p>
          <a:p>
            <a:pPr marL="12700" algn="l">
              <a:lnSpc>
                <a:spcPct val="100000"/>
              </a:lnSpc>
              <a:spcBef>
                <a:spcPts val="125"/>
              </a:spcBef>
            </a:pPr>
            <a:endParaRPr lang="en-IN" sz="2000" b="1" spc="-10" dirty="0">
              <a:latin typeface="Times New Roman" panose="02020603050405020304"/>
              <a:cs typeface="Times New Roman" panose="02020603050405020304"/>
            </a:endParaRPr>
          </a:p>
          <a:p>
            <a:pPr marL="12700" algn="l">
              <a:lnSpc>
                <a:spcPct val="100000"/>
              </a:lnSpc>
              <a:spcBef>
                <a:spcPts val="125"/>
              </a:spcBef>
            </a:pPr>
            <a:r>
              <a:rPr lang="en-IN" sz="1800" b="1" spc="-10" dirty="0">
                <a:latin typeface="Times New Roman" panose="02020603050405020304"/>
                <a:cs typeface="Times New Roman" panose="02020603050405020304"/>
              </a:rPr>
              <a:t>Team Number   :  </a:t>
            </a:r>
            <a:r>
              <a:rPr lang="en-IN" b="1" spc="-10" dirty="0">
                <a:latin typeface="Times New Roman" panose="02020603050405020304"/>
                <a:cs typeface="Times New Roman" panose="02020603050405020304"/>
              </a:rPr>
              <a:t>CO5</a:t>
            </a:r>
            <a:endParaRPr lang="en-IN" sz="1800" spc="-10" dirty="0">
              <a:latin typeface="Times New Roman" panose="02020603050405020304"/>
              <a:cs typeface="Times New Roman" panose="02020603050405020304"/>
            </a:endParaRPr>
          </a:p>
          <a:p>
            <a:pPr marL="12700" algn="l" rtl="0">
              <a:spcBef>
                <a:spcPts val="125"/>
              </a:spcBef>
            </a:pPr>
            <a:r>
              <a:rPr lang="en-IN" sz="1800" b="1" spc="-10" dirty="0">
                <a:latin typeface="Times New Roman" panose="02020603050405020304"/>
                <a:cs typeface="Times New Roman" panose="02020603050405020304"/>
              </a:rPr>
              <a:t>Team Guide </a:t>
            </a:r>
            <a:r>
              <a:rPr lang="en-US" altLang="en-IN" sz="1800" b="1" spc="-10" dirty="0">
                <a:latin typeface="Times New Roman" panose="02020603050405020304"/>
                <a:cs typeface="Times New Roman" panose="02020603050405020304"/>
              </a:rPr>
              <a:t>      </a:t>
            </a:r>
            <a:r>
              <a:rPr lang="en-IN" sz="1800" b="1" spc="-1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altLang="en-IN"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en-IN"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1800" b="1" dirty="0" err="1"/>
              <a:t>Ms.M.Kannukkiniyal</a:t>
            </a:r>
            <a:endParaRPr lang="en-IN" sz="1800" b="1" dirty="0"/>
          </a:p>
          <a:p>
            <a:pPr marL="12700" algn="l" rtl="0">
              <a:spcBef>
                <a:spcPts val="125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Team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Members</a:t>
            </a:r>
            <a:r>
              <a:rPr lang="en-US"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:</a:t>
            </a:r>
            <a:endParaRPr lang="en-US" sz="1800" b="1" spc="-10" dirty="0">
              <a:latin typeface="Times New Roman" panose="02020603050405020304"/>
              <a:cs typeface="Times New Roman" panose="02020603050405020304"/>
            </a:endParaRPr>
          </a:p>
          <a:p>
            <a:pPr marL="13970" algn="l">
              <a:spcBef>
                <a:spcPts val="5"/>
              </a:spcBef>
            </a:pPr>
            <a:r>
              <a:rPr lang="en-IN" b="1" spc="-10" dirty="0">
                <a:latin typeface="Times New Roman" panose="02020603050405020304"/>
                <a:cs typeface="Times New Roman" panose="02020603050405020304"/>
              </a:rPr>
              <a:t>		Mugilan K S</a:t>
            </a:r>
            <a:r>
              <a:rPr lang="en-US" altLang="en-IN"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1800" spc="-10" dirty="0">
                <a:latin typeface="Times New Roman" panose="02020603050405020304"/>
                <a:cs typeface="Times New Roman" panose="02020603050405020304"/>
              </a:rPr>
              <a:t>(23CSR138)</a:t>
            </a:r>
          </a:p>
          <a:p>
            <a:pPr marL="13970" algn="l">
              <a:lnSpc>
                <a:spcPct val="100000"/>
              </a:lnSpc>
              <a:spcBef>
                <a:spcPts val="5"/>
              </a:spcBef>
            </a:pPr>
            <a:r>
              <a:rPr lang="en-IN" sz="1800" spc="-10" dirty="0">
                <a:latin typeface="Times New Roman" panose="02020603050405020304"/>
                <a:cs typeface="Times New Roman" panose="02020603050405020304"/>
              </a:rPr>
              <a:t>		</a:t>
            </a:r>
            <a:r>
              <a:rPr lang="en-US" sz="1800" b="1" spc="-10" dirty="0">
                <a:latin typeface="Times New Roman" panose="02020603050405020304"/>
                <a:cs typeface="Times New Roman" panose="02020603050405020304"/>
              </a:rPr>
              <a:t>Nandha Kumar S</a:t>
            </a:r>
            <a:r>
              <a:rPr lang="en-IN"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1800" spc="-10" dirty="0">
                <a:latin typeface="Times New Roman" panose="02020603050405020304"/>
                <a:cs typeface="Times New Roman" panose="02020603050405020304"/>
              </a:rPr>
              <a:t>(23CSR140)</a:t>
            </a:r>
          </a:p>
          <a:p>
            <a:pPr marL="13970" algn="l">
              <a:lnSpc>
                <a:spcPct val="100000"/>
              </a:lnSpc>
              <a:spcBef>
                <a:spcPts val="5"/>
              </a:spcBef>
            </a:pPr>
            <a:r>
              <a:rPr lang="en-IN" sz="1800" spc="-10" dirty="0">
                <a:latin typeface="Times New Roman" panose="02020603050405020304"/>
                <a:cs typeface="Times New Roman" panose="02020603050405020304"/>
              </a:rPr>
              <a:t>		</a:t>
            </a:r>
            <a:r>
              <a:rPr lang="en-US" sz="1800" b="1" spc="-10" dirty="0">
                <a:latin typeface="Times New Roman" panose="02020603050405020304"/>
                <a:cs typeface="Times New Roman" panose="02020603050405020304"/>
              </a:rPr>
              <a:t>Nandhini A</a:t>
            </a:r>
            <a:r>
              <a:rPr lang="en-IN" sz="1800" spc="-10" dirty="0">
                <a:latin typeface="Times New Roman" panose="02020603050405020304"/>
                <a:cs typeface="Times New Roman" panose="02020603050405020304"/>
              </a:rPr>
              <a:t> (23CSR141)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53137" y="380881"/>
            <a:ext cx="5540755" cy="798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300" b="1" dirty="0">
                <a:solidFill>
                  <a:srgbClr val="000000"/>
                </a:solidFill>
                <a:latin typeface="Times New Roman"/>
                <a:cs typeface="Times New Roman"/>
              </a:rPr>
              <a:t>22CSP72 – PROJECT WORK II </a:t>
            </a:r>
          </a:p>
          <a:p>
            <a:pPr algn="ctr"/>
            <a:r>
              <a:rPr lang="en-IN" sz="2300" b="1" dirty="0">
                <a:solidFill>
                  <a:srgbClr val="000000"/>
                </a:solidFill>
                <a:latin typeface="Times New Roman"/>
                <a:cs typeface="Times New Roman"/>
              </a:rPr>
              <a:t>PHASE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3435" y="1733550"/>
            <a:ext cx="581914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AI-Powered News Trust and Credibility Analysis Platform</a:t>
            </a:r>
            <a:endParaRPr lang="en-US" sz="24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Date : 25-06-2026</a:t>
            </a:r>
          </a:p>
          <a:p>
            <a:pPr algn="ctr"/>
            <a:endParaRPr lang="en-US" sz="2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34FCA-D36F-CB17-59ED-1C3BAAB1C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38A67F2-F5FF-CABC-FBFA-1CBD02B5B6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93571" y="166914"/>
            <a:ext cx="4572000" cy="602023"/>
          </a:xfrm>
          <a:prstGeom prst="rect">
            <a:avLst/>
          </a:prstGeom>
        </p:spPr>
        <p:txBody>
          <a:bodyPr vert="horz" wrap="square" lIns="0" tIns="199961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2600" spc="-10" dirty="0">
                <a:solidFill>
                  <a:srgbClr val="FF0000"/>
                </a:solidFill>
              </a:rPr>
              <a:t>DOMAIN &amp; TITLE 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178A420-1E0F-3C0F-950E-2BA7E81E014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529319" y="6386289"/>
            <a:ext cx="216534" cy="2693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38100">
              <a:lnSpc>
                <a:spcPts val="2090"/>
              </a:lnSpc>
            </a:pPr>
            <a:endParaRPr spc="-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275D0-A8C4-6AFB-1C42-DB5FAFDF5F46}"/>
              </a:ext>
            </a:extLst>
          </p:cNvPr>
          <p:cNvSpPr txBox="1"/>
          <p:nvPr/>
        </p:nvSpPr>
        <p:spPr>
          <a:xfrm>
            <a:off x="1752600" y="1447800"/>
            <a:ext cx="510540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DOMAIN</a:t>
            </a:r>
          </a:p>
          <a:p>
            <a:pPr>
              <a:buNone/>
            </a:pPr>
            <a:endParaRPr lang="en-I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Artificial Intelligence (AI)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Natural Language Processing (NLP)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Deep Learning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TITLE</a:t>
            </a:r>
          </a:p>
          <a:p>
            <a:pPr>
              <a:buNone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AI-Powered News Trust and Credibility Analysis Platform</a:t>
            </a:r>
          </a:p>
        </p:txBody>
      </p:sp>
    </p:spTree>
    <p:extLst>
      <p:ext uri="{BB962C8B-B14F-4D97-AF65-F5344CB8AC3E}">
        <p14:creationId xmlns:p14="http://schemas.microsoft.com/office/powerpoint/2010/main" val="399982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9635D-8C18-DAC4-FE5C-DFFF17BDC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533400"/>
            <a:ext cx="4691380" cy="892552"/>
          </a:xfrm>
        </p:spPr>
        <p:txBody>
          <a:bodyPr/>
          <a:lstStyle/>
          <a:p>
            <a:r>
              <a:rPr lang="en-IN" sz="2600" dirty="0">
                <a:solidFill>
                  <a:srgbClr val="FF0000"/>
                </a:solidFill>
              </a:rPr>
              <a:t>INTRODUCTION</a:t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D3B4E1-F7B5-7AC6-605C-A2E888FF258E}"/>
              </a:ext>
            </a:extLst>
          </p:cNvPr>
          <p:cNvSpPr txBox="1"/>
          <p:nvPr/>
        </p:nvSpPr>
        <p:spPr>
          <a:xfrm>
            <a:off x="1066800" y="1486801"/>
            <a:ext cx="8229600" cy="3884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/>
              <a:t>Digital media platforms generate a large amount of news every day.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/>
              <a:t>Fake news and misinformation spread rapidly through social media.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/>
              <a:t>Existing systems mainly classify news as Fake or Real.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/>
              <a:t>Users need transparency and credibility assessment.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/>
              <a:t>AI and NLP can help evaluate the trustworthiness of news articles.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dirty="0"/>
              <a:t>The proposed system provides credibility analysis, bias detection, and trust scoring.</a:t>
            </a:r>
          </a:p>
        </p:txBody>
      </p:sp>
    </p:spTree>
    <p:extLst>
      <p:ext uri="{BB962C8B-B14F-4D97-AF65-F5344CB8AC3E}">
        <p14:creationId xmlns:p14="http://schemas.microsoft.com/office/powerpoint/2010/main" val="884454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FCE9-3773-B822-3E1F-11A5CABB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0DBB563-9C0D-E1D3-A790-AD3972BB4C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93571" y="166914"/>
            <a:ext cx="4572000" cy="602023"/>
          </a:xfrm>
          <a:prstGeom prst="rect">
            <a:avLst/>
          </a:prstGeom>
        </p:spPr>
        <p:txBody>
          <a:bodyPr vert="horz" wrap="square" lIns="0" tIns="199961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600" spc="-20" dirty="0">
                <a:solidFill>
                  <a:srgbClr val="FF0000"/>
                </a:solidFill>
              </a:rPr>
              <a:t>PROBLEM</a:t>
            </a:r>
            <a:r>
              <a:rPr lang="en-IN" sz="2600" spc="-200" dirty="0">
                <a:solidFill>
                  <a:srgbClr val="FF0000"/>
                </a:solidFill>
              </a:rPr>
              <a:t> </a:t>
            </a:r>
            <a:r>
              <a:rPr lang="en-IN" sz="2600" spc="-10" dirty="0">
                <a:solidFill>
                  <a:srgbClr val="FF0000"/>
                </a:solidFill>
              </a:rPr>
              <a:t>STATEMENT</a:t>
            </a:r>
            <a:endParaRPr lang="en-US" sz="2600" spc="-1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8F9AD-FCF8-E350-F2D1-08B49829A651}"/>
              </a:ext>
            </a:extLst>
          </p:cNvPr>
          <p:cNvSpPr txBox="1"/>
          <p:nvPr/>
        </p:nvSpPr>
        <p:spPr>
          <a:xfrm>
            <a:off x="1295399" y="1554495"/>
            <a:ext cx="745045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The rapid growth of digital media has increased the spread of fake news, biased reporting, and misinformation.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Most existing systems only classify news as Fake or Real and do not provide credibility analysis, source verification, bias detection, multilingual support, or explainable results.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An intelligent AI-based platform is required to </a:t>
            </a:r>
            <a:r>
              <a:rPr lang="en-IN" dirty="0" err="1"/>
              <a:t>analyze</a:t>
            </a:r>
            <a:r>
              <a:rPr lang="en-IN" dirty="0"/>
              <a:t> news articles, evaluate trustworthiness, verify claims, and provide transparent explanations to users.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7283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C3C34-59A4-BF75-79D9-F1094B4A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18B1D-6EB5-6AFF-7FE3-4528EFA15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9057" y="609600"/>
            <a:ext cx="4691380" cy="40011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IN" sz="2600" dirty="0">
                <a:solidFill>
                  <a:srgbClr val="FF0000"/>
                </a:solidFill>
              </a:rPr>
              <a:t>LITERATURE SURVEY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015C57-325E-8B4C-93E8-BE1457717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97615"/>
              </p:ext>
            </p:extLst>
          </p:nvPr>
        </p:nvGraphicFramePr>
        <p:xfrm>
          <a:off x="1295400" y="1676400"/>
          <a:ext cx="7450452" cy="457199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154100">
                  <a:extLst>
                    <a:ext uri="{9D8B030D-6E8A-4147-A177-3AD203B41FA5}">
                      <a16:colId xmlns:a16="http://schemas.microsoft.com/office/drawing/2014/main" val="3511061195"/>
                    </a:ext>
                  </a:extLst>
                </a:gridCol>
                <a:gridCol w="2148176">
                  <a:extLst>
                    <a:ext uri="{9D8B030D-6E8A-4147-A177-3AD203B41FA5}">
                      <a16:colId xmlns:a16="http://schemas.microsoft.com/office/drawing/2014/main" val="4133501443"/>
                    </a:ext>
                  </a:extLst>
                </a:gridCol>
                <a:gridCol w="2148176">
                  <a:extLst>
                    <a:ext uri="{9D8B030D-6E8A-4147-A177-3AD203B41FA5}">
                      <a16:colId xmlns:a16="http://schemas.microsoft.com/office/drawing/2014/main" val="3639593257"/>
                    </a:ext>
                  </a:extLst>
                </a:gridCol>
              </a:tblGrid>
              <a:tr h="468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</a:rPr>
                        <a:t>Title of Journal/Paper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824840"/>
                  </a:ext>
                </a:extLst>
              </a:tr>
              <a:tr h="820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Fake News Detection Using 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BERT-based NLP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Bias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4031478"/>
                  </a:ext>
                </a:extLst>
              </a:tr>
              <a:tr h="820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Explainable Fake News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 Learning + XAI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Source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397274"/>
                  </a:ext>
                </a:extLst>
              </a:tr>
              <a:tr h="820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Multilingual Fake News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Transformer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Explainability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597032"/>
                  </a:ext>
                </a:extLst>
              </a:tr>
              <a:tr h="820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News Credibility Assessment Using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Credibility Scoring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Cross-Source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04388"/>
                  </a:ext>
                </a:extLst>
              </a:tr>
              <a:tr h="820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Bias Detection in News Articles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RoBERTa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Trust Score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47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849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300" y="366236"/>
            <a:ext cx="3646714" cy="40011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IN" sz="2600">
                <a:solidFill>
                  <a:srgbClr val="FF0000"/>
                </a:solidFill>
              </a:rPr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371600"/>
            <a:ext cx="8145851" cy="46115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latin typeface="Times New Roman"/>
                <a:cs typeface="Times New Roman"/>
              </a:rPr>
              <a:t> </a:t>
            </a:r>
            <a:r>
              <a:rPr lang="en-IN" dirty="0"/>
              <a:t>Many existing studies focus only on binary fake news classification (Fake / Real) rather than providing a complete credibility assessment.</a:t>
            </a:r>
          </a:p>
          <a:p>
            <a:pPr algn="just">
              <a:lnSpc>
                <a:spcPct val="150000"/>
              </a:lnSpc>
            </a:pPr>
            <a:endParaRPr lang="en-IN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Existing approaches primarily </a:t>
            </a:r>
            <a:r>
              <a:rPr lang="en-IN" dirty="0" err="1"/>
              <a:t>analyze</a:t>
            </a:r>
            <a:r>
              <a:rPr lang="en-IN" dirty="0"/>
              <a:t> news content and do not include source credibility analysis, cross-source verification, and trust evaluation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Most fake news detection systems are developed for English content and provide limited support for regional languages such as Tamil and Hindi.</a:t>
            </a:r>
          </a:p>
          <a:p>
            <a:pPr algn="just">
              <a:lnSpc>
                <a:spcPct val="150000"/>
              </a:lnSpc>
            </a:pPr>
            <a:endParaRPr lang="en-IN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Existing models can detect misinformation but often fail to identify political bias, emotional manipulation, and one-sided reporting.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D8ED0BA1-0BEA-A824-BFEA-B574D9ADF55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529319" y="6386289"/>
            <a:ext cx="216534" cy="2693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38100">
              <a:lnSpc>
                <a:spcPts val="2090"/>
              </a:lnSpc>
            </a:pPr>
            <a:r>
              <a:rPr lang="en-GB" spc="-50"/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70629" y="384629"/>
            <a:ext cx="4691380" cy="530144"/>
          </a:xfrm>
          <a:prstGeom prst="rect">
            <a:avLst/>
          </a:prstGeom>
        </p:spPr>
        <p:txBody>
          <a:bodyPr vert="horz" wrap="square" lIns="0" tIns="128777" rIns="0" bIns="0" rtlCol="0" anchor="t">
            <a:spAutoFit/>
          </a:bodyPr>
          <a:lstStyle/>
          <a:p>
            <a:pPr marL="1174750">
              <a:lnSpc>
                <a:spcPct val="100000"/>
              </a:lnSpc>
              <a:spcBef>
                <a:spcPts val="125"/>
              </a:spcBef>
            </a:pPr>
            <a:r>
              <a:rPr lang="en-IN" sz="2600">
                <a:solidFill>
                  <a:srgbClr val="FF0000"/>
                </a:solidFill>
              </a:rPr>
              <a:t>OBJECTIVES</a:t>
            </a:r>
            <a:endParaRPr lang="en-US" sz="2600" spc="-1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6800" y="1066801"/>
            <a:ext cx="8077200" cy="5847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IN" sz="20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To develop an AI-powered system for detecting fake and misleading news articles.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To </a:t>
            </a:r>
            <a:r>
              <a:rPr lang="en-IN" dirty="0" err="1"/>
              <a:t>analyze</a:t>
            </a:r>
            <a:r>
              <a:rPr lang="en-IN" dirty="0"/>
              <a:t> the credibility and reliability of news sources.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To identify political bias, emotional manipulation, and one-sided reporting in news content.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To verify important claims using multiple trusted news sources.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To provide explainable trust scores that help users understand the reasons behind credibility assessments.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To support multilingual news analysis for languages such as English, Tamil, and Hindi.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To monitor breaking news in real time and identify potentially misleading information.</a:t>
            </a:r>
          </a:p>
          <a:p>
            <a:pPr algn="just"/>
            <a:endParaRPr lang="en-IN"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4114" y="381000"/>
            <a:ext cx="2815771" cy="46166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IN" sz="3000" dirty="0">
                <a:solidFill>
                  <a:srgbClr val="FF0000"/>
                </a:solidFill>
              </a:rPr>
              <a:t>REFERENCES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239" y="1421316"/>
            <a:ext cx="8200571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dirty="0"/>
              <a:t>[1] S. Amri, H. C. Mputu </a:t>
            </a:r>
            <a:r>
              <a:rPr lang="en-IN" dirty="0" err="1"/>
              <a:t>Boleilanga</a:t>
            </a:r>
            <a:r>
              <a:rPr lang="en-IN" dirty="0"/>
              <a:t>, and E. </a:t>
            </a:r>
            <a:r>
              <a:rPr lang="en-IN" dirty="0" err="1"/>
              <a:t>Aïmeur</a:t>
            </a:r>
            <a:r>
              <a:rPr lang="en-IN" dirty="0"/>
              <a:t>, "</a:t>
            </a:r>
            <a:r>
              <a:rPr lang="en-IN" dirty="0" err="1"/>
              <a:t>ExFake</a:t>
            </a:r>
            <a:r>
              <a:rPr lang="en-IN" dirty="0"/>
              <a:t>: Towards an Explainable Fake News Detection Based on Content and Social Context Information," </a:t>
            </a:r>
            <a:r>
              <a:rPr lang="en-IN" dirty="0" err="1"/>
              <a:t>arXiv</a:t>
            </a:r>
            <a:r>
              <a:rPr lang="en-IN" dirty="0"/>
              <a:t>, 2023.</a:t>
            </a:r>
          </a:p>
          <a:p>
            <a:endParaRPr lang="en-IN" dirty="0"/>
          </a:p>
          <a:p>
            <a:r>
              <a:rPr lang="en-IN" dirty="0"/>
              <a:t>[2] S. Muñoz et al., "Exploiting Content Characteristics for Explainable Fake News Detection," Information, 2024.</a:t>
            </a:r>
          </a:p>
          <a:p>
            <a:endParaRPr lang="en-IN" dirty="0"/>
          </a:p>
          <a:p>
            <a:r>
              <a:rPr lang="en-IN" dirty="0"/>
              <a:t>[3] B. Wang et al., "Explainable Fake News Detection With Large Language Model via </a:t>
            </a:r>
            <a:r>
              <a:rPr lang="en-IN" dirty="0" err="1"/>
              <a:t>Defense</a:t>
            </a:r>
            <a:r>
              <a:rPr lang="en-IN" dirty="0"/>
              <a:t> Among Competing Wisdom," </a:t>
            </a:r>
            <a:r>
              <a:rPr lang="en-IN" dirty="0" err="1"/>
              <a:t>arXiv</a:t>
            </a:r>
            <a:r>
              <a:rPr lang="en-IN" dirty="0"/>
              <a:t>, 2024.</a:t>
            </a:r>
          </a:p>
          <a:p>
            <a:endParaRPr lang="en-IN" dirty="0"/>
          </a:p>
          <a:p>
            <a:r>
              <a:rPr lang="en-IN" dirty="0"/>
              <a:t>[4] R. Jadhav et al., "Explainable Multilingual and Multimodal Fake-News Detection Toward Robust and Trustworthy AI for Combating Misinformation," Frontiers in Artificial Intelligence, 2025.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CAD92D4D-C0B8-EBD0-3224-A50B4F8D22D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529319" y="6386289"/>
            <a:ext cx="216534" cy="26930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38100">
              <a:lnSpc>
                <a:spcPts val="2090"/>
              </a:lnSpc>
            </a:pPr>
            <a:r>
              <a:rPr lang="en-GB" spc="-50"/>
              <a:t>5</a:t>
            </a:r>
            <a:endParaRPr lang="en-GB"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2EF61-9017-3A44-7BFD-D8733D5B6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CEC93-40F4-42B9-FCCB-34DEF929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086" y="3037114"/>
            <a:ext cx="2913742" cy="538609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IN" sz="350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86894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595</Words>
  <Application>Microsoft Office PowerPoint</Application>
  <PresentationFormat>On-screen Show (4:3)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MT</vt:lpstr>
      <vt:lpstr>Calibri</vt:lpstr>
      <vt:lpstr>Times New Roman</vt:lpstr>
      <vt:lpstr>Wingdings</vt:lpstr>
      <vt:lpstr>Office Theme</vt:lpstr>
      <vt:lpstr>PowerPoint Presentation</vt:lpstr>
      <vt:lpstr>DOMAIN &amp; TITLE </vt:lpstr>
      <vt:lpstr>INTRODUCTION </vt:lpstr>
      <vt:lpstr>PROBLEM STATEMENT</vt:lpstr>
      <vt:lpstr>LITERATURE SURVEY </vt:lpstr>
      <vt:lpstr>RESEARCH GAP</vt:lpstr>
      <vt:lpstr>OBJECTIVES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Nandhini Arumugam</dc:creator>
  <cp:lastModifiedBy>Nandhini Arumugam</cp:lastModifiedBy>
  <cp:revision>172</cp:revision>
  <dcterms:created xsi:type="dcterms:W3CDTF">2026-04-28T09:54:00Z</dcterms:created>
  <dcterms:modified xsi:type="dcterms:W3CDTF">2026-06-24T17:54:06Z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2025-05-21T05:30:00Z</vt:filetime>
  </property>
  <property fmtid="{D5CDD505-2E9C-101B-9397-08002B2CF9AE}" pid="4" name="LastSaved">
    <vt:filetime>2026-04-28T05:30:00Z</vt:filetime>
  </property>
  <property fmtid="{D5CDD505-2E9C-101B-9397-08002B2CF9AE}" pid="5" name="ICV">
    <vt:lpwstr>BC8B351D5FD946E0859B7F90356DA4D9_13</vt:lpwstr>
  </property>
  <property fmtid="{D5CDD505-2E9C-101B-9397-08002B2CF9AE}" pid="6" name="KSOProductBuildVer">
    <vt:lpwstr>1033-12.2.0.21931</vt:lpwstr>
  </property>
</Properties>
</file>