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8"/>
    <p:sldId id="258" r:id="rId9"/>
    <p:sldId id="259" r:id="rId10"/>
    <p:sldId id="260" r:id="rId11"/>
    <p:sldId id="261" r:id="rId12"/>
    <p:sldId id="262" r:id="rId13"/>
    <p:sldId id="263" r:id="rId14"/>
    <p:sldId id="264" r:id="rId7"/>
    <p:sldId id="265" r:id="rId6"/>
    <p:sldId id="266" r:id="rId5"/>
    <p:sldId id="267" r:id="rId4"/>
    <p:sldId id="268" r:id="rId3"/>
    <p:sldId id="269" r:id="rId20"/>
    <p:sldId id="270" r:id="rId21"/>
    <p:sldId id="271" r:id="rId22"/>
    <p:sldId id="272" r:id="rId23"/>
    <p:sldId id="273" r:id="rId24"/>
    <p:sldId id="274" r:id="rId25"/>
    <p:sldId id="275" r:id="rId26"/>
  </p:sldIdLst>
  <p:sldSz cx="9144000" cy="6858000" type="screen4x3"/>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14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13.xml"/><Relationship Id="rId4" Type="http://schemas.openxmlformats.org/officeDocument/2006/relationships/slide" Target="slides/slide12.xml"/><Relationship Id="rId5" Type="http://schemas.openxmlformats.org/officeDocument/2006/relationships/slide" Target="slides/slide11.xml"/><Relationship Id="rId6" Type="http://schemas.openxmlformats.org/officeDocument/2006/relationships/slide" Target="slides/slide10.xml"/><Relationship Id="rId7" Type="http://schemas.openxmlformats.org/officeDocument/2006/relationships/slide" Target="slides/slide9.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3F7A46"/>
                </a:solidFill>
                <a:latin typeface="Times New Roman"/>
                <a:ea typeface="Times New Roman"/>
                <a:cs typeface="Times New Roman"/>
              </a:rPr>
              <a:t>Higher is better</a:t>
            </a:r>
          </a:p>
        </c:rich>
      </c:tx>
      <c:layout/>
      <c:overlay val="0"/>
    </c:title>
    <c:autoTitleDeleted val="0"/>
    <c:plotArea>
      <c:barChart>
        <c:barDir val="col"/>
        <c:grouping val="clustered"/>
        <c:ser>
          <c:idx val="0"/>
          <c:order val="0"/>
          <c:tx>
            <c:strRef>
              <c:f>Sheet1!$B$1</c:f>
              <c:strCache>
                <c:ptCount val="1"/>
                <c:pt idx="0">
                  <c:v>Hand-weighted baseline</c:v>
                </c:pt>
              </c:strCache>
            </c:strRef>
          </c:tx>
          <c:spPr>
            <a:solidFill>
              <a:srgbClr val="A6A6A6"/>
            </a:solidFill>
          </c:spPr>
          <c:cat>
            <c:strRef>
              <c:f>Sheet1!$A$2:$A$4</c:f>
              <c:strCache>
                <c:ptCount val="3"/>
                <c:pt idx="0">
                  <c:v>Accuracy</c:v>
                </c:pt>
                <c:pt idx="1">
                  <c:v>ROC-AUC</c:v>
                </c:pt>
                <c:pt idx="2">
                  <c:v>Precision (accusing)</c:v>
                </c:pt>
              </c:strCache>
            </c:strRef>
          </c:cat>
          <c:val>
            <c:numRef>
              <c:f>Sheet1!$B$2:$B$4</c:f>
              <c:numCache>
                <c:formatCode>General</c:formatCode>
                <c:ptCount val="3"/>
                <c:pt idx="0">
                  <c:v>0.958</c:v>
                </c:pt>
                <c:pt idx="1">
                  <c:v>0.978</c:v>
                </c:pt>
                <c:pt idx="2">
                  <c:v>0.968</c:v>
                </c:pt>
              </c:numCache>
            </c:numRef>
          </c:val>
        </c:ser>
        <c:ser>
          <c:idx val="1"/>
          <c:order val="1"/>
          <c:tx>
            <c:strRef>
              <c:f>Sheet1!$C$1</c:f>
              <c:strCache>
                <c:ptCount val="1"/>
                <c:pt idx="0">
                  <c:v>Proposed system</c:v>
                </c:pt>
              </c:strCache>
            </c:strRef>
          </c:tx>
          <c:spPr>
            <a:solidFill>
              <a:srgbClr val="3F7A46"/>
            </a:solidFill>
          </c:spPr>
          <c:cat>
            <c:strRef>
              <c:f>Sheet1!$A$2:$A$4</c:f>
              <c:strCache>
                <c:ptCount val="3"/>
                <c:pt idx="0">
                  <c:v>Accuracy</c:v>
                </c:pt>
                <c:pt idx="1">
                  <c:v>ROC-AUC</c:v>
                </c:pt>
                <c:pt idx="2">
                  <c:v>Precision (accusing)</c:v>
                </c:pt>
              </c:strCache>
            </c:strRef>
          </c:cat>
          <c:val>
            <c:numRef>
              <c:f>Sheet1!$C$2:$C$4</c:f>
              <c:numCache>
                <c:formatCode>General</c:formatCode>
                <c:ptCount val="3"/>
                <c:pt idx="0">
                  <c:v>0.95</c:v>
                </c:pt>
                <c:pt idx="1">
                  <c:v>0.951</c:v>
                </c:pt>
                <c:pt idx="2">
                  <c:v>0.967</c:v>
                </c:pt>
              </c:numCache>
            </c:numRef>
          </c:val>
        </c:ser>
        <c:dLbls>
          <c:numFmt formatCode="0.000" sourceLinked="0"/>
          <c:txPr>
            <a:bodyPr/>
            <a:lstStyle/>
            <a:p>
              <a:pPr>
                <a:defRPr sz="1100"/>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200"/>
            </a:pPr>
          </a:p>
        </c:txPr>
        <c:crossAx val="-2113994440"/>
        <c:crosses val="autoZero"/>
        <c:auto val="1"/>
        <c:lblAlgn val="ctr"/>
        <c:lblOffset val="100"/>
        <c:noMultiLvlLbl val="0"/>
      </c:catAx>
      <c:valAx>
        <c:axId val="-2113994440"/>
        <c:scaling>
          <c:max val="1.0"/>
          <c:min val="0.8"/>
        </c:scaling>
        <c:delete val="0"/>
        <c:axPos val="l"/>
        <c:majorGridlines>
          <c:spPr>
            <a:ln>
              <a:solidFill>
                <a:srgbClr val="E3E3E3"/>
              </a:solidFill>
            </a:ln>
          </c:spPr>
        </c:majorGridlines>
        <c:numFmt formatCode="0.00" sourceLinked="0"/>
        <c:majorTickMark val="out"/>
        <c:minorTickMark val="none"/>
        <c:tickLblPos val="nextTo"/>
        <c:spPr>
          <a:ln>
            <a:noFill/>
          </a:ln>
        </c:spPr>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200">
          <a:solidFill>
            <a:srgbClr val="222222"/>
          </a:solidFill>
          <a:latin typeface="Times New Roman"/>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3F7A46"/>
                </a:solidFill>
                <a:latin typeface="Times New Roman"/>
                <a:ea typeface="Times New Roman"/>
                <a:cs typeface="Times New Roman"/>
              </a:rPr>
              <a:t>Lower is better</a:t>
            </a:r>
          </a:p>
        </c:rich>
      </c:tx>
      <c:layout/>
      <c:overlay val="0"/>
    </c:title>
    <c:autoTitleDeleted val="0"/>
    <c:plotArea>
      <c:barChart>
        <c:barDir val="col"/>
        <c:grouping val="clustered"/>
        <c:ser>
          <c:idx val="0"/>
          <c:order val="0"/>
          <c:tx>
            <c:strRef>
              <c:f>Sheet1!$B$1</c:f>
              <c:strCache>
                <c:ptCount val="1"/>
                <c:pt idx="0">
                  <c:v>Hand-weighted baseline</c:v>
                </c:pt>
              </c:strCache>
            </c:strRef>
          </c:tx>
          <c:spPr>
            <a:solidFill>
              <a:srgbClr val="A6A6A6"/>
            </a:solidFill>
          </c:spPr>
          <c:cat>
            <c:strRef>
              <c:f>Sheet1!$A$2:$A$4</c:f>
              <c:strCache>
                <c:ptCount val="3"/>
                <c:pt idx="0">
                  <c:v>ECE</c:v>
                </c:pt>
                <c:pt idx="1">
                  <c:v>ECE (accusing)</c:v>
                </c:pt>
                <c:pt idx="2">
                  <c:v>Brier score</c:v>
                </c:pt>
              </c:strCache>
            </c:strRef>
          </c:cat>
          <c:val>
            <c:numRef>
              <c:f>Sheet1!$B$2:$B$4</c:f>
              <c:numCache>
                <c:formatCode>General</c:formatCode>
                <c:ptCount val="3"/>
                <c:pt idx="0">
                  <c:v>0.237</c:v>
                </c:pt>
                <c:pt idx="1">
                  <c:v>0.267</c:v>
                </c:pt>
                <c:pt idx="2">
                  <c:v>0.101</c:v>
                </c:pt>
              </c:numCache>
            </c:numRef>
          </c:val>
        </c:ser>
        <c:ser>
          <c:idx val="1"/>
          <c:order val="1"/>
          <c:tx>
            <c:strRef>
              <c:f>Sheet1!$C$1</c:f>
              <c:strCache>
                <c:ptCount val="1"/>
                <c:pt idx="0">
                  <c:v>Proposed system</c:v>
                </c:pt>
              </c:strCache>
            </c:strRef>
          </c:tx>
          <c:spPr>
            <a:solidFill>
              <a:srgbClr val="3F7A46"/>
            </a:solidFill>
          </c:spPr>
          <c:cat>
            <c:strRef>
              <c:f>Sheet1!$A$2:$A$4</c:f>
              <c:strCache>
                <c:ptCount val="3"/>
                <c:pt idx="0">
                  <c:v>ECE</c:v>
                </c:pt>
                <c:pt idx="1">
                  <c:v>ECE (accusing)</c:v>
                </c:pt>
                <c:pt idx="2">
                  <c:v>Brier score</c:v>
                </c:pt>
              </c:strCache>
            </c:strRef>
          </c:cat>
          <c:val>
            <c:numRef>
              <c:f>Sheet1!$C$2:$C$4</c:f>
              <c:numCache>
                <c:formatCode>General</c:formatCode>
                <c:ptCount val="3"/>
                <c:pt idx="0">
                  <c:v>0.246</c:v>
                </c:pt>
                <c:pt idx="1">
                  <c:v>0.152</c:v>
                </c:pt>
                <c:pt idx="2">
                  <c:v>0.117</c:v>
                </c:pt>
              </c:numCache>
            </c:numRef>
          </c:val>
        </c:ser>
        <c:dLbls>
          <c:numFmt formatCode="0.000" sourceLinked="0"/>
          <c:txPr>
            <a:bodyPr/>
            <a:lstStyle/>
            <a:p>
              <a:pPr>
                <a:defRPr sz="1100"/>
              </a:pPr>
            </a:p>
          </c:txPr>
          <c:dLblPos val="outEnd"/>
          <c:showLegendKey val="0"/>
          <c:showVal val="1"/>
          <c:showCatName val="0"/>
          <c:showSerName val="0"/>
          <c:showPercent val="0"/>
          <c:showBubbleSize val="0"/>
          <c:showLeaderLines val="1"/>
        </c:dLbls>
        <c:gapWidth val="70"/>
        <c:overlap val="-5"/>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200"/>
            </a:pPr>
          </a:p>
        </c:txPr>
        <c:crossAx val="-2113994440"/>
        <c:crosses val="autoZero"/>
        <c:auto val="1"/>
        <c:lblAlgn val="ctr"/>
        <c:lblOffset val="100"/>
        <c:noMultiLvlLbl val="0"/>
      </c:catAx>
      <c:valAx>
        <c:axId val="-2113994440"/>
        <c:scaling>
          <c:max val="0.3"/>
          <c:min val="0.0"/>
        </c:scaling>
        <c:delete val="0"/>
        <c:axPos val="l"/>
        <c:majorGridlines>
          <c:spPr>
            <a:ln>
              <a:solidFill>
                <a:srgbClr val="E3E3E3"/>
              </a:solidFill>
            </a:ln>
          </c:spPr>
        </c:majorGridlines>
        <c:numFmt formatCode="0.00" sourceLinked="0"/>
        <c:majorTickMark val="out"/>
        <c:minorTickMark val="none"/>
        <c:tickLblPos val="nextTo"/>
        <c:spPr>
          <a:ln>
            <a:noFill/>
          </a:ln>
        </c:spPr>
        <c:txPr>
          <a:bodyPr/>
          <a:lstStyle/>
          <a:p>
            <a:pPr>
              <a:defRPr sz="1100"/>
            </a:pPr>
          </a:p>
        </c:txPr>
        <c:crossAx val="-2068027336"/>
        <c:crosses val="autoZero"/>
      </c:valAx>
    </c:plotArea>
    <c:legend>
      <c:legendPos val="b"/>
      <c:overlay val="0"/>
      <c:txPr>
        <a:bodyPr/>
        <a:lstStyle/>
        <a:p>
          <a:pPr>
            <a:defRPr sz="1200"/>
          </a:pPr>
        </a:p>
      </c:txPr>
    </c:legend>
    <c:dispBlanksAs val="gap"/>
  </c:chart>
  <c:txPr>
    <a:bodyPr/>
    <a:lstStyle/>
    <a:p>
      <a:pPr>
        <a:defRPr sz="1200">
          <a:solidFill>
            <a:srgbClr val="222222"/>
          </a:solidFill>
          <a:latin typeface="Times New Roman"/>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i="0">
                <a:solidFill>
                  <a:srgbClr val="3F7A46"/>
                </a:solidFill>
                <a:latin typeface="Times New Roman"/>
                <a:ea typeface="Times New Roman"/>
                <a:cs typeface="Times New Roman"/>
              </a:rPr>
              <a:t>Median time per call (seconds)</a:t>
            </a:r>
          </a:p>
        </c:rich>
      </c:tx>
      <c:layout/>
      <c:overlay val="0"/>
    </c:title>
    <c:autoTitleDeleted val="0"/>
    <c:plotArea>
      <c:barChart>
        <c:barDir val="bar"/>
        <c:grouping val="clustered"/>
        <c:ser>
          <c:idx val="0"/>
          <c:order val="0"/>
          <c:tx>
            <c:strRef>
              <c:f>Sheet1!$B$1</c:f>
              <c:strCache>
                <c:ptCount val="1"/>
                <c:pt idx="0">
                  <c:v>Local model (Llama 3.1 8B)</c:v>
                </c:pt>
              </c:strCache>
            </c:strRef>
          </c:tx>
          <c:spPr>
            <a:solidFill>
              <a:srgbClr val="3F7A46"/>
            </a:solidFill>
          </c:spPr>
          <c:cat>
            <c:strRef>
              <c:f>Sheet1!$A$2:$A$11</c:f>
              <c:strCache>
                <c:ptCount val="10"/>
                <c:pt idx="0">
                  <c:v>Search keywords</c:v>
                </c:pt>
                <c:pt idx="1">
                  <c:v>Summary</c:v>
                </c:pt>
                <c:pt idx="2">
                  <c:v>Detailed summary</c:v>
                </c:pt>
                <c:pt idx="3">
                  <c:v>Stance judgement</c:v>
                </c:pt>
                <c:pt idx="4">
                  <c:v>Claim extraction</c:v>
                </c:pt>
                <c:pt idx="5">
                  <c:v>Clickbait</c:v>
                </c:pt>
                <c:pt idx="6">
                  <c:v>Transparency</c:v>
                </c:pt>
                <c:pt idx="7">
                  <c:v>Persuasion</c:v>
                </c:pt>
                <c:pt idx="8">
                  <c:v>Bias</c:v>
                </c:pt>
                <c:pt idx="9">
                  <c:v>Premise check*</c:v>
                </c:pt>
              </c:strCache>
            </c:strRef>
          </c:cat>
          <c:val>
            <c:numRef>
              <c:f>Sheet1!$B$2:$B$11</c:f>
              <c:numCache>
                <c:formatCode>General</c:formatCode>
                <c:ptCount val="10"/>
                <c:pt idx="0">
                  <c:v>0.3</c:v>
                </c:pt>
                <c:pt idx="1">
                  <c:v>0.7</c:v>
                </c:pt>
                <c:pt idx="2">
                  <c:v>0.9</c:v>
                </c:pt>
                <c:pt idx="3">
                  <c:v>1.0</c:v>
                </c:pt>
                <c:pt idx="4">
                  <c:v>1.6</c:v>
                </c:pt>
                <c:pt idx="5">
                  <c:v>1.8</c:v>
                </c:pt>
                <c:pt idx="6">
                  <c:v>1.9</c:v>
                </c:pt>
                <c:pt idx="7">
                  <c:v>3.5</c:v>
                </c:pt>
                <c:pt idx="8">
                  <c:v>4.4</c:v>
                </c:pt>
                <c:pt idx="9">
                  <c:v>2.4</c:v>
                </c:pt>
              </c:numCache>
            </c:numRef>
          </c:val>
        </c:ser>
        <c:ser>
          <c:idx val="1"/>
          <c:order val="1"/>
          <c:tx>
            <c:strRef>
              <c:f>Sheet1!$C$1</c:f>
              <c:strCache>
                <c:ptCount val="1"/>
                <c:pt idx="0">
                  <c:v>Faster hosted model</c:v>
                </c:pt>
              </c:strCache>
            </c:strRef>
          </c:tx>
          <c:spPr>
            <a:solidFill>
              <a:srgbClr val="A6A6A6"/>
            </a:solidFill>
          </c:spPr>
          <c:cat>
            <c:strRef>
              <c:f>Sheet1!$A$2:$A$11</c:f>
              <c:strCache>
                <c:ptCount val="10"/>
                <c:pt idx="0">
                  <c:v>Search keywords</c:v>
                </c:pt>
                <c:pt idx="1">
                  <c:v>Summary</c:v>
                </c:pt>
                <c:pt idx="2">
                  <c:v>Detailed summary</c:v>
                </c:pt>
                <c:pt idx="3">
                  <c:v>Stance judgement</c:v>
                </c:pt>
                <c:pt idx="4">
                  <c:v>Claim extraction</c:v>
                </c:pt>
                <c:pt idx="5">
                  <c:v>Clickbait</c:v>
                </c:pt>
                <c:pt idx="6">
                  <c:v>Transparency</c:v>
                </c:pt>
                <c:pt idx="7">
                  <c:v>Persuasion</c:v>
                </c:pt>
                <c:pt idx="8">
                  <c:v>Bias</c:v>
                </c:pt>
                <c:pt idx="9">
                  <c:v>Premise check*</c:v>
                </c:pt>
              </c:strCache>
            </c:strRef>
          </c:cat>
          <c:val>
            <c:numRef>
              <c:f>Sheet1!$C$2:$C$11</c:f>
              <c:numCache>
                <c:formatCode>General</c:formatCode>
                <c:ptCount val="10"/>
                <c:pt idx="0">
                  <c:v>3.4</c:v>
                </c:pt>
                <c:pt idx="1">
                  <c:v>3.3</c:v>
                </c:pt>
                <c:pt idx="2">
                  <c:v>5.3</c:v>
                </c:pt>
                <c:pt idx="3">
                  <c:v>1.7</c:v>
                </c:pt>
                <c:pt idx="4">
                  <c:v>25.1</c:v>
                </c:pt>
                <c:pt idx="5">
                  <c:v>3.1</c:v>
                </c:pt>
                <c:pt idx="6">
                  <c:v>7.7</c:v>
                </c:pt>
                <c:pt idx="7">
                  <c:v>11.3</c:v>
                </c:pt>
                <c:pt idx="8">
                  <c:v>8.0</c:v>
                </c:pt>
                <c:pt idx="9">
                  <c:v>10.8</c:v>
                </c:pt>
              </c:numCache>
            </c:numRef>
          </c:val>
        </c:ser>
        <c:dLbls>
          <c:numFmt formatCode="0.0" sourceLinked="0"/>
          <c:txPr>
            <a:bodyPr/>
            <a:lstStyle/>
            <a:p>
              <a:pPr>
                <a:defRPr sz="1000"/>
              </a:pPr>
            </a:p>
          </c:txPr>
          <c:dLblPos val="outEnd"/>
          <c:showLegendKey val="0"/>
          <c:showVal val="1"/>
          <c:showCatName val="0"/>
          <c:showSerName val="0"/>
          <c:showPercent val="0"/>
          <c:showBubbleSize val="0"/>
          <c:showLeaderLines val="1"/>
        </c:dLbls>
        <c:gapWidth val="55"/>
        <c:overlap val="-5"/>
        <c:axId val="-2068027336"/>
        <c:axId val="-2113994440"/>
      </c:barChart>
      <c:catAx>
        <c:axId val="-2068027336"/>
        <c:scaling>
          <c:orientation val="maxMin"/>
        </c:scaling>
        <c:delete val="0"/>
        <c:axPos val="l"/>
        <c:majorTickMark val="out"/>
        <c:minorTickMark val="none"/>
        <c:tickLblPos val="nextTo"/>
        <c:txPr>
          <a:bodyPr/>
          <a:lstStyle/>
          <a:p>
            <a:pPr>
              <a:defRPr sz="1100"/>
            </a:pPr>
          </a:p>
        </c:txPr>
        <c:crossAx val="-2113994440"/>
        <c:crosses val="autoZero"/>
        <c:auto val="1"/>
        <c:lblAlgn val="ctr"/>
        <c:lblOffset val="100"/>
        <c:noMultiLvlLbl val="0"/>
      </c:catAx>
      <c:valAx>
        <c:axId val="-2113994440"/>
        <c:scaling>
          <c:max val="30.0"/>
          <c:min val="0.0"/>
        </c:scaling>
        <c:delete val="0"/>
        <c:axPos val="b"/>
        <c:majorGridlines>
          <c:spPr>
            <a:ln>
              <a:solidFill>
                <a:srgbClr val="E3E3E3"/>
              </a:solidFill>
            </a:ln>
          </c:spPr>
        </c:majorGridlines>
        <c:majorTickMark val="out"/>
        <c:minorTickMark val="none"/>
        <c:tickLblPos val="nextTo"/>
        <c:txPr>
          <a:bodyPr/>
          <a:lstStyle/>
          <a:p>
            <a:pPr>
              <a:defRPr sz="1000"/>
            </a:pPr>
          </a:p>
        </c:txPr>
        <c:crossAx val="-2068027336"/>
        <c:crosses val="autoZero"/>
        <c:majorUnit val="5.0"/>
      </c:valAx>
    </c:plotArea>
    <c:legend>
      <c:legendPos val="b"/>
      <c:overlay val="0"/>
    </c:legend>
    <c:dispBlanksAs val="gap"/>
  </c:chart>
  <c:txPr>
    <a:bodyPr/>
    <a:lstStyle/>
    <a:p>
      <a:pPr>
        <a:defRPr sz="1100">
          <a:solidFill>
            <a:srgbClr val="222222"/>
          </a:solidFill>
          <a:latin typeface="Times New Roman"/>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5770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We are Team CO5. Our project checks whether a news story is supported by independent evidence, instead of judging it by how it is written.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The writer controls every style signal, so a careful fake passes a style-based detector. We saw this in our own earlier pipeline. The six objectives follow from that.</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DEFAME is our base paper. The others show why style-based detection fails and what is missing for a reader-facing tool.</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DEFAME is the closest published system. We keep its evidence-first approach and add what a public tool needs. We did not run DEFAME on our cases, so this compares design and documented behaviour.</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Each gap on the left is answered by one part of the system on the right.</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Five layers. The client streams results as each check finishes. Every model call goes through one gateway that routes each task to the provider measured best for it. External services are reached only by the analysis agents.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One request end to end. The gate runs before anything expensive. The four channels run in parallel. Writing checks may only add suspicion. The verdict comes from ordered rules, and the report streams to the reader as each part finishes.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The scoring model. Each observation is a measured likelihood ratio, not a hand-picked weight. The one-sided rule means good writing can never buy trust. The priors are declared and labelled as such.</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The verdict says what has been established; the probability says how likely fabrication is. An uncorroborated story can have a low probability and still be CANNOT VERIFY.</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Left: what was in place at Review 2. Right: what was built since, all complete and tested.</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Same 120 held-out ISOT articles, same check outputs, two scoring rules. Accuracy is the same to within one article. Where the system accuses, its stated probability is now much closer to the truth.</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ISOT fakes are crude, so we wrote careful fabrications. The baseline believed four of six; the proposed rule believed none. A copycat BBC page no longer inherits the BBC rating.</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Twelve cases through the running application on 4 October 2026, every input type and every verdict. Midway the internet dropped; every affected case said "verification unavailable", none was called false.</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Each task ran three times on each provider. The local model was faster everywhere and the most reliable at claim extraction, but it missed the false premise every time, so that one task goes to NIM.</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All code is on GitHub. Every number in the report can be reproduced by a script in backend/eval.</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SDG 16 is the main goal, through target 16.10 on public access to information.</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The front page stamps each story from the cache or the publisher rating. Check Anything accepts text, a link or a screenshot.</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A genuine report confirmed by three independent outlets, and the "Prime Minister Rahul Gandhi" story refuted by the line quoted from his Wikipedia entry.</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The article page shows the verdict above the story. The comparison lays out how different outlets cover one event.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4400550"/>
            <a:ext cx="5486400" cy="3600450"/>
          </a:xfrm>
        </p:spPr>
        <p:txBody>
          <a:bodyPr/>
          <a:lstStyle/>
          <a:p>
            <a:r>
              <a:t>To close: the system judges a story by evidence, abstains when it cannot decide, and the results bear that out. A live demo is ready.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11.xml"/><Relationship Id="rId4" Type="http://schemas.openxmlformats.org/officeDocument/2006/relationships/chart" Target="../charts/chart1.xml"/><Relationship Id="rId5" Type="http://schemas.openxmlformats.org/officeDocument/2006/relationships/chart" Target="../charts/char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14.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17.xml"/><Relationship Id="rId4" Type="http://schemas.openxmlformats.org/officeDocument/2006/relationships/image" Target="../media/image5.png"/><Relationship Id="rId5"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18.xml"/><Relationship Id="rId4" Type="http://schemas.openxmlformats.org/officeDocument/2006/relationships/image" Target="../media/image7.png"/><Relationship Id="rId5"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19.xml"/><Relationship Id="rId4" Type="http://schemas.openxmlformats.org/officeDocument/2006/relationships/image" Target="../media/image9.png"/><Relationship Id="rId5"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g"/><Relationship Id="rId3"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template_unpacked/ppt/media/image2.jpeg"/>
          <p:cNvPicPr>
            <a:picLocks noChangeAspect="1"/>
          </p:cNvPicPr>
          <p:nvPr/>
        </p:nvPicPr>
        <p:blipFill>
          <a:blip r:embed="rId3"/>
          <a:stretch>
            <a:fillRect/>
          </a:stretch>
        </p:blipFill>
        <p:spPr>
          <a:xfrm>
            <a:off x="94336" y="0"/>
            <a:ext cx="3066898" cy="6858000"/>
          </a:xfrm>
          <a:prstGeom prst="rect">
            <a:avLst/>
          </a:prstGeom>
        </p:spPr>
      </p:pic>
      <p:pic>
        <p:nvPicPr>
          <p:cNvPr id="3" name="Image 1" descr="template_unpacked/ppt/media/image3.png"/>
          <p:cNvPicPr>
            <a:picLocks noChangeAspect="1"/>
          </p:cNvPicPr>
          <p:nvPr/>
        </p:nvPicPr>
        <p:blipFill>
          <a:blip r:embed="rId4"/>
          <a:stretch>
            <a:fillRect/>
          </a:stretch>
        </p:blipFill>
        <p:spPr>
          <a:xfrm>
            <a:off x="1524305" y="1343254"/>
            <a:ext cx="1476756" cy="1380744"/>
          </a:xfrm>
          <a:prstGeom prst="rect">
            <a:avLst/>
          </a:prstGeom>
        </p:spPr>
      </p:pic>
      <p:pic>
        <p:nvPicPr>
          <p:cNvPr id="4" name="Image 2" descr="template_unpacked/ppt/media/image4.png"/>
          <p:cNvPicPr>
            <a:picLocks noChangeAspect="1"/>
          </p:cNvPicPr>
          <p:nvPr/>
        </p:nvPicPr>
        <p:blipFill>
          <a:blip r:embed="rId5"/>
          <a:stretch>
            <a:fillRect/>
          </a:stretch>
        </p:blipFill>
        <p:spPr>
          <a:xfrm>
            <a:off x="380939" y="4495190"/>
            <a:ext cx="1476756" cy="1837944"/>
          </a:xfrm>
          <a:prstGeom prst="rect">
            <a:avLst/>
          </a:prstGeom>
        </p:spPr>
      </p:pic>
      <p:sp>
        <p:nvSpPr>
          <p:cNvPr id="5" name="Text 0"/>
          <p:cNvSpPr txBox="1"/>
          <p:nvPr/>
        </p:nvSpPr>
        <p:spPr>
          <a:xfrm>
            <a:off x="3353105" y="650922"/>
            <a:ext cx="5541264" cy="822960"/>
          </a:xfrm>
          <a:prstGeom prst="rect">
            <a:avLst/>
          </a:prstGeom>
          <a:noFill/>
          <a:ln/>
        </p:spPr>
        <p:txBody>
          <a:bodyPr wrap="square" lIns="0" tIns="0" rIns="0" bIns="0" rtlCol="0" anchor="ctr"/>
          <a:lstStyle/>
          <a:p>
            <a:pPr marL="0" indent="0" algn="ctr">
              <a:buNone/>
            </a:pPr>
            <a:r>
              <a:rPr lang="en-US" sz="2000" b="1" dirty="0">
                <a:solidFill>
                  <a:srgbClr val="222222"/>
                </a:solidFill>
                <a:latin typeface="Times New Roman" pitchFamily="34" charset="0"/>
                <a:ea typeface="Times New Roman" pitchFamily="34" charset="-122"/>
                <a:cs typeface="Times New Roman" pitchFamily="34" charset="-120"/>
              </a:rPr>
              <a:t>22CSP72 – PROJECT WORK II</a:t>
            </a:r>
            <a:endParaRPr lang="en-US" sz="2000" dirty="0"/>
          </a:p>
          <a:p>
            <a:pPr marL="0" indent="0" algn="ctr">
              <a:buNone/>
            </a:pPr>
            <a:r>
              <a:rPr lang="en-US" sz="2000" b="1" dirty="0">
                <a:solidFill>
                  <a:srgbClr val="222222"/>
                </a:solidFill>
                <a:latin typeface="Times New Roman" pitchFamily="34" charset="0"/>
                <a:ea typeface="Times New Roman" pitchFamily="34" charset="-122"/>
                <a:cs typeface="Times New Roman" pitchFamily="34" charset="-120"/>
              </a:rPr>
              <a:t>PHASE I REVIEW</a:t>
            </a:r>
            <a:endParaRPr lang="en-US" sz="2000" dirty="0"/>
          </a:p>
        </p:txBody>
      </p:sp>
      <p:sp>
        <p:nvSpPr>
          <p:cNvPr id="6" name="Text 1"/>
          <p:cNvSpPr txBox="1"/>
          <p:nvPr/>
        </p:nvSpPr>
        <p:spPr>
          <a:xfrm>
            <a:off x="3353105" y="1691640"/>
            <a:ext cx="5486400" cy="1828800"/>
          </a:xfrm>
          <a:prstGeom prst="rect">
            <a:avLst/>
          </a:prstGeom>
          <a:noFill/>
          <a:ln/>
        </p:spPr>
        <p:txBody>
          <a:bodyPr wrap="square" lIns="0" tIns="0" rIns="0" bIns="0" rtlCol="0" anchor="ctr"/>
          <a:lstStyle/>
          <a:p>
            <a:pPr algn="ctr"/>
            <a:r>
              <a:rPr lang="en-US" sz="2500" b="1" dirty="0">
                <a:solidFill>
                  <a:srgbClr val="FF0000"/>
                </a:solidFill>
                <a:latin typeface="Times New Roman" panose="02020603050405020304" pitchFamily="18" charset="0"/>
                <a:ea typeface="Times New Roman" pitchFamily="34" charset="-122"/>
                <a:cs typeface="Times New Roman" panose="02020603050405020304" pitchFamily="18" charset="0"/>
              </a:rPr>
              <a:t>Evidence-Based Fake News Detection with Calibrated Scoring</a:t>
            </a:r>
          </a:p>
          <a:p>
            <a:pPr algn="ctr"/>
            <a:r>
              <a:rPr lang="en-US" sz="2200" b="1" dirty="0">
                <a:solidFill>
                  <a:srgbClr val="FF0000"/>
                </a:solidFill>
                <a:latin typeface="Times New Roman" panose="02020603050405020304" pitchFamily="18" charset="0"/>
                <a:ea typeface="Times New Roman" pitchFamily="34" charset="-122"/>
                <a:cs typeface="Times New Roman" panose="02020603050405020304" pitchFamily="18" charset="0"/>
              </a:rPr>
              <a:t>
</a:t>
            </a:r>
            <a:r>
              <a:rPr lang="en-US" sz="1000" dirty="0">
                <a:solidFill>
                  <a:srgbClr val="000000"/>
                </a:solidFill>
                <a:latin typeface="Times New Roman" panose="02020603050405020304" pitchFamily="18" charset="0"/>
                <a:ea typeface="Times New Roman" pitchFamily="34" charset="-122"/>
                <a:cs typeface="Times New Roman" panose="02020603050405020304" pitchFamily="18" charset="0"/>
              </a:rPr>
              <a:t>
</a:t>
            </a:r>
            <a:r>
              <a:rPr lang="en-US" sz="2000" b="1" dirty="0">
                <a:latin typeface="Times New Roman"/>
                <a:cs typeface="Times New Roman"/>
              </a:rPr>
              <a:t>Date : 10-10-2026</a:t>
            </a:r>
          </a:p>
          <a:p>
            <a:pPr marL="0" indent="0" algn="ctr">
              <a:buNone/>
            </a:pPr>
            <a:endParaRPr lang="en-US" sz="2200" dirty="0">
              <a:latin typeface="Times New Roman" panose="02020603050405020304" pitchFamily="18" charset="0"/>
              <a:cs typeface="Times New Roman" panose="02020603050405020304" pitchFamily="18" charset="0"/>
            </a:endParaRPr>
          </a:p>
        </p:txBody>
      </p:sp>
      <p:sp>
        <p:nvSpPr>
          <p:cNvPr id="7" name="Text 2"/>
          <p:cNvSpPr txBox="1"/>
          <p:nvPr/>
        </p:nvSpPr>
        <p:spPr>
          <a:xfrm>
            <a:off x="3736848" y="3520440"/>
            <a:ext cx="5541264" cy="2468880"/>
          </a:xfrm>
          <a:prstGeom prst="rect">
            <a:avLst/>
          </a:prstGeom>
          <a:noFill/>
          <a:ln/>
        </p:spPr>
        <p:txBody>
          <a:bodyPr wrap="square" lIns="0" tIns="0" rIns="0" bIns="0" rtlCol="0" anchor="ctr"/>
          <a:lstStyle/>
          <a:p>
            <a:pPr marL="0" indent="0" algn="l">
              <a:lnSpc>
                <a:spcPct val="115000"/>
              </a:lnSpc>
              <a:buNone/>
            </a:pPr>
            <a:r>
              <a:rPr lang="en-US" sz="1600" b="1" dirty="0">
                <a:solidFill>
                  <a:srgbClr val="222222"/>
                </a:solidFill>
                <a:latin typeface="Times New Roman" pitchFamily="34" charset="0"/>
                <a:ea typeface="Times New Roman" pitchFamily="34" charset="-122"/>
                <a:cs typeface="Times New Roman" pitchFamily="34" charset="-120"/>
              </a:rPr>
              <a:t>Team Number  :   CO5
Team Guide      :   Ms. M. </a:t>
            </a:r>
            <a:r>
              <a:rPr lang="en-US" sz="1600" b="1" dirty="0" err="1">
                <a:solidFill>
                  <a:srgbClr val="222222"/>
                </a:solidFill>
                <a:latin typeface="Times New Roman" pitchFamily="34" charset="0"/>
                <a:ea typeface="Times New Roman" pitchFamily="34" charset="-122"/>
                <a:cs typeface="Times New Roman" pitchFamily="34" charset="-120"/>
              </a:rPr>
              <a:t>Kannukkiniyal</a:t>
            </a:r>
            <a:r>
              <a:rPr lang="en-US" sz="1600" b="1" dirty="0">
                <a:solidFill>
                  <a:srgbClr val="222222"/>
                </a:solidFill>
                <a:latin typeface="Times New Roman" pitchFamily="34" charset="0"/>
                <a:ea typeface="Times New Roman" pitchFamily="34" charset="-122"/>
                <a:cs typeface="Times New Roman" pitchFamily="34" charset="-120"/>
              </a:rPr>
              <a:t>
</a:t>
            </a:r>
            <a:r>
              <a:rPr lang="en-US" sz="600" dirty="0">
                <a:solidFill>
                  <a:srgbClr val="222222"/>
                </a:solidFill>
                <a:latin typeface="Times New Roman" pitchFamily="34" charset="0"/>
                <a:ea typeface="Times New Roman" pitchFamily="34" charset="-122"/>
                <a:cs typeface="Times New Roman" pitchFamily="34" charset="-120"/>
              </a:rPr>
              <a:t>
</a:t>
            </a:r>
            <a:r>
              <a:rPr lang="en-US" sz="1600" b="1" dirty="0">
                <a:solidFill>
                  <a:srgbClr val="222222"/>
                </a:solidFill>
                <a:latin typeface="Times New Roman" pitchFamily="34" charset="0"/>
                <a:ea typeface="Times New Roman" pitchFamily="34" charset="-122"/>
                <a:cs typeface="Times New Roman" pitchFamily="34" charset="-120"/>
              </a:rPr>
              <a:t>Team Members :
</a:t>
            </a:r>
            <a:r>
              <a:rPr lang="en-US" sz="1600" dirty="0">
                <a:solidFill>
                  <a:srgbClr val="222222"/>
                </a:solidFill>
                <a:latin typeface="Times New Roman" pitchFamily="34" charset="0"/>
                <a:ea typeface="Times New Roman" pitchFamily="34" charset="-122"/>
                <a:cs typeface="Times New Roman" pitchFamily="34" charset="-120"/>
              </a:rPr>
              <a:t>                               Mugilan K S (23CSR138)
                               Nandha Kumar S (23CSR140)
                               Nandhini A (23CSR141)</a:t>
            </a:r>
            <a:endParaRPr lang="en-US" sz="16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PROBLEM STATEMENT &amp; OBJECTIVES</a:t>
            </a:r>
          </a:p>
        </p:txBody>
      </p:sp>
      <p:sp>
        <p:nvSpPr>
          <p:cNvPr id="4" name="TextBox 3"/>
          <p:cNvSpPr txBox="1"/>
          <p:nvPr/>
        </p:nvSpPr>
        <p:spPr>
          <a:xfrm>
            <a:off x="1005840" y="1078992"/>
            <a:ext cx="7726679" cy="822960"/>
          </a:xfrm>
          <a:prstGeom prst="rect">
            <a:avLst/>
          </a:prstGeom>
          <a:noFill/>
        </p:spPr>
        <p:txBody>
          <a:bodyPr wrap="square" lIns="0" rIns="0" tIns="0" bIns="0" anchor="t">
            <a:spAutoFit/>
          </a:bodyPr>
          <a:lstStyle/>
          <a:p>
            <a:pPr algn="l">
              <a:lnSpc>
                <a:spcPct val="100000"/>
              </a:lnSpc>
              <a:spcAft>
                <a:spcPts val="0"/>
              </a:spcAft>
            </a:pPr>
            <a:r>
              <a:rPr sz="1400" b="0" i="0">
                <a:solidFill>
                  <a:srgbClr val="222222"/>
                </a:solidFill>
                <a:latin typeface="Times New Roman"/>
                <a:ea typeface="Times New Roman"/>
                <a:cs typeface="Times New Roman"/>
              </a:rPr>
              <a:t>Fake news detectors judge an article by its wording, its headline and whether it names sources, and the writer controls all of these. When we tested our earlier pipeline with invented stories in calm newsroom style, they averaged 7.3 out of 10 and four of six deceptive items read as credible.</a:t>
            </a:r>
          </a:p>
        </p:txBody>
      </p:sp>
      <p:sp>
        <p:nvSpPr>
          <p:cNvPr id="5" name="Rounded Rectangle 4"/>
          <p:cNvSpPr/>
          <p:nvPr/>
        </p:nvSpPr>
        <p:spPr>
          <a:xfrm>
            <a:off x="1005840" y="2057400"/>
            <a:ext cx="2468880" cy="2057400"/>
          </a:xfrm>
          <a:prstGeom prst="roundRect">
            <a:avLst>
              <a:gd name="adj" fmla="val 4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6" name="TextBox 5"/>
          <p:cNvSpPr txBox="1"/>
          <p:nvPr/>
        </p:nvSpPr>
        <p:spPr>
          <a:xfrm>
            <a:off x="1188720" y="2185416"/>
            <a:ext cx="731520" cy="292608"/>
          </a:xfrm>
          <a:prstGeom prst="rect">
            <a:avLst/>
          </a:prstGeom>
          <a:noFill/>
        </p:spPr>
        <p:txBody>
          <a:bodyPr wrap="square" lIns="0" rIns="0" tIns="0" bIns="0" anchor="t">
            <a:spAutoFit/>
          </a:bodyPr>
          <a:lstStyle/>
          <a:p>
            <a:pPr algn="l">
              <a:spcAft>
                <a:spcPts val="0"/>
              </a:spcAft>
            </a:pPr>
            <a:r>
              <a:rPr sz="1600" b="1" i="0">
                <a:solidFill>
                  <a:srgbClr val="3F7A46"/>
                </a:solidFill>
                <a:latin typeface="Times New Roman"/>
                <a:ea typeface="Times New Roman"/>
                <a:cs typeface="Times New Roman"/>
              </a:rPr>
              <a:t>01</a:t>
            </a:r>
          </a:p>
        </p:txBody>
      </p:sp>
      <p:sp>
        <p:nvSpPr>
          <p:cNvPr id="7" name="TextBox 6"/>
          <p:cNvSpPr txBox="1"/>
          <p:nvPr/>
        </p:nvSpPr>
        <p:spPr>
          <a:xfrm>
            <a:off x="1188720" y="2532888"/>
            <a:ext cx="2103120" cy="457200"/>
          </a:xfrm>
          <a:prstGeom prst="rect">
            <a:avLst/>
          </a:prstGeom>
          <a:noFill/>
        </p:spPr>
        <p:txBody>
          <a:bodyPr wrap="square" lIns="0" rIns="0" tIns="0" bIns="0" anchor="t">
            <a:spAutoFit/>
          </a:bodyPr>
          <a:lstStyle/>
          <a:p>
            <a:pPr algn="l">
              <a:spcAft>
                <a:spcPts val="0"/>
              </a:spcAft>
            </a:pPr>
            <a:r>
              <a:rPr sz="1600" b="1" i="0">
                <a:solidFill>
                  <a:srgbClr val="FF0000"/>
                </a:solidFill>
                <a:latin typeface="Times New Roman"/>
                <a:ea typeface="Times New Roman"/>
                <a:cs typeface="Times New Roman"/>
              </a:rPr>
              <a:t>Evidence Over Style</a:t>
            </a:r>
          </a:p>
        </p:txBody>
      </p:sp>
      <p:sp>
        <p:nvSpPr>
          <p:cNvPr id="8" name="TextBox 7"/>
          <p:cNvSpPr txBox="1"/>
          <p:nvPr/>
        </p:nvSpPr>
        <p:spPr>
          <a:xfrm>
            <a:off x="1188720" y="2990088"/>
            <a:ext cx="2103120" cy="1033271"/>
          </a:xfrm>
          <a:prstGeom prst="rect">
            <a:avLst/>
          </a:prstGeom>
          <a:noFill/>
        </p:spPr>
        <p:txBody>
          <a:bodyPr wrap="square" lIns="0" rIns="0" tIns="0" bIns="0" anchor="t">
            <a:spAutoFit/>
          </a:bodyPr>
          <a:lstStyle/>
          <a:p>
            <a:pPr algn="l">
              <a:lnSpc>
                <a:spcPct val="100000"/>
              </a:lnSpc>
              <a:spcAft>
                <a:spcPts val="0"/>
              </a:spcAft>
            </a:pPr>
            <a:r>
              <a:rPr sz="1400" b="0" i="0">
                <a:solidFill>
                  <a:srgbClr val="222222"/>
                </a:solidFill>
                <a:latin typeface="Times New Roman"/>
                <a:ea typeface="Times New Roman"/>
                <a:cs typeface="Times New Roman"/>
              </a:rPr>
              <a:t>Decide a story by what independent sources report, not by how it is written.</a:t>
            </a:r>
          </a:p>
        </p:txBody>
      </p:sp>
      <p:sp>
        <p:nvSpPr>
          <p:cNvPr id="9" name="Rounded Rectangle 8"/>
          <p:cNvSpPr/>
          <p:nvPr/>
        </p:nvSpPr>
        <p:spPr>
          <a:xfrm>
            <a:off x="3639312" y="2057400"/>
            <a:ext cx="2468880" cy="2057400"/>
          </a:xfrm>
          <a:prstGeom prst="roundRect">
            <a:avLst>
              <a:gd name="adj" fmla="val 4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0" name="TextBox 9"/>
          <p:cNvSpPr txBox="1"/>
          <p:nvPr/>
        </p:nvSpPr>
        <p:spPr>
          <a:xfrm>
            <a:off x="3822191" y="2185416"/>
            <a:ext cx="731520" cy="292608"/>
          </a:xfrm>
          <a:prstGeom prst="rect">
            <a:avLst/>
          </a:prstGeom>
          <a:noFill/>
        </p:spPr>
        <p:txBody>
          <a:bodyPr wrap="square" lIns="0" rIns="0" tIns="0" bIns="0" anchor="t">
            <a:spAutoFit/>
          </a:bodyPr>
          <a:lstStyle/>
          <a:p>
            <a:pPr algn="l">
              <a:spcAft>
                <a:spcPts val="0"/>
              </a:spcAft>
            </a:pPr>
            <a:r>
              <a:rPr sz="1600" b="1" i="0">
                <a:solidFill>
                  <a:srgbClr val="3F7A46"/>
                </a:solidFill>
                <a:latin typeface="Times New Roman"/>
                <a:ea typeface="Times New Roman"/>
                <a:cs typeface="Times New Roman"/>
              </a:rPr>
              <a:t>02</a:t>
            </a:r>
          </a:p>
        </p:txBody>
      </p:sp>
      <p:sp>
        <p:nvSpPr>
          <p:cNvPr id="11" name="TextBox 10"/>
          <p:cNvSpPr txBox="1"/>
          <p:nvPr/>
        </p:nvSpPr>
        <p:spPr>
          <a:xfrm>
            <a:off x="3822191" y="2532888"/>
            <a:ext cx="2103120" cy="457200"/>
          </a:xfrm>
          <a:prstGeom prst="rect">
            <a:avLst/>
          </a:prstGeom>
          <a:noFill/>
        </p:spPr>
        <p:txBody>
          <a:bodyPr wrap="square" lIns="0" rIns="0" tIns="0" bIns="0" anchor="t">
            <a:spAutoFit/>
          </a:bodyPr>
          <a:lstStyle/>
          <a:p>
            <a:pPr algn="l">
              <a:spcAft>
                <a:spcPts val="0"/>
              </a:spcAft>
            </a:pPr>
            <a:r>
              <a:rPr sz="1600" b="1" i="0">
                <a:solidFill>
                  <a:srgbClr val="FF0000"/>
                </a:solidFill>
                <a:latin typeface="Times New Roman"/>
                <a:ea typeface="Times New Roman"/>
                <a:cs typeface="Times New Roman"/>
              </a:rPr>
              <a:t>Independent Sources</a:t>
            </a:r>
          </a:p>
        </p:txBody>
      </p:sp>
      <p:sp>
        <p:nvSpPr>
          <p:cNvPr id="12" name="TextBox 11"/>
          <p:cNvSpPr txBox="1"/>
          <p:nvPr/>
        </p:nvSpPr>
        <p:spPr>
          <a:xfrm>
            <a:off x="3822191" y="2990088"/>
            <a:ext cx="2103120" cy="1033271"/>
          </a:xfrm>
          <a:prstGeom prst="rect">
            <a:avLst/>
          </a:prstGeom>
          <a:noFill/>
        </p:spPr>
        <p:txBody>
          <a:bodyPr wrap="square" lIns="0" rIns="0" tIns="0" bIns="0" anchor="t">
            <a:spAutoFit/>
          </a:bodyPr>
          <a:lstStyle/>
          <a:p>
            <a:pPr algn="l">
              <a:lnSpc>
                <a:spcPct val="100000"/>
              </a:lnSpc>
              <a:spcAft>
                <a:spcPts val="0"/>
              </a:spcAft>
            </a:pPr>
            <a:r>
              <a:rPr sz="1400" b="0" i="0">
                <a:solidFill>
                  <a:srgbClr val="222222"/>
                </a:solidFill>
                <a:latin typeface="Times New Roman"/>
                <a:ea typeface="Times New Roman"/>
                <a:cs typeface="Times New Roman"/>
              </a:rPr>
              <a:t>Shared owners, wire copies and reprints count once: five copies are one source.</a:t>
            </a:r>
          </a:p>
        </p:txBody>
      </p:sp>
      <p:sp>
        <p:nvSpPr>
          <p:cNvPr id="13" name="Rounded Rectangle 12"/>
          <p:cNvSpPr/>
          <p:nvPr/>
        </p:nvSpPr>
        <p:spPr>
          <a:xfrm>
            <a:off x="6272783" y="2057400"/>
            <a:ext cx="2468880" cy="2057400"/>
          </a:xfrm>
          <a:prstGeom prst="roundRect">
            <a:avLst>
              <a:gd name="adj" fmla="val 4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4" name="TextBox 13"/>
          <p:cNvSpPr txBox="1"/>
          <p:nvPr/>
        </p:nvSpPr>
        <p:spPr>
          <a:xfrm>
            <a:off x="6455664" y="2185416"/>
            <a:ext cx="731520" cy="292608"/>
          </a:xfrm>
          <a:prstGeom prst="rect">
            <a:avLst/>
          </a:prstGeom>
          <a:noFill/>
        </p:spPr>
        <p:txBody>
          <a:bodyPr wrap="square" lIns="0" rIns="0" tIns="0" bIns="0" anchor="t">
            <a:spAutoFit/>
          </a:bodyPr>
          <a:lstStyle/>
          <a:p>
            <a:pPr algn="l">
              <a:spcAft>
                <a:spcPts val="0"/>
              </a:spcAft>
            </a:pPr>
            <a:r>
              <a:rPr sz="1600" b="1" i="0">
                <a:solidFill>
                  <a:srgbClr val="3F7A46"/>
                </a:solidFill>
                <a:latin typeface="Times New Roman"/>
                <a:ea typeface="Times New Roman"/>
                <a:cs typeface="Times New Roman"/>
              </a:rPr>
              <a:t>03</a:t>
            </a:r>
          </a:p>
        </p:txBody>
      </p:sp>
      <p:sp>
        <p:nvSpPr>
          <p:cNvPr id="15" name="TextBox 14"/>
          <p:cNvSpPr txBox="1"/>
          <p:nvPr/>
        </p:nvSpPr>
        <p:spPr>
          <a:xfrm>
            <a:off x="6455664" y="2532888"/>
            <a:ext cx="2103120" cy="457200"/>
          </a:xfrm>
          <a:prstGeom prst="rect">
            <a:avLst/>
          </a:prstGeom>
          <a:noFill/>
        </p:spPr>
        <p:txBody>
          <a:bodyPr wrap="square" lIns="0" rIns="0" tIns="0" bIns="0" anchor="t">
            <a:spAutoFit/>
          </a:bodyPr>
          <a:lstStyle/>
          <a:p>
            <a:pPr algn="l">
              <a:spcAft>
                <a:spcPts val="0"/>
              </a:spcAft>
            </a:pPr>
            <a:r>
              <a:rPr sz="1600" b="1" i="0">
                <a:solidFill>
                  <a:srgbClr val="FF0000"/>
                </a:solidFill>
                <a:latin typeface="Times New Roman"/>
                <a:ea typeface="Times New Roman"/>
                <a:cs typeface="Times New Roman"/>
              </a:rPr>
              <a:t>Catch False Premises</a:t>
            </a:r>
          </a:p>
        </p:txBody>
      </p:sp>
      <p:sp>
        <p:nvSpPr>
          <p:cNvPr id="16" name="TextBox 15"/>
          <p:cNvSpPr txBox="1"/>
          <p:nvPr/>
        </p:nvSpPr>
        <p:spPr>
          <a:xfrm>
            <a:off x="6455664" y="2990088"/>
            <a:ext cx="2103120" cy="1033271"/>
          </a:xfrm>
          <a:prstGeom prst="rect">
            <a:avLst/>
          </a:prstGeom>
          <a:noFill/>
        </p:spPr>
        <p:txBody>
          <a:bodyPr wrap="square" lIns="0" rIns="0" tIns="0" bIns="0" anchor="t">
            <a:spAutoFit/>
          </a:bodyPr>
          <a:lstStyle/>
          <a:p>
            <a:pPr algn="l">
              <a:lnSpc>
                <a:spcPct val="100000"/>
              </a:lnSpc>
              <a:spcAft>
                <a:spcPts val="0"/>
              </a:spcAft>
            </a:pPr>
            <a:r>
              <a:rPr sz="1400" b="0" i="0">
                <a:solidFill>
                  <a:srgbClr val="222222"/>
                </a:solidFill>
                <a:latin typeface="Times New Roman"/>
                <a:ea typeface="Times New Roman"/>
                <a:cs typeface="Times New Roman"/>
              </a:rPr>
              <a:t>Check named people against Wikipedia to expose an invented role or office.</a:t>
            </a:r>
          </a:p>
        </p:txBody>
      </p:sp>
      <p:sp>
        <p:nvSpPr>
          <p:cNvPr id="17" name="Rounded Rectangle 16"/>
          <p:cNvSpPr/>
          <p:nvPr/>
        </p:nvSpPr>
        <p:spPr>
          <a:xfrm>
            <a:off x="1005840" y="4270248"/>
            <a:ext cx="2468880" cy="2057400"/>
          </a:xfrm>
          <a:prstGeom prst="roundRect">
            <a:avLst>
              <a:gd name="adj" fmla="val 4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8" name="TextBox 17"/>
          <p:cNvSpPr txBox="1"/>
          <p:nvPr/>
        </p:nvSpPr>
        <p:spPr>
          <a:xfrm>
            <a:off x="1188720" y="4398264"/>
            <a:ext cx="731520" cy="292608"/>
          </a:xfrm>
          <a:prstGeom prst="rect">
            <a:avLst/>
          </a:prstGeom>
          <a:noFill/>
        </p:spPr>
        <p:txBody>
          <a:bodyPr wrap="square" lIns="0" rIns="0" tIns="0" bIns="0" anchor="t">
            <a:spAutoFit/>
          </a:bodyPr>
          <a:lstStyle/>
          <a:p>
            <a:pPr algn="l">
              <a:spcAft>
                <a:spcPts val="0"/>
              </a:spcAft>
            </a:pPr>
            <a:r>
              <a:rPr sz="1600" b="1" i="0">
                <a:solidFill>
                  <a:srgbClr val="3F7A46"/>
                </a:solidFill>
                <a:latin typeface="Times New Roman"/>
                <a:ea typeface="Times New Roman"/>
                <a:cs typeface="Times New Roman"/>
              </a:rPr>
              <a:t>04</a:t>
            </a:r>
          </a:p>
        </p:txBody>
      </p:sp>
      <p:sp>
        <p:nvSpPr>
          <p:cNvPr id="19" name="TextBox 18"/>
          <p:cNvSpPr txBox="1"/>
          <p:nvPr/>
        </p:nvSpPr>
        <p:spPr>
          <a:xfrm>
            <a:off x="1188720" y="4745736"/>
            <a:ext cx="2103120" cy="457200"/>
          </a:xfrm>
          <a:prstGeom prst="rect">
            <a:avLst/>
          </a:prstGeom>
          <a:noFill/>
        </p:spPr>
        <p:txBody>
          <a:bodyPr wrap="square" lIns="0" rIns="0" tIns="0" bIns="0" anchor="t">
            <a:spAutoFit/>
          </a:bodyPr>
          <a:lstStyle/>
          <a:p>
            <a:pPr algn="l">
              <a:spcAft>
                <a:spcPts val="0"/>
              </a:spcAft>
            </a:pPr>
            <a:r>
              <a:rPr sz="1600" b="1" i="0">
                <a:solidFill>
                  <a:srgbClr val="FF0000"/>
                </a:solidFill>
                <a:latin typeface="Times New Roman"/>
                <a:ea typeface="Times New Roman"/>
                <a:cs typeface="Times New Roman"/>
              </a:rPr>
              <a:t>Verify the Publisher</a:t>
            </a:r>
          </a:p>
        </p:txBody>
      </p:sp>
      <p:sp>
        <p:nvSpPr>
          <p:cNvPr id="20" name="TextBox 19"/>
          <p:cNvSpPr txBox="1"/>
          <p:nvPr/>
        </p:nvSpPr>
        <p:spPr>
          <a:xfrm>
            <a:off x="1188720" y="5202936"/>
            <a:ext cx="2103120" cy="1033272"/>
          </a:xfrm>
          <a:prstGeom prst="rect">
            <a:avLst/>
          </a:prstGeom>
          <a:noFill/>
        </p:spPr>
        <p:txBody>
          <a:bodyPr wrap="square" lIns="0" rIns="0" tIns="0" bIns="0" anchor="t">
            <a:spAutoFit/>
          </a:bodyPr>
          <a:lstStyle/>
          <a:p>
            <a:pPr algn="l">
              <a:lnSpc>
                <a:spcPct val="100000"/>
              </a:lnSpc>
              <a:spcAft>
                <a:spcPts val="0"/>
              </a:spcAft>
            </a:pPr>
            <a:r>
              <a:rPr sz="1400" b="0" i="0">
                <a:solidFill>
                  <a:srgbClr val="222222"/>
                </a:solidFill>
                <a:latin typeface="Times New Roman"/>
                <a:ea typeface="Times New Roman"/>
                <a:cs typeface="Times New Roman"/>
              </a:rPr>
              <a:t>Identify the outlet from its web address, so a copycat site cannot borrow a name.</a:t>
            </a:r>
          </a:p>
        </p:txBody>
      </p:sp>
      <p:sp>
        <p:nvSpPr>
          <p:cNvPr id="21" name="Rounded Rectangle 20"/>
          <p:cNvSpPr/>
          <p:nvPr/>
        </p:nvSpPr>
        <p:spPr>
          <a:xfrm>
            <a:off x="3639312" y="4270248"/>
            <a:ext cx="2468880" cy="2057400"/>
          </a:xfrm>
          <a:prstGeom prst="roundRect">
            <a:avLst>
              <a:gd name="adj" fmla="val 4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22" name="TextBox 21"/>
          <p:cNvSpPr txBox="1"/>
          <p:nvPr/>
        </p:nvSpPr>
        <p:spPr>
          <a:xfrm>
            <a:off x="3822191" y="4398264"/>
            <a:ext cx="731520" cy="292608"/>
          </a:xfrm>
          <a:prstGeom prst="rect">
            <a:avLst/>
          </a:prstGeom>
          <a:noFill/>
        </p:spPr>
        <p:txBody>
          <a:bodyPr wrap="square" lIns="0" rIns="0" tIns="0" bIns="0" anchor="t">
            <a:spAutoFit/>
          </a:bodyPr>
          <a:lstStyle/>
          <a:p>
            <a:pPr algn="l">
              <a:spcAft>
                <a:spcPts val="0"/>
              </a:spcAft>
            </a:pPr>
            <a:r>
              <a:rPr sz="1600" b="1" i="0">
                <a:solidFill>
                  <a:srgbClr val="3F7A46"/>
                </a:solidFill>
                <a:latin typeface="Times New Roman"/>
                <a:ea typeface="Times New Roman"/>
                <a:cs typeface="Times New Roman"/>
              </a:rPr>
              <a:t>05</a:t>
            </a:r>
          </a:p>
        </p:txBody>
      </p:sp>
      <p:sp>
        <p:nvSpPr>
          <p:cNvPr id="23" name="TextBox 22"/>
          <p:cNvSpPr txBox="1"/>
          <p:nvPr/>
        </p:nvSpPr>
        <p:spPr>
          <a:xfrm>
            <a:off x="3822191" y="4745736"/>
            <a:ext cx="2103120" cy="457200"/>
          </a:xfrm>
          <a:prstGeom prst="rect">
            <a:avLst/>
          </a:prstGeom>
          <a:noFill/>
        </p:spPr>
        <p:txBody>
          <a:bodyPr wrap="square" lIns="0" rIns="0" tIns="0" bIns="0" anchor="t">
            <a:spAutoFit/>
          </a:bodyPr>
          <a:lstStyle/>
          <a:p>
            <a:pPr algn="l">
              <a:spcAft>
                <a:spcPts val="0"/>
              </a:spcAft>
            </a:pPr>
            <a:r>
              <a:rPr sz="1600" b="1" i="0">
                <a:solidFill>
                  <a:srgbClr val="FF0000"/>
                </a:solidFill>
                <a:latin typeface="Times New Roman"/>
                <a:ea typeface="Times New Roman"/>
                <a:cs typeface="Times New Roman"/>
              </a:rPr>
              <a:t>Calibrated Verdict</a:t>
            </a:r>
          </a:p>
        </p:txBody>
      </p:sp>
      <p:sp>
        <p:nvSpPr>
          <p:cNvPr id="24" name="TextBox 23"/>
          <p:cNvSpPr txBox="1"/>
          <p:nvPr/>
        </p:nvSpPr>
        <p:spPr>
          <a:xfrm>
            <a:off x="3822191" y="5202936"/>
            <a:ext cx="2103120" cy="1033272"/>
          </a:xfrm>
          <a:prstGeom prst="rect">
            <a:avLst/>
          </a:prstGeom>
          <a:noFill/>
        </p:spPr>
        <p:txBody>
          <a:bodyPr wrap="square" lIns="0" rIns="0" tIns="0" bIns="0" anchor="t">
            <a:spAutoFit/>
          </a:bodyPr>
          <a:lstStyle/>
          <a:p>
            <a:pPr algn="l">
              <a:lnSpc>
                <a:spcPct val="100000"/>
              </a:lnSpc>
              <a:spcAft>
                <a:spcPts val="0"/>
              </a:spcAft>
            </a:pPr>
            <a:r>
              <a:rPr sz="1400" b="0" i="0">
                <a:solidFill>
                  <a:srgbClr val="222222"/>
                </a:solidFill>
                <a:latin typeface="Times New Roman"/>
                <a:ea typeface="Times New Roman"/>
                <a:cs typeface="Times New Roman"/>
              </a:rPr>
              <a:t>Measured likelihood ratios give a probability of fabrication that matches outcomes.</a:t>
            </a:r>
          </a:p>
        </p:txBody>
      </p:sp>
      <p:sp>
        <p:nvSpPr>
          <p:cNvPr id="25" name="Rounded Rectangle 24"/>
          <p:cNvSpPr/>
          <p:nvPr/>
        </p:nvSpPr>
        <p:spPr>
          <a:xfrm>
            <a:off x="6272783" y="4270248"/>
            <a:ext cx="2468880" cy="2057400"/>
          </a:xfrm>
          <a:prstGeom prst="roundRect">
            <a:avLst>
              <a:gd name="adj" fmla="val 4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26" name="TextBox 25"/>
          <p:cNvSpPr txBox="1"/>
          <p:nvPr/>
        </p:nvSpPr>
        <p:spPr>
          <a:xfrm>
            <a:off x="6455664" y="4398264"/>
            <a:ext cx="731520" cy="292608"/>
          </a:xfrm>
          <a:prstGeom prst="rect">
            <a:avLst/>
          </a:prstGeom>
          <a:noFill/>
        </p:spPr>
        <p:txBody>
          <a:bodyPr wrap="square" lIns="0" rIns="0" tIns="0" bIns="0" anchor="t">
            <a:spAutoFit/>
          </a:bodyPr>
          <a:lstStyle/>
          <a:p>
            <a:pPr algn="l">
              <a:spcAft>
                <a:spcPts val="0"/>
              </a:spcAft>
            </a:pPr>
            <a:r>
              <a:rPr sz="1600" b="1" i="0">
                <a:solidFill>
                  <a:srgbClr val="3F7A46"/>
                </a:solidFill>
                <a:latin typeface="Times New Roman"/>
                <a:ea typeface="Times New Roman"/>
                <a:cs typeface="Times New Roman"/>
              </a:rPr>
              <a:t>06</a:t>
            </a:r>
          </a:p>
        </p:txBody>
      </p:sp>
      <p:sp>
        <p:nvSpPr>
          <p:cNvPr id="27" name="TextBox 26"/>
          <p:cNvSpPr txBox="1"/>
          <p:nvPr/>
        </p:nvSpPr>
        <p:spPr>
          <a:xfrm>
            <a:off x="6455664" y="4745736"/>
            <a:ext cx="2103120" cy="457200"/>
          </a:xfrm>
          <a:prstGeom prst="rect">
            <a:avLst/>
          </a:prstGeom>
          <a:noFill/>
        </p:spPr>
        <p:txBody>
          <a:bodyPr wrap="square" lIns="0" rIns="0" tIns="0" bIns="0" anchor="t">
            <a:spAutoFit/>
          </a:bodyPr>
          <a:lstStyle/>
          <a:p>
            <a:pPr algn="l">
              <a:spcAft>
                <a:spcPts val="0"/>
              </a:spcAft>
            </a:pPr>
            <a:r>
              <a:rPr sz="1600" b="1" i="0">
                <a:solidFill>
                  <a:srgbClr val="FF0000"/>
                </a:solidFill>
                <a:latin typeface="Times New Roman"/>
                <a:ea typeface="Times New Roman"/>
                <a:cs typeface="Times New Roman"/>
              </a:rPr>
              <a:t>Honest Abstention</a:t>
            </a:r>
          </a:p>
        </p:txBody>
      </p:sp>
      <p:sp>
        <p:nvSpPr>
          <p:cNvPr id="28" name="TextBox 27"/>
          <p:cNvSpPr txBox="1"/>
          <p:nvPr/>
        </p:nvSpPr>
        <p:spPr>
          <a:xfrm>
            <a:off x="6455664" y="5202936"/>
            <a:ext cx="2103120" cy="1033272"/>
          </a:xfrm>
          <a:prstGeom prst="rect">
            <a:avLst/>
          </a:prstGeom>
          <a:noFill/>
        </p:spPr>
        <p:txBody>
          <a:bodyPr wrap="square" lIns="0" rIns="0" tIns="0" bIns="0" anchor="t">
            <a:spAutoFit/>
          </a:bodyPr>
          <a:lstStyle/>
          <a:p>
            <a:pPr algn="l">
              <a:lnSpc>
                <a:spcPct val="100000"/>
              </a:lnSpc>
              <a:spcAft>
                <a:spcPts val="0"/>
              </a:spcAft>
            </a:pPr>
            <a:r>
              <a:rPr sz="1400" b="0" i="0">
                <a:solidFill>
                  <a:srgbClr val="222222"/>
                </a:solidFill>
                <a:latin typeface="Times New Roman"/>
                <a:ea typeface="Times New Roman"/>
                <a:cs typeface="Times New Roman"/>
              </a:rPr>
              <a:t>Refuse input with nothing to check; report a failed search as "could not verify".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LITERATURE SURVEY</a:t>
            </a:r>
          </a:p>
        </p:txBody>
      </p:sp>
      <p:graphicFrame>
        <p:nvGraphicFramePr>
          <p:cNvPr id="4" name="Table 3"/>
          <p:cNvGraphicFramePr>
            <a:graphicFrameLocks noGrp="1"/>
          </p:cNvGraphicFramePr>
          <p:nvPr/>
        </p:nvGraphicFramePr>
        <p:xfrm>
          <a:off x="960120" y="1143000"/>
          <a:ext cx="7863840" cy="4983480"/>
        </p:xfrm>
        <a:graphic>
          <a:graphicData uri="http://schemas.openxmlformats.org/drawingml/2006/table">
            <a:tbl>
              <a:tblPr firstRow="0" bandRow="0">
                <a:tableStyleId>{5C22544A-7EE6-4342-B048-85BDC9FD1C3A}</a:tableStyleId>
              </a:tblPr>
              <a:tblGrid>
                <a:gridCol w="2148840"/>
                <a:gridCol w="2926080"/>
                <a:gridCol w="2788920"/>
              </a:tblGrid>
              <a:tr h="438912">
                <a:tc>
                  <a:txBody>
                    <a:bodyPr wrap="square"/>
                    <a:lstStyle/>
                    <a:p>
                      <a:pPr algn="ctr">
                        <a:spcAft>
                          <a:spcPts val="0"/>
                        </a:spcAft>
                      </a:pPr>
                      <a:r>
                        <a:rPr sz="1600" b="1" i="0">
                          <a:solidFill>
                            <a:srgbClr val="FFFFFF"/>
                          </a:solidFill>
                          <a:latin typeface="Times New Roman"/>
                          <a:ea typeface="Times New Roman"/>
                          <a:cs typeface="Times New Roman"/>
                        </a:rPr>
                        <a:t>Reference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600" b="1" i="0">
                          <a:solidFill>
                            <a:srgbClr val="FFFFFF"/>
                          </a:solidFill>
                          <a:latin typeface="Times New Roman"/>
                          <a:ea typeface="Times New Roman"/>
                          <a:cs typeface="Times New Roman"/>
                        </a:rPr>
                        <a:t>What They Did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600" b="1" i="0">
                          <a:solidFill>
                            <a:srgbClr val="FFFFFF"/>
                          </a:solidFill>
                          <a:latin typeface="Times New Roman"/>
                          <a:ea typeface="Times New Roman"/>
                          <a:cs typeface="Times New Roman"/>
                        </a:rPr>
                        <a:t>What's Missing</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r>
              <a:tr h="649224">
                <a:tc>
                  <a:txBody>
                    <a:bodyPr wrap="square"/>
                    <a:lstStyle/>
                    <a:p>
                      <a:pPr algn="l">
                        <a:spcAft>
                          <a:spcPts val="0"/>
                        </a:spcAft>
                      </a:pPr>
                      <a:r>
                        <a:rPr sz="1300" b="0" i="0">
                          <a:solidFill>
                            <a:srgbClr val="222222"/>
                          </a:solidFill>
                          <a:latin typeface="Times New Roman"/>
                          <a:ea typeface="Times New Roman"/>
                          <a:cs typeface="Times New Roman"/>
                        </a:rPr>
                        <a:t>Braun et al., ICML 2025 (DEFAME, base paper)</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Multimodal fact-checking agent that plans web and image searches and writes a justified verdict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Does not weigh source credibility; no probability</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649224">
                <a:tc>
                  <a:txBody>
                    <a:bodyPr wrap="square"/>
                    <a:lstStyle/>
                    <a:p>
                      <a:pPr algn="l">
                        <a:spcAft>
                          <a:spcPts val="0"/>
                        </a:spcAft>
                      </a:pPr>
                      <a:r>
                        <a:rPr sz="1300" b="0" i="0">
                          <a:solidFill>
                            <a:srgbClr val="222222"/>
                          </a:solidFill>
                          <a:latin typeface="Times New Roman"/>
                          <a:ea typeface="Times New Roman"/>
                          <a:cs typeface="Times New Roman"/>
                        </a:rPr>
                        <a:t>Verma, arXiv 2026</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Audited the ISOT corpus: the subject field alone gives F1 = 1.000</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High benchmark accuracy reflects corpus artefacts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649224">
                <a:tc>
                  <a:txBody>
                    <a:bodyPr wrap="square"/>
                    <a:lstStyle/>
                    <a:p>
                      <a:pPr algn="l">
                        <a:spcAft>
                          <a:spcPts val="0"/>
                        </a:spcAft>
                      </a:pPr>
                      <a:r>
                        <a:rPr sz="1300" b="0" i="0">
                          <a:solidFill>
                            <a:srgbClr val="222222"/>
                          </a:solidFill>
                          <a:latin typeface="Times New Roman"/>
                          <a:ea typeface="Times New Roman"/>
                          <a:cs typeface="Times New Roman"/>
                        </a:rPr>
                        <a:t>Chen &amp; Shu, ICLR 2024</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Showed LLM-written misinformation is harder to detect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Style-based detectors miss fluent fakes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649224">
                <a:tc>
                  <a:txBody>
                    <a:bodyPr wrap="square"/>
                    <a:lstStyle/>
                    <a:p>
                      <a:pPr algn="l">
                        <a:spcAft>
                          <a:spcPts val="0"/>
                        </a:spcAft>
                      </a:pPr>
                      <a:r>
                        <a:rPr sz="1300" b="0" i="0">
                          <a:solidFill>
                            <a:srgbClr val="222222"/>
                          </a:solidFill>
                          <a:latin typeface="Times New Roman"/>
                          <a:ea typeface="Times New Roman"/>
                          <a:cs typeface="Times New Roman"/>
                        </a:rPr>
                        <a:t>Hu et al., AAAI 2024</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LLM rationales guide a small fake news classifier</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Still judges the article text alone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649224">
                <a:tc>
                  <a:txBody>
                    <a:bodyPr wrap="square"/>
                    <a:lstStyle/>
                    <a:p>
                      <a:pPr algn="l">
                        <a:spcAft>
                          <a:spcPts val="0"/>
                        </a:spcAft>
                      </a:pPr>
                      <a:r>
                        <a:rPr sz="1300" b="0" i="0">
                          <a:solidFill>
                            <a:srgbClr val="222222"/>
                          </a:solidFill>
                          <a:latin typeface="Times New Roman"/>
                          <a:ea typeface="Times New Roman"/>
                          <a:cs typeface="Times New Roman"/>
                        </a:rPr>
                        <a:t>Wang et al., ACM Web 2024</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LLM weighs competing crowd reports about a claim</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Needs many reports for each claim</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649224">
                <a:tc>
                  <a:txBody>
                    <a:bodyPr wrap="square"/>
                    <a:lstStyle/>
                    <a:p>
                      <a:pPr algn="l">
                        <a:spcAft>
                          <a:spcPts val="0"/>
                        </a:spcAft>
                      </a:pPr>
                      <a:r>
                        <a:rPr sz="1300" b="0" i="0">
                          <a:solidFill>
                            <a:srgbClr val="222222"/>
                          </a:solidFill>
                          <a:latin typeface="Times New Roman"/>
                          <a:ea typeface="Times New Roman"/>
                          <a:cs typeface="Times New Roman"/>
                        </a:rPr>
                        <a:t>Schlichtkrull et al., NeurIPS 2023</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AVeriTeC: real-world claims paired with web evidence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A benchmark, not a reader-facing tool</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649224">
                <a:tc>
                  <a:txBody>
                    <a:bodyPr wrap="square"/>
                    <a:lstStyle/>
                    <a:p>
                      <a:pPr algn="l">
                        <a:spcAft>
                          <a:spcPts val="0"/>
                        </a:spcAft>
                      </a:pPr>
                      <a:r>
                        <a:rPr sz="1300" b="0" i="0">
                          <a:solidFill>
                            <a:srgbClr val="222222"/>
                          </a:solidFill>
                          <a:latin typeface="Times New Roman"/>
                          <a:ea typeface="Times New Roman"/>
                          <a:cs typeface="Times New Roman"/>
                        </a:rPr>
                        <a:t>Lin et al., PNAS Nexus 2023</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Combined six rating sets into one score for 11,520 news domains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Rates outlets, not individual stories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BASE PAPER: DEFAME vs PROPOSED SYSTEM</a:t>
            </a:r>
          </a:p>
        </p:txBody>
      </p:sp>
      <p:sp>
        <p:nvSpPr>
          <p:cNvPr id="4" name="TextBox 3"/>
          <p:cNvSpPr txBox="1"/>
          <p:nvPr/>
        </p:nvSpPr>
        <p:spPr>
          <a:xfrm>
            <a:off x="960120" y="1005840"/>
            <a:ext cx="7818120" cy="320040"/>
          </a:xfrm>
          <a:prstGeom prst="rect">
            <a:avLst/>
          </a:prstGeom>
          <a:noFill/>
        </p:spPr>
        <p:txBody>
          <a:bodyPr wrap="square" lIns="0" rIns="0" tIns="0" bIns="0" anchor="t">
            <a:spAutoFit/>
          </a:bodyPr>
          <a:lstStyle/>
          <a:p>
            <a:pPr algn="ctr">
              <a:spcAft>
                <a:spcPts val="0"/>
              </a:spcAft>
            </a:pPr>
            <a:r>
              <a:rPr sz="1300" b="0" i="0">
                <a:solidFill>
                  <a:srgbClr val="222222"/>
                </a:solidFill>
                <a:latin typeface="Times New Roman"/>
                <a:ea typeface="Times New Roman"/>
                <a:cs typeface="Times New Roman"/>
              </a:rPr>
              <a:t>Braun et al., </a:t>
            </a:r>
            <a:r>
              <a:rPr sz="1300" b="0" i="1">
                <a:solidFill>
                  <a:srgbClr val="222222"/>
                </a:solidFill>
                <a:latin typeface="Times New Roman"/>
                <a:ea typeface="Times New Roman"/>
                <a:cs typeface="Times New Roman"/>
              </a:rPr>
              <a:t>"DEFAME: Dynamic Evidence-based FAct-checking with Multimodal Experts"</a:t>
            </a:r>
            <a:r>
              <a:rPr sz="1300" b="0" i="0">
                <a:solidFill>
                  <a:srgbClr val="222222"/>
                </a:solidFill>
                <a:latin typeface="Times New Roman"/>
                <a:ea typeface="Times New Roman"/>
                <a:cs typeface="Times New Roman"/>
              </a:rPr>
              <a:t>, ICML 2025</a:t>
            </a:r>
          </a:p>
        </p:txBody>
      </p:sp>
      <p:graphicFrame>
        <p:nvGraphicFramePr>
          <p:cNvPr id="5" name="Table 4"/>
          <p:cNvGraphicFramePr>
            <a:graphicFrameLocks noGrp="1"/>
          </p:cNvGraphicFramePr>
          <p:nvPr/>
        </p:nvGraphicFramePr>
        <p:xfrm>
          <a:off x="960120" y="1463040"/>
          <a:ext cx="7863840" cy="4636008"/>
        </p:xfrm>
        <a:graphic>
          <a:graphicData uri="http://schemas.openxmlformats.org/drawingml/2006/table">
            <a:tbl>
              <a:tblPr firstRow="0" bandRow="0">
                <a:tableStyleId>{5C22544A-7EE6-4342-B048-85BDC9FD1C3A}</a:tableStyleId>
              </a:tblPr>
              <a:tblGrid>
                <a:gridCol w="1600200"/>
                <a:gridCol w="3017520"/>
                <a:gridCol w="3246120"/>
              </a:tblGrid>
              <a:tr h="411480">
                <a:tc>
                  <a:txBody>
                    <a:bodyPr wrap="square"/>
                    <a:lstStyle/>
                    <a:p>
                      <a:pPr algn="ctr">
                        <a:spcAft>
                          <a:spcPts val="0"/>
                        </a:spcAft>
                      </a:pPr>
                      <a:r>
                        <a:rPr sz="1500" b="1" i="0">
                          <a:solidFill>
                            <a:srgbClr val="FFFFFF"/>
                          </a:solidFill>
                          <a:latin typeface="Times New Roman"/>
                          <a:ea typeface="Times New Roman"/>
                          <a:cs typeface="Times New Roman"/>
                        </a:rPr>
                        <a:t>Aspect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500" b="1" i="0">
                          <a:solidFill>
                            <a:srgbClr val="FFFFFF"/>
                          </a:solidFill>
                          <a:latin typeface="Times New Roman"/>
                          <a:ea typeface="Times New Roman"/>
                          <a:cs typeface="Times New Roman"/>
                        </a:rPr>
                        <a:t>DEFAME (ICML 2025)</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500" b="1" i="0">
                          <a:solidFill>
                            <a:srgbClr val="FFFFFF"/>
                          </a:solidFill>
                          <a:latin typeface="Times New Roman"/>
                          <a:ea typeface="Times New Roman"/>
                          <a:cs typeface="Times New Roman"/>
                        </a:rPr>
                        <a:t>Proposed System</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r>
              <a:tr h="603504">
                <a:tc>
                  <a:txBody>
                    <a:bodyPr wrap="square"/>
                    <a:lstStyle/>
                    <a:p>
                      <a:pPr algn="l">
                        <a:spcAft>
                          <a:spcPts val="0"/>
                        </a:spcAft>
                      </a:pPr>
                      <a:r>
                        <a:rPr sz="1300" b="1" i="0">
                          <a:solidFill>
                            <a:srgbClr val="222222"/>
                          </a:solidFill>
                          <a:latin typeface="Times New Roman"/>
                          <a:ea typeface="Times New Roman"/>
                          <a:cs typeface="Times New Roman"/>
                        </a:rPr>
                        <a:t>Evidence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Web search, image search, reverse image search, geolocation</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News index, Wikipedia entries, publisher record, domain registration</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603504">
                <a:tc>
                  <a:txBody>
                    <a:bodyPr wrap="square"/>
                    <a:lstStyle/>
                    <a:p>
                      <a:pPr algn="l">
                        <a:spcAft>
                          <a:spcPts val="0"/>
                        </a:spcAft>
                      </a:pPr>
                      <a:r>
                        <a:rPr sz="1300" b="1" i="0">
                          <a:solidFill>
                            <a:srgbClr val="222222"/>
                          </a:solidFill>
                          <a:latin typeface="Times New Roman"/>
                          <a:ea typeface="Times New Roman"/>
                          <a:cs typeface="Times New Roman"/>
                        </a:rPr>
                        <a:t>Source credibility</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Not weighed; relies on the search engine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Publisher identified by web address; 90 curated and 11,520 rated domains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603504">
                <a:tc>
                  <a:txBody>
                    <a:bodyPr wrap="square"/>
                    <a:lstStyle/>
                    <a:p>
                      <a:pPr algn="l">
                        <a:spcAft>
                          <a:spcPts val="0"/>
                        </a:spcAft>
                      </a:pPr>
                      <a:r>
                        <a:rPr sz="1300" b="1" i="0">
                          <a:solidFill>
                            <a:srgbClr val="222222"/>
                          </a:solidFill>
                          <a:latin typeface="Times New Roman"/>
                          <a:ea typeface="Times New Roman"/>
                          <a:cs typeface="Times New Roman"/>
                        </a:rPr>
                        <a:t>Independence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Not considered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Shared owners, wire copies and reprints merged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603504">
                <a:tc>
                  <a:txBody>
                    <a:bodyPr wrap="square"/>
                    <a:lstStyle/>
                    <a:p>
                      <a:pPr algn="l">
                        <a:spcAft>
                          <a:spcPts val="0"/>
                        </a:spcAft>
                      </a:pPr>
                      <a:r>
                        <a:rPr sz="1300" b="1" i="0">
                          <a:solidFill>
                            <a:srgbClr val="222222"/>
                          </a:solidFill>
                          <a:latin typeface="Times New Roman"/>
                          <a:ea typeface="Times New Roman"/>
                          <a:cs typeface="Times New Roman"/>
                        </a:rPr>
                        <a:t>Output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One of four labels with a written justification</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Verdict, calibrated probability, the rule that fired and quoted grounds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603504">
                <a:tc>
                  <a:txBody>
                    <a:bodyPr wrap="square"/>
                    <a:lstStyle/>
                    <a:p>
                      <a:pPr algn="l">
                        <a:spcAft>
                          <a:spcPts val="0"/>
                        </a:spcAft>
                      </a:pPr>
                      <a:r>
                        <a:rPr sz="1300" b="1" i="0">
                          <a:solidFill>
                            <a:srgbClr val="222222"/>
                          </a:solidFill>
                          <a:latin typeface="Times New Roman"/>
                          <a:ea typeface="Times New Roman"/>
                          <a:cs typeface="Times New Roman"/>
                        </a:rPr>
                        <a:t>Missing evidence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"Not enough information"; re-plans up to three times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Refuses uncheckable input; CANNOT VERIFY with the reason</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603504">
                <a:tc>
                  <a:txBody>
                    <a:bodyPr wrap="square"/>
                    <a:lstStyle/>
                    <a:p>
                      <a:pPr algn="l">
                        <a:spcAft>
                          <a:spcPts val="0"/>
                        </a:spcAft>
                      </a:pPr>
                      <a:r>
                        <a:rPr sz="1300" b="1" i="0">
                          <a:solidFill>
                            <a:srgbClr val="222222"/>
                          </a:solidFill>
                          <a:latin typeface="Times New Roman"/>
                          <a:ea typeface="Times New Roman"/>
                          <a:cs typeface="Times New Roman"/>
                        </a:rPr>
                        <a:t>Failed check</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Not separated from "no evidence"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Reported as "verification unavailable", never as absence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603504">
                <a:tc>
                  <a:txBody>
                    <a:bodyPr wrap="square"/>
                    <a:lstStyle/>
                    <a:p>
                      <a:pPr algn="l">
                        <a:spcAft>
                          <a:spcPts val="0"/>
                        </a:spcAft>
                      </a:pPr>
                      <a:r>
                        <a:rPr sz="1300" b="1" i="0">
                          <a:solidFill>
                            <a:srgbClr val="222222"/>
                          </a:solidFill>
                          <a:latin typeface="Times New Roman"/>
                          <a:ea typeface="Times New Roman"/>
                          <a:cs typeface="Times New Roman"/>
                        </a:rPr>
                        <a:t>Model and cost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GPT-4o; about 4 min and 13 US cents per claim</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9 of 10 model tasks on a local 8B model; 22 to 112 s per article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RESEARCH GAP</a:t>
            </a:r>
          </a:p>
        </p:txBody>
      </p:sp>
      <p:sp>
        <p:nvSpPr>
          <p:cNvPr id="4" name="TextBox 3"/>
          <p:cNvSpPr txBox="1"/>
          <p:nvPr/>
        </p:nvSpPr>
        <p:spPr>
          <a:xfrm>
            <a:off x="1005840" y="1097280"/>
            <a:ext cx="3520440" cy="320040"/>
          </a:xfrm>
          <a:prstGeom prst="rect">
            <a:avLst/>
          </a:prstGeom>
          <a:noFill/>
        </p:spPr>
        <p:txBody>
          <a:bodyPr wrap="square" lIns="0" rIns="0" tIns="0" bIns="0" anchor="t">
            <a:spAutoFit/>
          </a:bodyPr>
          <a:lstStyle/>
          <a:p>
            <a:pPr algn="ctr">
              <a:spcAft>
                <a:spcPts val="0"/>
              </a:spcAft>
            </a:pPr>
            <a:r>
              <a:rPr sz="1500" b="1" i="0">
                <a:solidFill>
                  <a:srgbClr val="3F7A46"/>
                </a:solidFill>
                <a:latin typeface="Times New Roman"/>
                <a:ea typeface="Times New Roman"/>
                <a:cs typeface="Times New Roman"/>
              </a:rPr>
              <a:t>Gap in existing work</a:t>
            </a:r>
          </a:p>
        </p:txBody>
      </p:sp>
      <p:sp>
        <p:nvSpPr>
          <p:cNvPr id="5" name="TextBox 4"/>
          <p:cNvSpPr txBox="1"/>
          <p:nvPr/>
        </p:nvSpPr>
        <p:spPr>
          <a:xfrm>
            <a:off x="5120640" y="1097280"/>
            <a:ext cx="3657600" cy="320040"/>
          </a:xfrm>
          <a:prstGeom prst="rect">
            <a:avLst/>
          </a:prstGeom>
          <a:noFill/>
        </p:spPr>
        <p:txBody>
          <a:bodyPr wrap="square" lIns="0" rIns="0" tIns="0" bIns="0" anchor="t">
            <a:spAutoFit/>
          </a:bodyPr>
          <a:lstStyle/>
          <a:p>
            <a:pPr algn="ctr">
              <a:spcAft>
                <a:spcPts val="0"/>
              </a:spcAft>
            </a:pPr>
            <a:r>
              <a:rPr sz="1500" b="1" i="0">
                <a:solidFill>
                  <a:srgbClr val="3F7A46"/>
                </a:solidFill>
                <a:latin typeface="Times New Roman"/>
                <a:ea typeface="Times New Roman"/>
                <a:cs typeface="Times New Roman"/>
              </a:rPr>
              <a:t>How the proposed system closes it</a:t>
            </a:r>
          </a:p>
        </p:txBody>
      </p:sp>
      <p:sp>
        <p:nvSpPr>
          <p:cNvPr id="6" name="Rounded Rectangle 5"/>
          <p:cNvSpPr/>
          <p:nvPr/>
        </p:nvSpPr>
        <p:spPr>
          <a:xfrm>
            <a:off x="1005840" y="1508760"/>
            <a:ext cx="3520440" cy="676656"/>
          </a:xfrm>
          <a:prstGeom prst="roundRect">
            <a:avLst>
              <a:gd name="adj" fmla="val 6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l">
              <a:spcAft>
                <a:spcPts val="0"/>
              </a:spcAft>
            </a:pPr>
            <a:r>
              <a:rPr sz="1300" b="0" i="0">
                <a:solidFill>
                  <a:srgbClr val="222222"/>
                </a:solidFill>
                <a:latin typeface="Times New Roman"/>
                <a:ea typeface="Times New Roman"/>
                <a:cs typeface="Times New Roman"/>
              </a:rPr>
              <a:t>Writing signals the author controls can make a fake look credible</a:t>
            </a:r>
          </a:p>
        </p:txBody>
      </p:sp>
      <p:cxnSp>
        <p:nvCxnSpPr>
          <p:cNvPr id="7" name="Connector 6"/>
          <p:cNvCxnSpPr/>
          <p:nvPr/>
        </p:nvCxnSpPr>
        <p:spPr>
          <a:xfrm>
            <a:off x="4572000" y="1847088"/>
            <a:ext cx="475488" cy="0"/>
          </a:xfrm>
          <a:prstGeom prst="line">
            <a:avLst/>
          </a:prstGeom>
          <a:ln w="15875">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120640" y="1508760"/>
            <a:ext cx="3657600" cy="676656"/>
          </a:xfrm>
          <a:prstGeom prst="roundRect">
            <a:avLst>
              <a:gd name="adj" fmla="val 6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l">
              <a:spcAft>
                <a:spcPts val="0"/>
              </a:spcAft>
            </a:pPr>
            <a:r>
              <a:rPr sz="1300" b="0" i="0">
                <a:solidFill>
                  <a:srgbClr val="222222"/>
                </a:solidFill>
                <a:latin typeface="Times New Roman"/>
                <a:ea typeface="Times New Roman"/>
                <a:cs typeface="Times New Roman"/>
              </a:rPr>
              <a:t>Style may only count against a story, never for it</a:t>
            </a:r>
          </a:p>
        </p:txBody>
      </p:sp>
      <p:sp>
        <p:nvSpPr>
          <p:cNvPr id="9" name="Rounded Rectangle 8"/>
          <p:cNvSpPr/>
          <p:nvPr/>
        </p:nvSpPr>
        <p:spPr>
          <a:xfrm>
            <a:off x="1005840" y="2322576"/>
            <a:ext cx="3520440" cy="676656"/>
          </a:xfrm>
          <a:prstGeom prst="roundRect">
            <a:avLst>
              <a:gd name="adj" fmla="val 6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l">
              <a:spcAft>
                <a:spcPts val="0"/>
              </a:spcAft>
            </a:pPr>
            <a:r>
              <a:rPr sz="1300" b="0" i="0">
                <a:solidFill>
                  <a:srgbClr val="222222"/>
                </a:solidFill>
                <a:latin typeface="Times New Roman"/>
                <a:ea typeface="Times New Roman"/>
                <a:cs typeface="Times New Roman"/>
              </a:rPr>
              <a:t>Retrieved articles are counted, so syndicated copies inflate support</a:t>
            </a:r>
          </a:p>
        </p:txBody>
      </p:sp>
      <p:cxnSp>
        <p:nvCxnSpPr>
          <p:cNvPr id="10" name="Connector 9"/>
          <p:cNvCxnSpPr/>
          <p:nvPr/>
        </p:nvCxnSpPr>
        <p:spPr>
          <a:xfrm>
            <a:off x="4572000" y="2660904"/>
            <a:ext cx="475488" cy="0"/>
          </a:xfrm>
          <a:prstGeom prst="line">
            <a:avLst/>
          </a:prstGeom>
          <a:ln w="15875">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120640" y="2322576"/>
            <a:ext cx="3657600" cy="676656"/>
          </a:xfrm>
          <a:prstGeom prst="roundRect">
            <a:avLst>
              <a:gd name="adj" fmla="val 6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l">
              <a:spcAft>
                <a:spcPts val="0"/>
              </a:spcAft>
            </a:pPr>
            <a:r>
              <a:rPr sz="1300" b="0" i="0">
                <a:solidFill>
                  <a:srgbClr val="222222"/>
                </a:solidFill>
                <a:latin typeface="Times New Roman"/>
                <a:ea typeface="Times New Roman"/>
                <a:cs typeface="Times New Roman"/>
              </a:rPr>
              <a:t>Shared owners, wire copies and reprints count as one source</a:t>
            </a:r>
          </a:p>
        </p:txBody>
      </p:sp>
      <p:sp>
        <p:nvSpPr>
          <p:cNvPr id="12" name="Rounded Rectangle 11"/>
          <p:cNvSpPr/>
          <p:nvPr/>
        </p:nvSpPr>
        <p:spPr>
          <a:xfrm>
            <a:off x="1005840" y="3136391"/>
            <a:ext cx="3520440" cy="676656"/>
          </a:xfrm>
          <a:prstGeom prst="roundRect">
            <a:avLst>
              <a:gd name="adj" fmla="val 6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l">
              <a:spcAft>
                <a:spcPts val="0"/>
              </a:spcAft>
            </a:pPr>
            <a:r>
              <a:rPr sz="1300" b="0" i="0">
                <a:solidFill>
                  <a:srgbClr val="222222"/>
                </a:solidFill>
                <a:latin typeface="Times New Roman"/>
                <a:ea typeface="Times New Roman"/>
                <a:cs typeface="Times New Roman"/>
              </a:rPr>
              <a:t>The outlet is taken from the name the page gives itself</a:t>
            </a:r>
          </a:p>
        </p:txBody>
      </p:sp>
      <p:cxnSp>
        <p:nvCxnSpPr>
          <p:cNvPr id="13" name="Connector 12"/>
          <p:cNvCxnSpPr/>
          <p:nvPr/>
        </p:nvCxnSpPr>
        <p:spPr>
          <a:xfrm>
            <a:off x="4572000" y="3474720"/>
            <a:ext cx="475488" cy="0"/>
          </a:xfrm>
          <a:prstGeom prst="line">
            <a:avLst/>
          </a:prstGeom>
          <a:ln w="15875">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120640" y="3136391"/>
            <a:ext cx="3657600" cy="676656"/>
          </a:xfrm>
          <a:prstGeom prst="roundRect">
            <a:avLst>
              <a:gd name="adj" fmla="val 6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l">
              <a:spcAft>
                <a:spcPts val="0"/>
              </a:spcAft>
            </a:pPr>
            <a:r>
              <a:rPr sz="1300" b="0" i="0">
                <a:solidFill>
                  <a:srgbClr val="222222"/>
                </a:solidFill>
                <a:latin typeface="Times New Roman"/>
                <a:ea typeface="Times New Roman"/>
                <a:cs typeface="Times New Roman"/>
              </a:rPr>
              <a:t>Publisher read from the web address; lookalike sites flagged</a:t>
            </a:r>
          </a:p>
        </p:txBody>
      </p:sp>
      <p:sp>
        <p:nvSpPr>
          <p:cNvPr id="15" name="Rounded Rectangle 14"/>
          <p:cNvSpPr/>
          <p:nvPr/>
        </p:nvSpPr>
        <p:spPr>
          <a:xfrm>
            <a:off x="1005840" y="3950208"/>
            <a:ext cx="3520440" cy="676656"/>
          </a:xfrm>
          <a:prstGeom prst="roundRect">
            <a:avLst>
              <a:gd name="adj" fmla="val 6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l">
              <a:spcAft>
                <a:spcPts val="0"/>
              </a:spcAft>
            </a:pPr>
            <a:r>
              <a:rPr sz="1300" b="0" i="0">
                <a:solidFill>
                  <a:srgbClr val="222222"/>
                </a:solidFill>
                <a:latin typeface="Times New Roman"/>
                <a:ea typeface="Times New Roman"/>
                <a:cs typeface="Times New Roman"/>
              </a:rPr>
              <a:t>A false premise describes an event nobody reports, so search finds nothing</a:t>
            </a:r>
          </a:p>
        </p:txBody>
      </p:sp>
      <p:cxnSp>
        <p:nvCxnSpPr>
          <p:cNvPr id="16" name="Connector 15"/>
          <p:cNvCxnSpPr/>
          <p:nvPr/>
        </p:nvCxnSpPr>
        <p:spPr>
          <a:xfrm>
            <a:off x="4572000" y="4288536"/>
            <a:ext cx="475488" cy="0"/>
          </a:xfrm>
          <a:prstGeom prst="line">
            <a:avLst/>
          </a:prstGeom>
          <a:ln w="15875">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120640" y="3950208"/>
            <a:ext cx="3657600" cy="676656"/>
          </a:xfrm>
          <a:prstGeom prst="roundRect">
            <a:avLst>
              <a:gd name="adj" fmla="val 6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l">
              <a:spcAft>
                <a:spcPts val="0"/>
              </a:spcAft>
            </a:pPr>
            <a:r>
              <a:rPr sz="1300" b="0" i="0">
                <a:solidFill>
                  <a:srgbClr val="222222"/>
                </a:solidFill>
                <a:latin typeface="Times New Roman"/>
                <a:ea typeface="Times New Roman"/>
                <a:cs typeface="Times New Roman"/>
              </a:rPr>
              <a:t>Named people checked against their Wikipedia entries</a:t>
            </a:r>
          </a:p>
        </p:txBody>
      </p:sp>
      <p:sp>
        <p:nvSpPr>
          <p:cNvPr id="18" name="Rounded Rectangle 17"/>
          <p:cNvSpPr/>
          <p:nvPr/>
        </p:nvSpPr>
        <p:spPr>
          <a:xfrm>
            <a:off x="1005840" y="4764024"/>
            <a:ext cx="3520440" cy="676656"/>
          </a:xfrm>
          <a:prstGeom prst="roundRect">
            <a:avLst>
              <a:gd name="adj" fmla="val 6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l">
              <a:spcAft>
                <a:spcPts val="0"/>
              </a:spcAft>
            </a:pPr>
            <a:r>
              <a:rPr sz="1300" b="0" i="0">
                <a:solidFill>
                  <a:srgbClr val="222222"/>
                </a:solidFill>
                <a:latin typeface="Times New Roman"/>
                <a:ea typeface="Times New Roman"/>
                <a:cs typeface="Times New Roman"/>
              </a:rPr>
              <a:t>Hand-picked weights give scores that are not probabilities</a:t>
            </a:r>
          </a:p>
        </p:txBody>
      </p:sp>
      <p:cxnSp>
        <p:nvCxnSpPr>
          <p:cNvPr id="19" name="Connector 18"/>
          <p:cNvCxnSpPr/>
          <p:nvPr/>
        </p:nvCxnSpPr>
        <p:spPr>
          <a:xfrm>
            <a:off x="4572000" y="5102352"/>
            <a:ext cx="475488" cy="0"/>
          </a:xfrm>
          <a:prstGeom prst="line">
            <a:avLst/>
          </a:prstGeom>
          <a:ln w="15875">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20640" y="4764024"/>
            <a:ext cx="3657600" cy="676656"/>
          </a:xfrm>
          <a:prstGeom prst="roundRect">
            <a:avLst>
              <a:gd name="adj" fmla="val 6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l">
              <a:spcAft>
                <a:spcPts val="0"/>
              </a:spcAft>
            </a:pPr>
            <a:r>
              <a:rPr sz="1300" b="0" i="0">
                <a:solidFill>
                  <a:srgbClr val="222222"/>
                </a:solidFill>
                <a:latin typeface="Times New Roman"/>
                <a:ea typeface="Times New Roman"/>
                <a:cs typeface="Times New Roman"/>
              </a:rPr>
              <a:t>Likelihood ratios measured on labelled data, then calibrated</a:t>
            </a:r>
          </a:p>
        </p:txBody>
      </p:sp>
      <p:sp>
        <p:nvSpPr>
          <p:cNvPr id="21" name="Rounded Rectangle 20"/>
          <p:cNvSpPr/>
          <p:nvPr/>
        </p:nvSpPr>
        <p:spPr>
          <a:xfrm>
            <a:off x="1005840" y="5577840"/>
            <a:ext cx="3520440" cy="676656"/>
          </a:xfrm>
          <a:prstGeom prst="roundRect">
            <a:avLst>
              <a:gd name="adj" fmla="val 6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l">
              <a:spcAft>
                <a:spcPts val="0"/>
              </a:spcAft>
            </a:pPr>
            <a:r>
              <a:rPr sz="1300" b="0" i="0">
                <a:solidFill>
                  <a:srgbClr val="222222"/>
                </a:solidFill>
                <a:latin typeface="Times New Roman"/>
                <a:ea typeface="Times New Roman"/>
                <a:cs typeface="Times New Roman"/>
              </a:rPr>
              <a:t>A failed or empty search is shown as evidence against the story</a:t>
            </a:r>
          </a:p>
        </p:txBody>
      </p:sp>
      <p:cxnSp>
        <p:nvCxnSpPr>
          <p:cNvPr id="22" name="Connector 21"/>
          <p:cNvCxnSpPr/>
          <p:nvPr/>
        </p:nvCxnSpPr>
        <p:spPr>
          <a:xfrm>
            <a:off x="4572000" y="5916168"/>
            <a:ext cx="475488" cy="0"/>
          </a:xfrm>
          <a:prstGeom prst="line">
            <a:avLst/>
          </a:prstGeom>
          <a:ln w="15875">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5120640" y="5577840"/>
            <a:ext cx="3657600" cy="676656"/>
          </a:xfrm>
          <a:prstGeom prst="roundRect">
            <a:avLst>
              <a:gd name="adj" fmla="val 6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109728" bIns="109728" wrap="square"/>
          <a:lstStyle/>
          <a:p>
            <a:pPr algn="l">
              <a:spcAft>
                <a:spcPts val="0"/>
              </a:spcAft>
            </a:pPr>
            <a:r>
              <a:rPr sz="1300" b="0" i="0">
                <a:solidFill>
                  <a:srgbClr val="222222"/>
                </a:solidFill>
                <a:latin typeface="Times New Roman"/>
                <a:ea typeface="Times New Roman"/>
                <a:cs typeface="Times New Roman"/>
              </a:rPr>
              <a:t>Failed search reported as unavailable; the system abstains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SYSTEM ARCHITECTURE</a:t>
            </a:r>
          </a:p>
        </p:txBody>
      </p:sp>
      <p:sp>
        <p:nvSpPr>
          <p:cNvPr id="4" name="Rounded Rectangle 3"/>
          <p:cNvSpPr/>
          <p:nvPr/>
        </p:nvSpPr>
        <p:spPr>
          <a:xfrm>
            <a:off x="960120" y="1024128"/>
            <a:ext cx="6355080" cy="749808"/>
          </a:xfrm>
          <a:prstGeom prst="roundRect">
            <a:avLst>
              <a:gd name="adj" fmla="val 3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5" name="TextBox 4"/>
          <p:cNvSpPr txBox="1"/>
          <p:nvPr/>
        </p:nvSpPr>
        <p:spPr>
          <a:xfrm>
            <a:off x="1069848" y="1069848"/>
            <a:ext cx="6135624" cy="228600"/>
          </a:xfrm>
          <a:prstGeom prst="rect">
            <a:avLst/>
          </a:prstGeom>
          <a:noFill/>
        </p:spPr>
        <p:txBody>
          <a:bodyPr wrap="square" lIns="0" rIns="0" tIns="0" bIns="0" anchor="t">
            <a:spAutoFit/>
          </a:bodyPr>
          <a:lstStyle/>
          <a:p>
            <a:pPr algn="l">
              <a:spcAft>
                <a:spcPts val="0"/>
              </a:spcAft>
            </a:pPr>
            <a:r>
              <a:rPr sz="1100" b="1" i="0">
                <a:solidFill>
                  <a:srgbClr val="3F7A46"/>
                </a:solidFill>
                <a:latin typeface="Times New Roman"/>
                <a:ea typeface="Times New Roman"/>
                <a:cs typeface="Times New Roman"/>
              </a:rPr>
              <a:t>Client: React 19 single-page application</a:t>
            </a:r>
          </a:p>
        </p:txBody>
      </p:sp>
      <p:sp>
        <p:nvSpPr>
          <p:cNvPr id="6" name="Rounded Rectangle 5"/>
          <p:cNvSpPr/>
          <p:nvPr/>
        </p:nvSpPr>
        <p:spPr>
          <a:xfrm>
            <a:off x="1069848" y="1325880"/>
            <a:ext cx="1153972"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Front page with trust stamps</a:t>
            </a:r>
          </a:p>
        </p:txBody>
      </p:sp>
      <p:sp>
        <p:nvSpPr>
          <p:cNvPr id="7" name="Rounded Rectangle 6"/>
          <p:cNvSpPr/>
          <p:nvPr/>
        </p:nvSpPr>
        <p:spPr>
          <a:xfrm>
            <a:off x="2315260" y="1325880"/>
            <a:ext cx="1153972"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Article page</a:t>
            </a:r>
          </a:p>
        </p:txBody>
      </p:sp>
      <p:sp>
        <p:nvSpPr>
          <p:cNvPr id="8" name="Rounded Rectangle 7"/>
          <p:cNvSpPr/>
          <p:nvPr/>
        </p:nvSpPr>
        <p:spPr>
          <a:xfrm>
            <a:off x="3560673" y="1325880"/>
            <a:ext cx="1153972"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Check Anything</a:t>
            </a:r>
          </a:p>
        </p:txBody>
      </p:sp>
      <p:sp>
        <p:nvSpPr>
          <p:cNvPr id="9" name="Rounded Rectangle 8"/>
          <p:cNvSpPr/>
          <p:nvPr/>
        </p:nvSpPr>
        <p:spPr>
          <a:xfrm>
            <a:off x="4806086" y="1325880"/>
            <a:ext cx="1153972"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Compare Coverage</a:t>
            </a:r>
          </a:p>
        </p:txBody>
      </p:sp>
      <p:sp>
        <p:nvSpPr>
          <p:cNvPr id="10" name="Rounded Rectangle 9"/>
          <p:cNvSpPr/>
          <p:nvPr/>
        </p:nvSpPr>
        <p:spPr>
          <a:xfrm>
            <a:off x="6051499" y="1325880"/>
            <a:ext cx="1153972"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Reader dashboard</a:t>
            </a:r>
          </a:p>
        </p:txBody>
      </p:sp>
      <p:sp>
        <p:nvSpPr>
          <p:cNvPr id="11" name="Rounded Rectangle 10"/>
          <p:cNvSpPr/>
          <p:nvPr/>
        </p:nvSpPr>
        <p:spPr>
          <a:xfrm>
            <a:off x="960120" y="1901952"/>
            <a:ext cx="6355080" cy="749808"/>
          </a:xfrm>
          <a:prstGeom prst="roundRect">
            <a:avLst>
              <a:gd name="adj" fmla="val 3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2" name="TextBox 11"/>
          <p:cNvSpPr txBox="1"/>
          <p:nvPr/>
        </p:nvSpPr>
        <p:spPr>
          <a:xfrm>
            <a:off x="1069848" y="1947672"/>
            <a:ext cx="6135624" cy="228600"/>
          </a:xfrm>
          <a:prstGeom prst="rect">
            <a:avLst/>
          </a:prstGeom>
          <a:noFill/>
        </p:spPr>
        <p:txBody>
          <a:bodyPr wrap="square" lIns="0" rIns="0" tIns="0" bIns="0" anchor="t">
            <a:spAutoFit/>
          </a:bodyPr>
          <a:lstStyle/>
          <a:p>
            <a:pPr algn="l">
              <a:spcAft>
                <a:spcPts val="0"/>
              </a:spcAft>
            </a:pPr>
            <a:r>
              <a:rPr sz="1100" b="1" i="0">
                <a:solidFill>
                  <a:srgbClr val="3F7A46"/>
                </a:solidFill>
                <a:latin typeface="Times New Roman"/>
                <a:ea typeface="Times New Roman"/>
                <a:cs typeface="Times New Roman"/>
              </a:rPr>
              <a:t>API: Express 5 on Node.js 24</a:t>
            </a:r>
          </a:p>
        </p:txBody>
      </p:sp>
      <p:sp>
        <p:nvSpPr>
          <p:cNvPr id="13" name="Rounded Rectangle 12"/>
          <p:cNvSpPr/>
          <p:nvPr/>
        </p:nvSpPr>
        <p:spPr>
          <a:xfrm>
            <a:off x="1069848" y="2203704"/>
            <a:ext cx="1153972"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Accounts (JWT, bcrypt)</a:t>
            </a:r>
          </a:p>
        </p:txBody>
      </p:sp>
      <p:sp>
        <p:nvSpPr>
          <p:cNvPr id="14" name="Rounded Rectangle 13"/>
          <p:cNvSpPr/>
          <p:nvPr/>
        </p:nvSpPr>
        <p:spPr>
          <a:xfrm>
            <a:off x="2315260" y="2203704"/>
            <a:ext cx="1153972"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Access control (JWT or key)</a:t>
            </a:r>
          </a:p>
        </p:txBody>
      </p:sp>
      <p:sp>
        <p:nvSpPr>
          <p:cNvPr id="15" name="Rounded Rectangle 14"/>
          <p:cNvSpPr/>
          <p:nvPr/>
        </p:nvSpPr>
        <p:spPr>
          <a:xfrm>
            <a:off x="3560673" y="2203704"/>
            <a:ext cx="1153972"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Link guard (no private addresses)</a:t>
            </a:r>
          </a:p>
        </p:txBody>
      </p:sp>
      <p:sp>
        <p:nvSpPr>
          <p:cNvPr id="16" name="Rounded Rectangle 15"/>
          <p:cNvSpPr/>
          <p:nvPr/>
        </p:nvSpPr>
        <p:spPr>
          <a:xfrm>
            <a:off x="4806086" y="2203704"/>
            <a:ext cx="1153972"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NDJSON progress stream</a:t>
            </a:r>
          </a:p>
        </p:txBody>
      </p:sp>
      <p:sp>
        <p:nvSpPr>
          <p:cNvPr id="17" name="Rounded Rectangle 16"/>
          <p:cNvSpPr/>
          <p:nvPr/>
        </p:nvSpPr>
        <p:spPr>
          <a:xfrm>
            <a:off x="6051499" y="2203704"/>
            <a:ext cx="1153972"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Report cache (14 days, complete only)</a:t>
            </a:r>
          </a:p>
        </p:txBody>
      </p:sp>
      <p:sp>
        <p:nvSpPr>
          <p:cNvPr id="18" name="Rounded Rectangle 17"/>
          <p:cNvSpPr/>
          <p:nvPr/>
        </p:nvSpPr>
        <p:spPr>
          <a:xfrm>
            <a:off x="960120" y="2779776"/>
            <a:ext cx="6355080" cy="1700784"/>
          </a:xfrm>
          <a:prstGeom prst="roundRect">
            <a:avLst>
              <a:gd name="adj" fmla="val 3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9" name="TextBox 18"/>
          <p:cNvSpPr txBox="1"/>
          <p:nvPr/>
        </p:nvSpPr>
        <p:spPr>
          <a:xfrm>
            <a:off x="1069848" y="2825496"/>
            <a:ext cx="6135624" cy="228600"/>
          </a:xfrm>
          <a:prstGeom prst="rect">
            <a:avLst/>
          </a:prstGeom>
          <a:noFill/>
        </p:spPr>
        <p:txBody>
          <a:bodyPr wrap="square" lIns="0" rIns="0" tIns="0" bIns="0" anchor="t">
            <a:spAutoFit/>
          </a:bodyPr>
          <a:lstStyle/>
          <a:p>
            <a:pPr algn="l">
              <a:spcAft>
                <a:spcPts val="0"/>
              </a:spcAft>
            </a:pPr>
            <a:r>
              <a:rPr sz="1100" b="1" i="0">
                <a:solidFill>
                  <a:srgbClr val="3F7A46"/>
                </a:solidFill>
                <a:latin typeface="Times New Roman"/>
                <a:ea typeface="Times New Roman"/>
                <a:cs typeface="Times New Roman"/>
              </a:rPr>
              <a:t>Analysis agents</a:t>
            </a:r>
          </a:p>
        </p:txBody>
      </p:sp>
      <p:sp>
        <p:nvSpPr>
          <p:cNvPr id="20" name="Rounded Rectangle 19"/>
          <p:cNvSpPr/>
          <p:nvPr/>
        </p:nvSpPr>
        <p:spPr>
          <a:xfrm>
            <a:off x="1069848" y="3081528"/>
            <a:ext cx="1465326" cy="387096"/>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Ingestion: page reader, OCR, captions</a:t>
            </a:r>
          </a:p>
        </p:txBody>
      </p:sp>
      <p:sp>
        <p:nvSpPr>
          <p:cNvPr id="21" name="Rounded Rectangle 20"/>
          <p:cNvSpPr/>
          <p:nvPr/>
        </p:nvSpPr>
        <p:spPr>
          <a:xfrm>
            <a:off x="2626614" y="3081528"/>
            <a:ext cx="1465326" cy="387096"/>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Admissibility gate</a:t>
            </a:r>
          </a:p>
        </p:txBody>
      </p:sp>
      <p:sp>
        <p:nvSpPr>
          <p:cNvPr id="22" name="Rounded Rectangle 21"/>
          <p:cNvSpPr/>
          <p:nvPr/>
        </p:nvSpPr>
        <p:spPr>
          <a:xfrm>
            <a:off x="4183380" y="3081528"/>
            <a:ext cx="1465326" cy="387096"/>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Claim extraction</a:t>
            </a:r>
          </a:p>
        </p:txBody>
      </p:sp>
      <p:sp>
        <p:nvSpPr>
          <p:cNvPr id="23" name="Rounded Rectangle 22"/>
          <p:cNvSpPr/>
          <p:nvPr/>
        </p:nvSpPr>
        <p:spPr>
          <a:xfrm>
            <a:off x="5740146" y="3081528"/>
            <a:ext cx="1465326" cy="387096"/>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Language detection</a:t>
            </a:r>
          </a:p>
        </p:txBody>
      </p:sp>
      <p:sp>
        <p:nvSpPr>
          <p:cNvPr id="24" name="Rounded Rectangle 23"/>
          <p:cNvSpPr/>
          <p:nvPr/>
        </p:nvSpPr>
        <p:spPr>
          <a:xfrm>
            <a:off x="1069848" y="3541776"/>
            <a:ext cx="1465326" cy="387096"/>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Corroboration search</a:t>
            </a:r>
          </a:p>
        </p:txBody>
      </p:sp>
      <p:sp>
        <p:nvSpPr>
          <p:cNvPr id="25" name="Rounded Rectangle 24"/>
          <p:cNvSpPr/>
          <p:nvPr/>
        </p:nvSpPr>
        <p:spPr>
          <a:xfrm>
            <a:off x="2626614" y="3541776"/>
            <a:ext cx="1465326" cy="387096"/>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Relevance gate</a:t>
            </a:r>
          </a:p>
        </p:txBody>
      </p:sp>
      <p:sp>
        <p:nvSpPr>
          <p:cNvPr id="26" name="Rounded Rectangle 25"/>
          <p:cNvSpPr/>
          <p:nvPr/>
        </p:nvSpPr>
        <p:spPr>
          <a:xfrm>
            <a:off x="4183380" y="3541776"/>
            <a:ext cx="1465326" cy="387096"/>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Independence analysis</a:t>
            </a:r>
          </a:p>
        </p:txBody>
      </p:sp>
      <p:sp>
        <p:nvSpPr>
          <p:cNvPr id="27" name="Rounded Rectangle 26"/>
          <p:cNvSpPr/>
          <p:nvPr/>
        </p:nvSpPr>
        <p:spPr>
          <a:xfrm>
            <a:off x="5740146" y="3541776"/>
            <a:ext cx="1465326" cy="387096"/>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Stance judgement</a:t>
            </a:r>
          </a:p>
        </p:txBody>
      </p:sp>
      <p:sp>
        <p:nvSpPr>
          <p:cNvPr id="28" name="Rounded Rectangle 27"/>
          <p:cNvSpPr/>
          <p:nvPr/>
        </p:nvSpPr>
        <p:spPr>
          <a:xfrm>
            <a:off x="1069848" y="4002024"/>
            <a:ext cx="1465326" cy="387096"/>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Premise check (Wikipedia)</a:t>
            </a:r>
          </a:p>
        </p:txBody>
      </p:sp>
      <p:sp>
        <p:nvSpPr>
          <p:cNvPr id="29" name="Rounded Rectangle 28"/>
          <p:cNvSpPr/>
          <p:nvPr/>
        </p:nvSpPr>
        <p:spPr>
          <a:xfrm>
            <a:off x="2626614" y="4002024"/>
            <a:ext cx="1465326" cy="387096"/>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Publisher identity and domain age</a:t>
            </a:r>
          </a:p>
        </p:txBody>
      </p:sp>
      <p:sp>
        <p:nvSpPr>
          <p:cNvPr id="30" name="Rounded Rectangle 29"/>
          <p:cNvSpPr/>
          <p:nvPr/>
        </p:nvSpPr>
        <p:spPr>
          <a:xfrm>
            <a:off x="4183380" y="4002024"/>
            <a:ext cx="1465326" cy="387096"/>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Writing checks (4)</a:t>
            </a:r>
          </a:p>
        </p:txBody>
      </p:sp>
      <p:sp>
        <p:nvSpPr>
          <p:cNvPr id="31" name="Rounded Rectangle 30"/>
          <p:cNvSpPr/>
          <p:nvPr/>
        </p:nvSpPr>
        <p:spPr>
          <a:xfrm>
            <a:off x="5740146" y="4002024"/>
            <a:ext cx="1465326" cy="387096"/>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Weight of evidence and verdict rules</a:t>
            </a:r>
          </a:p>
        </p:txBody>
      </p:sp>
      <p:sp>
        <p:nvSpPr>
          <p:cNvPr id="32" name="Rounded Rectangle 31"/>
          <p:cNvSpPr/>
          <p:nvPr/>
        </p:nvSpPr>
        <p:spPr>
          <a:xfrm>
            <a:off x="960120" y="4608576"/>
            <a:ext cx="6355080" cy="749808"/>
          </a:xfrm>
          <a:prstGeom prst="roundRect">
            <a:avLst>
              <a:gd name="adj" fmla="val 3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33" name="TextBox 32"/>
          <p:cNvSpPr txBox="1"/>
          <p:nvPr/>
        </p:nvSpPr>
        <p:spPr>
          <a:xfrm>
            <a:off x="1069848" y="4654296"/>
            <a:ext cx="6135624" cy="228600"/>
          </a:xfrm>
          <a:prstGeom prst="rect">
            <a:avLst/>
          </a:prstGeom>
          <a:noFill/>
        </p:spPr>
        <p:txBody>
          <a:bodyPr wrap="square" lIns="0" rIns="0" tIns="0" bIns="0" anchor="t">
            <a:spAutoFit/>
          </a:bodyPr>
          <a:lstStyle/>
          <a:p>
            <a:pPr algn="l">
              <a:spcAft>
                <a:spcPts val="0"/>
              </a:spcAft>
            </a:pPr>
            <a:r>
              <a:rPr sz="1100" b="1" i="0">
                <a:solidFill>
                  <a:srgbClr val="3F7A46"/>
                </a:solidFill>
                <a:latin typeface="Times New Roman"/>
                <a:ea typeface="Times New Roman"/>
                <a:cs typeface="Times New Roman"/>
              </a:rPr>
              <a:t>Language-model gateway: task routing, retry and back-off, JSON repair</a:t>
            </a:r>
          </a:p>
        </p:txBody>
      </p:sp>
      <p:sp>
        <p:nvSpPr>
          <p:cNvPr id="34" name="Rounded Rectangle 33"/>
          <p:cNvSpPr/>
          <p:nvPr/>
        </p:nvSpPr>
        <p:spPr>
          <a:xfrm>
            <a:off x="1069848" y="4910328"/>
            <a:ext cx="1465326"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Ollama, Llama 3.1 8B (9 tasks)</a:t>
            </a:r>
          </a:p>
        </p:txBody>
      </p:sp>
      <p:sp>
        <p:nvSpPr>
          <p:cNvPr id="35" name="Rounded Rectangle 34"/>
          <p:cNvSpPr/>
          <p:nvPr/>
        </p:nvSpPr>
        <p:spPr>
          <a:xfrm>
            <a:off x="2626614" y="4910328"/>
            <a:ext cx="1465326"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NVIDIA NIM (premise check)</a:t>
            </a:r>
          </a:p>
        </p:txBody>
      </p:sp>
      <p:sp>
        <p:nvSpPr>
          <p:cNvPr id="36" name="Rounded Rectangle 35"/>
          <p:cNvSpPr/>
          <p:nvPr/>
        </p:nvSpPr>
        <p:spPr>
          <a:xfrm>
            <a:off x="4183380" y="4910328"/>
            <a:ext cx="1465326"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Google Gemini (fallback)</a:t>
            </a:r>
          </a:p>
        </p:txBody>
      </p:sp>
      <p:sp>
        <p:nvSpPr>
          <p:cNvPr id="37" name="Rounded Rectangle 36"/>
          <p:cNvSpPr/>
          <p:nvPr/>
        </p:nvSpPr>
        <p:spPr>
          <a:xfrm>
            <a:off x="5740146" y="4910328"/>
            <a:ext cx="1465326" cy="356615"/>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Rule-based fallback analysers</a:t>
            </a:r>
          </a:p>
        </p:txBody>
      </p:sp>
      <p:sp>
        <p:nvSpPr>
          <p:cNvPr id="38" name="Rounded Rectangle 37"/>
          <p:cNvSpPr/>
          <p:nvPr/>
        </p:nvSpPr>
        <p:spPr>
          <a:xfrm>
            <a:off x="960120" y="5486400"/>
            <a:ext cx="6355080" cy="896112"/>
          </a:xfrm>
          <a:prstGeom prst="roundRect">
            <a:avLst>
              <a:gd name="adj" fmla="val 3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39" name="TextBox 38"/>
          <p:cNvSpPr txBox="1"/>
          <p:nvPr/>
        </p:nvSpPr>
        <p:spPr>
          <a:xfrm>
            <a:off x="1069848" y="5532120"/>
            <a:ext cx="6135624" cy="228600"/>
          </a:xfrm>
          <a:prstGeom prst="rect">
            <a:avLst/>
          </a:prstGeom>
          <a:noFill/>
        </p:spPr>
        <p:txBody>
          <a:bodyPr wrap="square" lIns="0" rIns="0" tIns="0" bIns="0" anchor="t">
            <a:spAutoFit/>
          </a:bodyPr>
          <a:lstStyle/>
          <a:p>
            <a:pPr algn="l">
              <a:spcAft>
                <a:spcPts val="0"/>
              </a:spcAft>
            </a:pPr>
            <a:r>
              <a:rPr sz="1100" b="1" i="0">
                <a:solidFill>
                  <a:srgbClr val="3F7A46"/>
                </a:solidFill>
                <a:latin typeface="Times New Roman"/>
                <a:ea typeface="Times New Roman"/>
                <a:cs typeface="Times New Roman"/>
              </a:rPr>
              <a:t>Data</a:t>
            </a:r>
          </a:p>
        </p:txBody>
      </p:sp>
      <p:sp>
        <p:nvSpPr>
          <p:cNvPr id="40" name="Rounded Rectangle 39"/>
          <p:cNvSpPr/>
          <p:nvPr/>
        </p:nvSpPr>
        <p:spPr>
          <a:xfrm>
            <a:off x="1069848" y="5788152"/>
            <a:ext cx="1465326" cy="502919"/>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MongoDB: users, history, activity, report and summary cache</a:t>
            </a:r>
          </a:p>
        </p:txBody>
      </p:sp>
      <p:sp>
        <p:nvSpPr>
          <p:cNvPr id="41" name="Rounded Rectangle 40"/>
          <p:cNvSpPr/>
          <p:nvPr/>
        </p:nvSpPr>
        <p:spPr>
          <a:xfrm>
            <a:off x="2626614" y="5788152"/>
            <a:ext cx="1465326" cy="502919"/>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Outlet ratings: 90 curated, 11,520 rated domains</a:t>
            </a:r>
          </a:p>
        </p:txBody>
      </p:sp>
      <p:sp>
        <p:nvSpPr>
          <p:cNvPr id="42" name="Rounded Rectangle 41"/>
          <p:cNvSpPr/>
          <p:nvPr/>
        </p:nvSpPr>
        <p:spPr>
          <a:xfrm>
            <a:off x="4183380" y="5788152"/>
            <a:ext cx="1465326" cy="502919"/>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Ownership map</a:t>
            </a:r>
          </a:p>
        </p:txBody>
      </p:sp>
      <p:sp>
        <p:nvSpPr>
          <p:cNvPr id="43" name="Rounded Rectangle 42"/>
          <p:cNvSpPr/>
          <p:nvPr/>
        </p:nvSpPr>
        <p:spPr>
          <a:xfrm>
            <a:off x="5740146" y="5788152"/>
            <a:ext cx="1465326" cy="502919"/>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Measured evidence weights and routing table</a:t>
            </a:r>
          </a:p>
        </p:txBody>
      </p:sp>
      <p:cxnSp>
        <p:nvCxnSpPr>
          <p:cNvPr id="44" name="Connector 43"/>
          <p:cNvCxnSpPr/>
          <p:nvPr/>
        </p:nvCxnSpPr>
        <p:spPr>
          <a:xfrm>
            <a:off x="4137660" y="1773936"/>
            <a:ext cx="0" cy="128016"/>
          </a:xfrm>
          <a:prstGeom prst="line">
            <a:avLst/>
          </a:prstGeom>
          <a:ln w="12700">
            <a:solidFill>
              <a:srgbClr val="3F7A46"/>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4137660" y="2651760"/>
            <a:ext cx="0" cy="128016"/>
          </a:xfrm>
          <a:prstGeom prst="line">
            <a:avLst/>
          </a:prstGeom>
          <a:ln w="12700">
            <a:solidFill>
              <a:srgbClr val="3F7A46"/>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137660" y="4480560"/>
            <a:ext cx="0" cy="128016"/>
          </a:xfrm>
          <a:prstGeom prst="line">
            <a:avLst/>
          </a:prstGeom>
          <a:ln w="12700">
            <a:solidFill>
              <a:srgbClr val="3F7A46"/>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4137660" y="5358384"/>
            <a:ext cx="0" cy="128016"/>
          </a:xfrm>
          <a:prstGeom prst="line">
            <a:avLst/>
          </a:prstGeom>
          <a:ln w="12700">
            <a:solidFill>
              <a:srgbClr val="3F7A46"/>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7479792" y="1024128"/>
            <a:ext cx="1325880" cy="5358384"/>
          </a:xfrm>
          <a:prstGeom prst="roundRect">
            <a:avLst>
              <a:gd name="adj" fmla="val 3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49" name="TextBox 48"/>
          <p:cNvSpPr txBox="1"/>
          <p:nvPr/>
        </p:nvSpPr>
        <p:spPr>
          <a:xfrm>
            <a:off x="7552944" y="1069848"/>
            <a:ext cx="1188720" cy="457200"/>
          </a:xfrm>
          <a:prstGeom prst="rect">
            <a:avLst/>
          </a:prstGeom>
          <a:noFill/>
        </p:spPr>
        <p:txBody>
          <a:bodyPr wrap="square" lIns="0" rIns="0" tIns="0" bIns="0" anchor="t">
            <a:spAutoFit/>
          </a:bodyPr>
          <a:lstStyle/>
          <a:p>
            <a:pPr algn="ctr">
              <a:spcAft>
                <a:spcPts val="0"/>
              </a:spcAft>
            </a:pPr>
            <a:r>
              <a:rPr sz="1100" b="1" i="0">
                <a:solidFill>
                  <a:srgbClr val="3F7A46"/>
                </a:solidFill>
                <a:latin typeface="Times New Roman"/>
                <a:ea typeface="Times New Roman"/>
                <a:cs typeface="Times New Roman"/>
              </a:rPr>
              <a:t>External services</a:t>
            </a:r>
          </a:p>
        </p:txBody>
      </p:sp>
      <p:sp>
        <p:nvSpPr>
          <p:cNvPr id="50" name="Rounded Rectangle 49"/>
          <p:cNvSpPr/>
          <p:nvPr/>
        </p:nvSpPr>
        <p:spPr>
          <a:xfrm>
            <a:off x="7589519" y="1600200"/>
            <a:ext cx="1106424" cy="713232"/>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NewsAPI news index</a:t>
            </a:r>
          </a:p>
        </p:txBody>
      </p:sp>
      <p:sp>
        <p:nvSpPr>
          <p:cNvPr id="51" name="Rounded Rectangle 50"/>
          <p:cNvSpPr/>
          <p:nvPr/>
        </p:nvSpPr>
        <p:spPr>
          <a:xfrm>
            <a:off x="7589519" y="2514600"/>
            <a:ext cx="1106424" cy="713232"/>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Wikipedia API</a:t>
            </a:r>
          </a:p>
        </p:txBody>
      </p:sp>
      <p:sp>
        <p:nvSpPr>
          <p:cNvPr id="52" name="Rounded Rectangle 51"/>
          <p:cNvSpPr/>
          <p:nvPr/>
        </p:nvSpPr>
        <p:spPr>
          <a:xfrm>
            <a:off x="7589519" y="3429000"/>
            <a:ext cx="1106424" cy="713232"/>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RDAP domain registries</a:t>
            </a:r>
          </a:p>
        </p:txBody>
      </p:sp>
      <p:sp>
        <p:nvSpPr>
          <p:cNvPr id="53" name="Rounded Rectangle 52"/>
          <p:cNvSpPr/>
          <p:nvPr/>
        </p:nvSpPr>
        <p:spPr>
          <a:xfrm>
            <a:off x="7589519" y="4343400"/>
            <a:ext cx="1106424" cy="713232"/>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YouTube captions</a:t>
            </a:r>
          </a:p>
        </p:txBody>
      </p:sp>
      <p:sp>
        <p:nvSpPr>
          <p:cNvPr id="54" name="Rounded Rectangle 53"/>
          <p:cNvSpPr/>
          <p:nvPr/>
        </p:nvSpPr>
        <p:spPr>
          <a:xfrm>
            <a:off x="7589519" y="5257800"/>
            <a:ext cx="1106424" cy="713232"/>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36576" rIns="36576" tIns="36576" bIns="36576" wrap="square"/>
          <a:lstStyle/>
          <a:p>
            <a:pPr algn="ctr">
              <a:spcAft>
                <a:spcPts val="0"/>
              </a:spcAft>
            </a:pPr>
            <a:r>
              <a:rPr sz="1000" b="0" i="0">
                <a:solidFill>
                  <a:srgbClr val="222222"/>
                </a:solidFill>
                <a:latin typeface="Times New Roman"/>
                <a:ea typeface="Times New Roman"/>
                <a:cs typeface="Times New Roman"/>
              </a:rPr>
              <a:t>Publisher web pages</a:t>
            </a:r>
          </a:p>
        </p:txBody>
      </p:sp>
      <p:cxnSp>
        <p:nvCxnSpPr>
          <p:cNvPr id="55" name="Connector 54"/>
          <p:cNvCxnSpPr/>
          <p:nvPr/>
        </p:nvCxnSpPr>
        <p:spPr>
          <a:xfrm>
            <a:off x="7315200" y="3630168"/>
            <a:ext cx="164592" cy="0"/>
          </a:xfrm>
          <a:prstGeom prst="line">
            <a:avLst/>
          </a:prstGeom>
          <a:ln w="12700">
            <a:solidFill>
              <a:srgbClr val="3F7A46"/>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PROCESSING PIPELINE</a:t>
            </a:r>
          </a:p>
        </p:txBody>
      </p:sp>
      <p:sp>
        <p:nvSpPr>
          <p:cNvPr id="4" name="Rounded Rectangle 3"/>
          <p:cNvSpPr/>
          <p:nvPr/>
        </p:nvSpPr>
        <p:spPr>
          <a:xfrm>
            <a:off x="960120" y="1024128"/>
            <a:ext cx="1897379" cy="384048"/>
          </a:xfrm>
          <a:prstGeom prst="roundRect">
            <a:avLst>
              <a:gd name="adj" fmla="val 10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wrap="square"/>
          <a:lstStyle/>
          <a:p>
            <a:pPr algn="ctr">
              <a:spcAft>
                <a:spcPts val="0"/>
              </a:spcAft>
            </a:pPr>
            <a:r>
              <a:rPr sz="1100" b="0" i="0">
                <a:solidFill>
                  <a:srgbClr val="222222"/>
                </a:solidFill>
                <a:latin typeface="Times New Roman"/>
                <a:ea typeface="Times New Roman"/>
                <a:cs typeface="Times New Roman"/>
              </a:rPr>
              <a:t>Article link: publisher page</a:t>
            </a:r>
          </a:p>
        </p:txBody>
      </p:sp>
      <p:cxnSp>
        <p:nvCxnSpPr>
          <p:cNvPr id="5" name="Connector 4"/>
          <p:cNvCxnSpPr/>
          <p:nvPr/>
        </p:nvCxnSpPr>
        <p:spPr>
          <a:xfrm>
            <a:off x="1908810" y="1408176"/>
            <a:ext cx="0" cy="164592"/>
          </a:xfrm>
          <a:prstGeom prst="line">
            <a:avLst/>
          </a:prstGeom>
          <a:ln w="12700">
            <a:solidFill>
              <a:srgbClr val="3F7A46"/>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948939" y="1024128"/>
            <a:ext cx="1897379" cy="384048"/>
          </a:xfrm>
          <a:prstGeom prst="roundRect">
            <a:avLst>
              <a:gd name="adj" fmla="val 10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wrap="square"/>
          <a:lstStyle/>
          <a:p>
            <a:pPr algn="ctr">
              <a:spcAft>
                <a:spcPts val="0"/>
              </a:spcAft>
            </a:pPr>
            <a:r>
              <a:rPr sz="1100" b="0" i="0">
                <a:solidFill>
                  <a:srgbClr val="222222"/>
                </a:solidFill>
                <a:latin typeface="Times New Roman"/>
                <a:ea typeface="Times New Roman"/>
                <a:cs typeface="Times New Roman"/>
              </a:rPr>
              <a:t>Pasted text</a:t>
            </a:r>
          </a:p>
        </p:txBody>
      </p:sp>
      <p:cxnSp>
        <p:nvCxnSpPr>
          <p:cNvPr id="7" name="Connector 6"/>
          <p:cNvCxnSpPr/>
          <p:nvPr/>
        </p:nvCxnSpPr>
        <p:spPr>
          <a:xfrm>
            <a:off x="3897629" y="1408176"/>
            <a:ext cx="0" cy="164592"/>
          </a:xfrm>
          <a:prstGeom prst="line">
            <a:avLst/>
          </a:prstGeom>
          <a:ln w="12700">
            <a:solidFill>
              <a:srgbClr val="3F7A46"/>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937759" y="1024128"/>
            <a:ext cx="1897379" cy="384048"/>
          </a:xfrm>
          <a:prstGeom prst="roundRect">
            <a:avLst>
              <a:gd name="adj" fmla="val 10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wrap="square"/>
          <a:lstStyle/>
          <a:p>
            <a:pPr algn="ctr">
              <a:spcAft>
                <a:spcPts val="0"/>
              </a:spcAft>
            </a:pPr>
            <a:r>
              <a:rPr sz="1100" b="0" i="0">
                <a:solidFill>
                  <a:srgbClr val="222222"/>
                </a:solidFill>
                <a:latin typeface="Times New Roman"/>
                <a:ea typeface="Times New Roman"/>
                <a:cs typeface="Times New Roman"/>
              </a:rPr>
              <a:t>Screenshot: Tesseract OCR</a:t>
            </a:r>
          </a:p>
        </p:txBody>
      </p:sp>
      <p:cxnSp>
        <p:nvCxnSpPr>
          <p:cNvPr id="9" name="Connector 8"/>
          <p:cNvCxnSpPr/>
          <p:nvPr/>
        </p:nvCxnSpPr>
        <p:spPr>
          <a:xfrm>
            <a:off x="5886449" y="1408176"/>
            <a:ext cx="0" cy="164592"/>
          </a:xfrm>
          <a:prstGeom prst="line">
            <a:avLst/>
          </a:prstGeom>
          <a:ln w="12700">
            <a:solidFill>
              <a:srgbClr val="3F7A46"/>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926579" y="1024128"/>
            <a:ext cx="1897379" cy="384048"/>
          </a:xfrm>
          <a:prstGeom prst="roundRect">
            <a:avLst>
              <a:gd name="adj" fmla="val 10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wrap="square"/>
          <a:lstStyle/>
          <a:p>
            <a:pPr algn="ctr">
              <a:spcAft>
                <a:spcPts val="0"/>
              </a:spcAft>
            </a:pPr>
            <a:r>
              <a:rPr sz="1100" b="0" i="0">
                <a:solidFill>
                  <a:srgbClr val="222222"/>
                </a:solidFill>
                <a:latin typeface="Times New Roman"/>
                <a:ea typeface="Times New Roman"/>
                <a:cs typeface="Times New Roman"/>
              </a:rPr>
              <a:t>YouTube video: caption track</a:t>
            </a:r>
          </a:p>
        </p:txBody>
      </p:sp>
      <p:cxnSp>
        <p:nvCxnSpPr>
          <p:cNvPr id="11" name="Connector 10"/>
          <p:cNvCxnSpPr/>
          <p:nvPr/>
        </p:nvCxnSpPr>
        <p:spPr>
          <a:xfrm>
            <a:off x="7875269" y="1408176"/>
            <a:ext cx="0" cy="164592"/>
          </a:xfrm>
          <a:prstGeom prst="line">
            <a:avLst/>
          </a:prstGeom>
          <a:ln w="12700">
            <a:solidFill>
              <a:srgbClr val="3F7A4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908810" y="1572768"/>
            <a:ext cx="5966459" cy="0"/>
          </a:xfrm>
          <a:prstGeom prst="line">
            <a:avLst/>
          </a:prstGeom>
          <a:ln w="12700">
            <a:solidFill>
              <a:srgbClr val="3F7A4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148840" y="1572768"/>
            <a:ext cx="0" cy="128016"/>
          </a:xfrm>
          <a:prstGeom prst="line">
            <a:avLst/>
          </a:prstGeom>
          <a:ln w="12700">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60120" y="1700784"/>
            <a:ext cx="2377440" cy="566928"/>
          </a:xfrm>
          <a:prstGeom prst="roundRect">
            <a:avLst>
              <a:gd name="adj" fmla="val 8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wrap="square"/>
          <a:lstStyle/>
          <a:p>
            <a:pPr algn="ctr">
              <a:spcAft>
                <a:spcPts val="0"/>
              </a:spcAft>
            </a:pPr>
            <a:r>
              <a:rPr sz="1050" b="1" i="0">
                <a:solidFill>
                  <a:srgbClr val="222222"/>
                </a:solidFill>
                <a:latin typeface="Times New Roman"/>
                <a:ea typeface="Times New Roman"/>
                <a:cs typeface="Times New Roman"/>
              </a:rPr>
              <a:t>Normalise</a:t>
            </a:r>
          </a:p>
          <a:p>
            <a:pPr algn="ctr">
              <a:spcAft>
                <a:spcPts val="0"/>
              </a:spcAft>
            </a:pPr>
            <a:r>
              <a:rPr sz="1050" b="0" i="0">
                <a:solidFill>
                  <a:srgbClr val="222222"/>
                </a:solidFill>
                <a:latin typeface="Times New Roman"/>
                <a:ea typeface="Times New Roman"/>
                <a:cs typeface="Times New Roman"/>
              </a:rPr>
              <a:t>title, text, source, provenance; language</a:t>
            </a:r>
          </a:p>
        </p:txBody>
      </p:sp>
      <p:cxnSp>
        <p:nvCxnSpPr>
          <p:cNvPr id="15" name="Connector 14"/>
          <p:cNvCxnSpPr/>
          <p:nvPr/>
        </p:nvCxnSpPr>
        <p:spPr>
          <a:xfrm>
            <a:off x="3337560" y="1984248"/>
            <a:ext cx="182879" cy="0"/>
          </a:xfrm>
          <a:prstGeom prst="line">
            <a:avLst/>
          </a:prstGeom>
          <a:ln w="12700">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520439" y="1700784"/>
            <a:ext cx="3063240" cy="566928"/>
          </a:xfrm>
          <a:prstGeom prst="roundRect">
            <a:avLst>
              <a:gd name="adj" fmla="val 8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wrap="square"/>
          <a:lstStyle/>
          <a:p>
            <a:pPr algn="ctr">
              <a:spcAft>
                <a:spcPts val="0"/>
              </a:spcAft>
            </a:pPr>
            <a:r>
              <a:rPr sz="1050" b="1" i="0">
                <a:solidFill>
                  <a:srgbClr val="222222"/>
                </a:solidFill>
                <a:latin typeface="Times New Roman"/>
                <a:ea typeface="Times New Roman"/>
                <a:cs typeface="Times New Roman"/>
              </a:rPr>
              <a:t>Admissibility gate</a:t>
            </a:r>
          </a:p>
          <a:p>
            <a:pPr algn="ctr">
              <a:spcAft>
                <a:spcPts val="0"/>
              </a:spcAft>
            </a:pPr>
            <a:r>
              <a:rPr sz="1050" b="0" i="0">
                <a:solidFill>
                  <a:srgbClr val="222222"/>
                </a:solidFill>
                <a:latin typeface="Times New Roman"/>
                <a:ea typeface="Times New Roman"/>
                <a:cs typeface="Times New Roman"/>
              </a:rPr>
              <a:t>needs an anchor (name, place, number, date), 40+ characters, 8+ words</a:t>
            </a:r>
          </a:p>
        </p:txBody>
      </p:sp>
      <p:cxnSp>
        <p:nvCxnSpPr>
          <p:cNvPr id="17" name="Connector 16"/>
          <p:cNvCxnSpPr/>
          <p:nvPr/>
        </p:nvCxnSpPr>
        <p:spPr>
          <a:xfrm>
            <a:off x="6583680" y="1984248"/>
            <a:ext cx="274320" cy="0"/>
          </a:xfrm>
          <a:prstGeom prst="line">
            <a:avLst/>
          </a:prstGeom>
          <a:ln w="12700">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583680" y="1737360"/>
            <a:ext cx="274320" cy="201168"/>
          </a:xfrm>
          <a:prstGeom prst="rect">
            <a:avLst/>
          </a:prstGeom>
          <a:noFill/>
        </p:spPr>
        <p:txBody>
          <a:bodyPr wrap="square" lIns="0" rIns="0" tIns="0" bIns="0" anchor="t">
            <a:spAutoFit/>
          </a:bodyPr>
          <a:lstStyle/>
          <a:p>
            <a:pPr algn="ctr">
              <a:spcAft>
                <a:spcPts val="0"/>
              </a:spcAft>
            </a:pPr>
            <a:r>
              <a:rPr sz="900" b="0" i="0">
                <a:solidFill>
                  <a:srgbClr val="3F7A46"/>
                </a:solidFill>
                <a:latin typeface="Times New Roman"/>
                <a:ea typeface="Times New Roman"/>
                <a:cs typeface="Times New Roman"/>
              </a:rPr>
              <a:t>no</a:t>
            </a:r>
          </a:p>
        </p:txBody>
      </p:sp>
      <p:sp>
        <p:nvSpPr>
          <p:cNvPr id="19" name="Rounded Rectangle 18"/>
          <p:cNvSpPr/>
          <p:nvPr/>
        </p:nvSpPr>
        <p:spPr>
          <a:xfrm>
            <a:off x="6858000" y="1700784"/>
            <a:ext cx="1965959" cy="566928"/>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wrap="square"/>
          <a:lstStyle/>
          <a:p>
            <a:pPr algn="ctr">
              <a:spcAft>
                <a:spcPts val="0"/>
              </a:spcAft>
            </a:pPr>
            <a:r>
              <a:rPr sz="1050" b="1" i="0">
                <a:solidFill>
                  <a:srgbClr val="222222"/>
                </a:solidFill>
                <a:latin typeface="Times New Roman"/>
                <a:ea typeface="Times New Roman"/>
                <a:cs typeface="Times New Roman"/>
              </a:rPr>
              <a:t>Refused</a:t>
            </a:r>
          </a:p>
          <a:p>
            <a:pPr algn="ctr">
              <a:spcAft>
                <a:spcPts val="0"/>
              </a:spcAft>
            </a:pPr>
            <a:r>
              <a:rPr sz="1050" b="0" i="0">
                <a:solidFill>
                  <a:srgbClr val="222222"/>
                </a:solidFill>
                <a:latin typeface="Times New Roman"/>
                <a:ea typeface="Times New Roman"/>
                <a:cs typeface="Times New Roman"/>
              </a:rPr>
              <a:t>reader told what is missing</a:t>
            </a:r>
          </a:p>
        </p:txBody>
      </p:sp>
      <p:cxnSp>
        <p:nvCxnSpPr>
          <p:cNvPr id="20" name="Connector 19"/>
          <p:cNvCxnSpPr/>
          <p:nvPr/>
        </p:nvCxnSpPr>
        <p:spPr>
          <a:xfrm>
            <a:off x="5047488" y="2267712"/>
            <a:ext cx="0" cy="146304"/>
          </a:xfrm>
          <a:prstGeom prst="line">
            <a:avLst/>
          </a:prstGeom>
          <a:ln w="12700">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240280" y="2414016"/>
            <a:ext cx="5303520" cy="457200"/>
          </a:xfrm>
          <a:prstGeom prst="roundRect">
            <a:avLst>
              <a:gd name="adj" fmla="val 10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wrap="square"/>
          <a:lstStyle/>
          <a:p>
            <a:pPr algn="ctr">
              <a:spcAft>
                <a:spcPts val="0"/>
              </a:spcAft>
            </a:pPr>
            <a:r>
              <a:rPr sz="1050" b="1" i="0">
                <a:solidFill>
                  <a:srgbClr val="222222"/>
                </a:solidFill>
                <a:latin typeface="Times New Roman"/>
                <a:ea typeface="Times New Roman"/>
                <a:cs typeface="Times New Roman"/>
              </a:rPr>
              <a:t>Claim extraction: </a:t>
            </a:r>
            <a:r>
              <a:rPr sz="1050" b="0" i="0">
                <a:solidFill>
                  <a:srgbClr val="222222"/>
                </a:solidFill>
                <a:latin typeface="Times New Roman"/>
                <a:ea typeface="Times New Roman"/>
                <a:cs typeface="Times New Roman"/>
              </a:rPr>
              <a:t>up to two claims, 3 to 4 search terms each; English terms added for other languages</a:t>
            </a:r>
          </a:p>
        </p:txBody>
      </p:sp>
      <p:cxnSp>
        <p:nvCxnSpPr>
          <p:cNvPr id="22" name="Connector 21"/>
          <p:cNvCxnSpPr/>
          <p:nvPr/>
        </p:nvCxnSpPr>
        <p:spPr>
          <a:xfrm>
            <a:off x="1908810" y="3017520"/>
            <a:ext cx="5966459" cy="0"/>
          </a:xfrm>
          <a:prstGeom prst="line">
            <a:avLst/>
          </a:prstGeom>
          <a:ln w="12700">
            <a:solidFill>
              <a:srgbClr val="3F7A4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5047488" y="2871216"/>
            <a:ext cx="0" cy="146304"/>
          </a:xfrm>
          <a:prstGeom prst="line">
            <a:avLst/>
          </a:prstGeom>
          <a:ln w="12700">
            <a:solidFill>
              <a:srgbClr val="3F7A4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908810" y="3017520"/>
            <a:ext cx="0" cy="109728"/>
          </a:xfrm>
          <a:prstGeom prst="line">
            <a:avLst/>
          </a:prstGeom>
          <a:ln w="12700">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60120" y="3127248"/>
            <a:ext cx="1897379" cy="1627632"/>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26" name="TextBox 25"/>
          <p:cNvSpPr txBox="1"/>
          <p:nvPr/>
        </p:nvSpPr>
        <p:spPr>
          <a:xfrm>
            <a:off x="1033272" y="3172968"/>
            <a:ext cx="1751075" cy="256032"/>
          </a:xfrm>
          <a:prstGeom prst="rect">
            <a:avLst/>
          </a:prstGeom>
          <a:noFill/>
        </p:spPr>
        <p:txBody>
          <a:bodyPr wrap="square" lIns="0" rIns="0" tIns="0" bIns="0" anchor="t">
            <a:spAutoFit/>
          </a:bodyPr>
          <a:lstStyle/>
          <a:p>
            <a:pPr algn="ctr">
              <a:spcAft>
                <a:spcPts val="0"/>
              </a:spcAft>
            </a:pPr>
            <a:r>
              <a:rPr sz="1150" b="1" i="0">
                <a:solidFill>
                  <a:srgbClr val="FF0000"/>
                </a:solidFill>
                <a:latin typeface="Times New Roman"/>
                <a:ea typeface="Times New Roman"/>
                <a:cs typeface="Times New Roman"/>
              </a:rPr>
              <a:t>Corroboration</a:t>
            </a:r>
          </a:p>
        </p:txBody>
      </p:sp>
      <p:sp>
        <p:nvSpPr>
          <p:cNvPr id="27" name="TextBox 26"/>
          <p:cNvSpPr txBox="1"/>
          <p:nvPr/>
        </p:nvSpPr>
        <p:spPr>
          <a:xfrm>
            <a:off x="1033272" y="3456432"/>
            <a:ext cx="1751075" cy="1261872"/>
          </a:xfrm>
          <a:prstGeom prst="rect">
            <a:avLst/>
          </a:prstGeom>
          <a:noFill/>
        </p:spPr>
        <p:txBody>
          <a:bodyPr wrap="square" lIns="0" rIns="0" tIns="0" bIns="0" anchor="t">
            <a:spAutoFit/>
          </a:bodyPr>
          <a:lstStyle/>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Search the news index, own outlet excluded</a:t>
            </a:r>
          </a:p>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Relevance gate: must share a name, place or figure</a:t>
            </a:r>
          </a:p>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Merge shared owners, wire copies, reprints</a:t>
            </a:r>
          </a:p>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Stance: supports or contradicts</a:t>
            </a:r>
          </a:p>
        </p:txBody>
      </p:sp>
      <p:cxnSp>
        <p:nvCxnSpPr>
          <p:cNvPr id="28" name="Connector 27"/>
          <p:cNvCxnSpPr/>
          <p:nvPr/>
        </p:nvCxnSpPr>
        <p:spPr>
          <a:xfrm>
            <a:off x="1908810" y="4754880"/>
            <a:ext cx="0" cy="109728"/>
          </a:xfrm>
          <a:prstGeom prst="line">
            <a:avLst/>
          </a:prstGeom>
          <a:ln w="12700">
            <a:solidFill>
              <a:srgbClr val="3F7A4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897629" y="3017520"/>
            <a:ext cx="0" cy="109728"/>
          </a:xfrm>
          <a:prstGeom prst="line">
            <a:avLst/>
          </a:prstGeom>
          <a:ln w="12700">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948939" y="3127248"/>
            <a:ext cx="1897379" cy="1627632"/>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31" name="TextBox 30"/>
          <p:cNvSpPr txBox="1"/>
          <p:nvPr/>
        </p:nvSpPr>
        <p:spPr>
          <a:xfrm>
            <a:off x="3022091" y="3172968"/>
            <a:ext cx="1751075" cy="256032"/>
          </a:xfrm>
          <a:prstGeom prst="rect">
            <a:avLst/>
          </a:prstGeom>
          <a:noFill/>
        </p:spPr>
        <p:txBody>
          <a:bodyPr wrap="square" lIns="0" rIns="0" tIns="0" bIns="0" anchor="t">
            <a:spAutoFit/>
          </a:bodyPr>
          <a:lstStyle/>
          <a:p>
            <a:pPr algn="ctr">
              <a:spcAft>
                <a:spcPts val="0"/>
              </a:spcAft>
            </a:pPr>
            <a:r>
              <a:rPr sz="1150" b="1" i="0">
                <a:solidFill>
                  <a:srgbClr val="FF0000"/>
                </a:solidFill>
                <a:latin typeface="Times New Roman"/>
                <a:ea typeface="Times New Roman"/>
                <a:cs typeface="Times New Roman"/>
              </a:rPr>
              <a:t>Premise check</a:t>
            </a:r>
          </a:p>
        </p:txBody>
      </p:sp>
      <p:sp>
        <p:nvSpPr>
          <p:cNvPr id="32" name="TextBox 31"/>
          <p:cNvSpPr txBox="1"/>
          <p:nvPr/>
        </p:nvSpPr>
        <p:spPr>
          <a:xfrm>
            <a:off x="3022091" y="3456432"/>
            <a:ext cx="1751075" cy="1261872"/>
          </a:xfrm>
          <a:prstGeom prst="rect">
            <a:avLst/>
          </a:prstGeom>
          <a:noFill/>
        </p:spPr>
        <p:txBody>
          <a:bodyPr wrap="square" lIns="0" rIns="0" tIns="0" bIns="0" anchor="t">
            <a:spAutoFit/>
          </a:bodyPr>
          <a:lstStyle/>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Resolve up to two named subjects</a:t>
            </a:r>
          </a:p>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Fetch the Wikipedia entry</a:t>
            </a:r>
          </a:p>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Admit a conflict only if: same subject, cannot both be true, story's own voice, quoted line</a:t>
            </a:r>
          </a:p>
        </p:txBody>
      </p:sp>
      <p:cxnSp>
        <p:nvCxnSpPr>
          <p:cNvPr id="33" name="Connector 32"/>
          <p:cNvCxnSpPr/>
          <p:nvPr/>
        </p:nvCxnSpPr>
        <p:spPr>
          <a:xfrm>
            <a:off x="3897629" y="4754880"/>
            <a:ext cx="0" cy="109728"/>
          </a:xfrm>
          <a:prstGeom prst="line">
            <a:avLst/>
          </a:prstGeom>
          <a:ln w="12700">
            <a:solidFill>
              <a:srgbClr val="3F7A4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886449" y="3017520"/>
            <a:ext cx="0" cy="109728"/>
          </a:xfrm>
          <a:prstGeom prst="line">
            <a:avLst/>
          </a:prstGeom>
          <a:ln w="12700">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937759" y="3127248"/>
            <a:ext cx="1897379" cy="1627632"/>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36" name="TextBox 35"/>
          <p:cNvSpPr txBox="1"/>
          <p:nvPr/>
        </p:nvSpPr>
        <p:spPr>
          <a:xfrm>
            <a:off x="5010912" y="3172968"/>
            <a:ext cx="1751075" cy="256032"/>
          </a:xfrm>
          <a:prstGeom prst="rect">
            <a:avLst/>
          </a:prstGeom>
          <a:noFill/>
        </p:spPr>
        <p:txBody>
          <a:bodyPr wrap="square" lIns="0" rIns="0" tIns="0" bIns="0" anchor="t">
            <a:spAutoFit/>
          </a:bodyPr>
          <a:lstStyle/>
          <a:p>
            <a:pPr algn="ctr">
              <a:spcAft>
                <a:spcPts val="0"/>
              </a:spcAft>
            </a:pPr>
            <a:r>
              <a:rPr sz="1150" b="1" i="0">
                <a:solidFill>
                  <a:srgbClr val="FF0000"/>
                </a:solidFill>
                <a:latin typeface="Times New Roman"/>
                <a:ea typeface="Times New Roman"/>
                <a:cs typeface="Times New Roman"/>
              </a:rPr>
              <a:t>Publisher identity</a:t>
            </a:r>
          </a:p>
        </p:txBody>
      </p:sp>
      <p:sp>
        <p:nvSpPr>
          <p:cNvPr id="37" name="TextBox 36"/>
          <p:cNvSpPr txBox="1"/>
          <p:nvPr/>
        </p:nvSpPr>
        <p:spPr>
          <a:xfrm>
            <a:off x="5010912" y="3456432"/>
            <a:ext cx="1751075" cy="1261872"/>
          </a:xfrm>
          <a:prstGeom prst="rect">
            <a:avLst/>
          </a:prstGeom>
          <a:noFill/>
        </p:spPr>
        <p:txBody>
          <a:bodyPr wrap="square" lIns="0" rIns="0" tIns="0" bIns="0" anchor="t">
            <a:spAutoFit/>
          </a:bodyPr>
          <a:lstStyle/>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Outlet from the web address, never the page name</a:t>
            </a:r>
          </a:p>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Rating: 90 curated, else 11,520 rated domains</a:t>
            </a:r>
          </a:p>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Impersonation flag; RDAP domain age under 90 days</a:t>
            </a:r>
          </a:p>
        </p:txBody>
      </p:sp>
      <p:cxnSp>
        <p:nvCxnSpPr>
          <p:cNvPr id="38" name="Connector 37"/>
          <p:cNvCxnSpPr/>
          <p:nvPr/>
        </p:nvCxnSpPr>
        <p:spPr>
          <a:xfrm>
            <a:off x="5886449" y="4754880"/>
            <a:ext cx="0" cy="109728"/>
          </a:xfrm>
          <a:prstGeom prst="line">
            <a:avLst/>
          </a:prstGeom>
          <a:ln w="12700">
            <a:solidFill>
              <a:srgbClr val="3F7A4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875269" y="3017520"/>
            <a:ext cx="0" cy="109728"/>
          </a:xfrm>
          <a:prstGeom prst="line">
            <a:avLst/>
          </a:prstGeom>
          <a:ln w="12700">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926579" y="3127248"/>
            <a:ext cx="1897379" cy="1627632"/>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41" name="TextBox 40"/>
          <p:cNvSpPr txBox="1"/>
          <p:nvPr/>
        </p:nvSpPr>
        <p:spPr>
          <a:xfrm>
            <a:off x="6999731" y="3172968"/>
            <a:ext cx="1751075" cy="256032"/>
          </a:xfrm>
          <a:prstGeom prst="rect">
            <a:avLst/>
          </a:prstGeom>
          <a:noFill/>
        </p:spPr>
        <p:txBody>
          <a:bodyPr wrap="square" lIns="0" rIns="0" tIns="0" bIns="0" anchor="t">
            <a:spAutoFit/>
          </a:bodyPr>
          <a:lstStyle/>
          <a:p>
            <a:pPr algn="ctr">
              <a:spcAft>
                <a:spcPts val="0"/>
              </a:spcAft>
            </a:pPr>
            <a:r>
              <a:rPr sz="1150" b="1" i="0">
                <a:solidFill>
                  <a:srgbClr val="FF0000"/>
                </a:solidFill>
                <a:latin typeface="Times New Roman"/>
                <a:ea typeface="Times New Roman"/>
                <a:cs typeface="Times New Roman"/>
              </a:rPr>
              <a:t>Writing checks</a:t>
            </a:r>
          </a:p>
        </p:txBody>
      </p:sp>
      <p:sp>
        <p:nvSpPr>
          <p:cNvPr id="42" name="TextBox 41"/>
          <p:cNvSpPr txBox="1"/>
          <p:nvPr/>
        </p:nvSpPr>
        <p:spPr>
          <a:xfrm>
            <a:off x="6999731" y="3456432"/>
            <a:ext cx="1751075" cy="1261872"/>
          </a:xfrm>
          <a:prstGeom prst="rect">
            <a:avLst/>
          </a:prstGeom>
          <a:noFill/>
        </p:spPr>
        <p:txBody>
          <a:bodyPr wrap="square" lIns="0" rIns="0" tIns="0" bIns="0" anchor="t">
            <a:spAutoFit/>
          </a:bodyPr>
          <a:lstStyle/>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Clickbait in the headline</a:t>
            </a:r>
          </a:p>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Slanted or one-sided language</a:t>
            </a:r>
          </a:p>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Persuasion techniques (SemEval)</a:t>
            </a:r>
          </a:p>
          <a:p>
            <a:pPr algn="l" marL="182880" indent="-182880">
              <a:lnSpc>
                <a:spcPct val="95000"/>
              </a:lnSpc>
              <a:spcAft>
                <a:spcPts val="200"/>
              </a:spcAft>
              <a:buFont typeface="Arial"/>
              <a:buChar char="•"/>
            </a:pPr>
            <a:r>
              <a:rPr sz="1000" b="0" i="0">
                <a:solidFill>
                  <a:srgbClr val="222222"/>
                </a:solidFill>
                <a:latin typeface="Times New Roman"/>
                <a:ea typeface="Times New Roman"/>
                <a:cs typeface="Times New Roman"/>
              </a:rPr>
              <a:t>Transparency checklist; each quotes its span</a:t>
            </a:r>
          </a:p>
        </p:txBody>
      </p:sp>
      <p:cxnSp>
        <p:nvCxnSpPr>
          <p:cNvPr id="43" name="Connector 42"/>
          <p:cNvCxnSpPr/>
          <p:nvPr/>
        </p:nvCxnSpPr>
        <p:spPr>
          <a:xfrm>
            <a:off x="7875269" y="4754880"/>
            <a:ext cx="0" cy="109728"/>
          </a:xfrm>
          <a:prstGeom prst="line">
            <a:avLst/>
          </a:prstGeom>
          <a:ln w="12700">
            <a:solidFill>
              <a:srgbClr val="3F7A4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908810" y="4864608"/>
            <a:ext cx="5966459" cy="0"/>
          </a:xfrm>
          <a:prstGeom prst="line">
            <a:avLst/>
          </a:prstGeom>
          <a:ln w="12700">
            <a:solidFill>
              <a:srgbClr val="3F7A4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5047488" y="4864608"/>
            <a:ext cx="0" cy="109728"/>
          </a:xfrm>
          <a:prstGeom prst="line">
            <a:avLst/>
          </a:prstGeom>
          <a:ln w="12700">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960120" y="4974336"/>
            <a:ext cx="7863840" cy="621792"/>
          </a:xfrm>
          <a:prstGeom prst="roundRect">
            <a:avLst>
              <a:gd name="adj" fmla="val 8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spcAft>
                <a:spcPts val="0"/>
              </a:spcAft>
            </a:pPr>
            <a:r>
              <a:rPr sz="1050" b="1" i="0">
                <a:solidFill>
                  <a:srgbClr val="222222"/>
                </a:solidFill>
                <a:latin typeface="Times New Roman"/>
                <a:ea typeface="Times New Roman"/>
                <a:cs typeface="Times New Roman"/>
              </a:rPr>
              <a:t>Weight of evidence: </a:t>
            </a:r>
            <a:r>
              <a:rPr sz="1050" b="0" i="0">
                <a:solidFill>
                  <a:srgbClr val="222222"/>
                </a:solidFill>
                <a:latin typeface="Times New Roman"/>
                <a:ea typeface="Times New Roman"/>
                <a:cs typeface="Times New Roman"/>
              </a:rPr>
              <a:t>prior from the publisher band  →  each observation as a likelihood ratio in decibans  →  writing checks clamped at max(0, W)  →  correlated checks damped × 0.379, capped at 8 dB  →  isotonic calibration  →  clamp applied again</a:t>
            </a:r>
          </a:p>
        </p:txBody>
      </p:sp>
      <p:cxnSp>
        <p:nvCxnSpPr>
          <p:cNvPr id="47" name="Connector 46"/>
          <p:cNvCxnSpPr/>
          <p:nvPr/>
        </p:nvCxnSpPr>
        <p:spPr>
          <a:xfrm>
            <a:off x="2788920" y="5596128"/>
            <a:ext cx="0" cy="146304"/>
          </a:xfrm>
          <a:prstGeom prst="line">
            <a:avLst/>
          </a:prstGeom>
          <a:ln w="12700">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960120" y="5742432"/>
            <a:ext cx="3657600" cy="658368"/>
          </a:xfrm>
          <a:prstGeom prst="roundRect">
            <a:avLst>
              <a:gd name="adj" fmla="val 8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wrap="square"/>
          <a:lstStyle/>
          <a:p>
            <a:pPr algn="ctr">
              <a:spcAft>
                <a:spcPts val="0"/>
              </a:spcAft>
            </a:pPr>
            <a:r>
              <a:rPr sz="1050" b="1" i="0">
                <a:solidFill>
                  <a:srgbClr val="222222"/>
                </a:solidFill>
                <a:latin typeface="Times New Roman"/>
                <a:ea typeface="Times New Roman"/>
                <a:cs typeface="Times New Roman"/>
              </a:rPr>
              <a:t>Verdict rules R0 to R9</a:t>
            </a:r>
          </a:p>
          <a:p>
            <a:pPr algn="ctr">
              <a:spcAft>
                <a:spcPts val="0"/>
              </a:spcAft>
            </a:pPr>
            <a:r>
              <a:rPr sz="1050" b="0" i="0">
                <a:solidFill>
                  <a:srgbClr val="222222"/>
                </a:solidFill>
                <a:latin typeface="Times New Roman"/>
                <a:ea typeface="Times New Roman"/>
                <a:cs typeface="Times New Roman"/>
              </a:rPr>
              <a:t>ordered; the first match decides and is named</a:t>
            </a:r>
          </a:p>
        </p:txBody>
      </p:sp>
      <p:cxnSp>
        <p:nvCxnSpPr>
          <p:cNvPr id="49" name="Connector 48"/>
          <p:cNvCxnSpPr/>
          <p:nvPr/>
        </p:nvCxnSpPr>
        <p:spPr>
          <a:xfrm>
            <a:off x="4617720" y="6071616"/>
            <a:ext cx="274320" cy="0"/>
          </a:xfrm>
          <a:prstGeom prst="line">
            <a:avLst/>
          </a:prstGeom>
          <a:ln w="12700">
            <a:solidFill>
              <a:srgbClr val="3F7A4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4892040" y="5742432"/>
            <a:ext cx="3931920" cy="658368"/>
          </a:xfrm>
          <a:prstGeom prst="roundRect">
            <a:avLst>
              <a:gd name="adj" fmla="val 8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tIns="91440" bIns="91440" wrap="square"/>
          <a:lstStyle/>
          <a:p>
            <a:pPr algn="ctr">
              <a:spcAft>
                <a:spcPts val="0"/>
              </a:spcAft>
            </a:pPr>
            <a:r>
              <a:rPr sz="1050" b="1" i="0">
                <a:solidFill>
                  <a:srgbClr val="222222"/>
                </a:solidFill>
                <a:latin typeface="Times New Roman"/>
                <a:ea typeface="Times New Roman"/>
                <a:cs typeface="Times New Roman"/>
              </a:rPr>
              <a:t>Report: </a:t>
            </a:r>
            <a:r>
              <a:rPr sz="1050" b="0" i="0">
                <a:solidFill>
                  <a:srgbClr val="222222"/>
                </a:solidFill>
                <a:latin typeface="Times New Roman"/>
                <a:ea typeface="Times New Roman"/>
                <a:cs typeface="Times New Roman"/>
              </a:rPr>
              <a:t>verdict, probability of fabrication, grounds and quoted text; streamed as each check ends; cached only when every check ran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WEIGHT-OF-EVIDENCE SCORING</a:t>
            </a:r>
          </a:p>
        </p:txBody>
      </p:sp>
      <p:sp>
        <p:nvSpPr>
          <p:cNvPr id="4" name="Rounded Rectangle 3"/>
          <p:cNvSpPr/>
          <p:nvPr/>
        </p:nvSpPr>
        <p:spPr>
          <a:xfrm>
            <a:off x="960120" y="1143000"/>
            <a:ext cx="4434840" cy="1133856"/>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5" name="TextBox 4"/>
          <p:cNvSpPr txBox="1"/>
          <p:nvPr/>
        </p:nvSpPr>
        <p:spPr>
          <a:xfrm>
            <a:off x="1115568" y="1252728"/>
            <a:ext cx="4114800" cy="292608"/>
          </a:xfrm>
          <a:prstGeom prst="rect">
            <a:avLst/>
          </a:prstGeom>
          <a:noFill/>
        </p:spPr>
        <p:txBody>
          <a:bodyPr wrap="square" lIns="0" rIns="0" tIns="0" bIns="0" anchor="t">
            <a:spAutoFit/>
          </a:bodyPr>
          <a:lstStyle/>
          <a:p>
            <a:pPr algn="l">
              <a:spcAft>
                <a:spcPts val="0"/>
              </a:spcAft>
            </a:pPr>
            <a:r>
              <a:rPr sz="1300" b="1" i="0">
                <a:solidFill>
                  <a:srgbClr val="FF0000"/>
                </a:solidFill>
                <a:latin typeface="Times New Roman"/>
                <a:ea typeface="Times New Roman"/>
                <a:cs typeface="Times New Roman"/>
              </a:rPr>
              <a:t>Each observation becomes a likelihood ratio, in decibans</a:t>
            </a:r>
          </a:p>
        </p:txBody>
      </p:sp>
      <p:sp>
        <p:nvSpPr>
          <p:cNvPr id="6" name="TextBox 5"/>
          <p:cNvSpPr txBox="1"/>
          <p:nvPr/>
        </p:nvSpPr>
        <p:spPr>
          <a:xfrm>
            <a:off x="1115568" y="1563624"/>
            <a:ext cx="4114800" cy="621792"/>
          </a:xfrm>
          <a:prstGeom prst="rect">
            <a:avLst/>
          </a:prstGeom>
          <a:noFill/>
        </p:spPr>
        <p:txBody>
          <a:bodyPr wrap="square" lIns="0" rIns="0" tIns="0" bIns="0" anchor="ctr">
            <a:spAutoFit/>
          </a:bodyPr>
          <a:lstStyle/>
          <a:p>
            <a:pPr algn="l">
              <a:spcAft>
                <a:spcPts val="0"/>
              </a:spcAft>
            </a:pPr>
            <a:r>
              <a:rPr sz="1400" b="0" i="0">
                <a:solidFill>
                  <a:srgbClr val="222222"/>
                </a:solidFill>
                <a:latin typeface="Cambria Math"/>
                <a:ea typeface="Cambria Math"/>
                <a:cs typeface="Cambria Math"/>
              </a:rPr>
              <a:t>Λ(o) = P(o | fabricated) / P(o | genuine)</a:t>
            </a:r>
          </a:p>
          <a:p>
            <a:pPr algn="l">
              <a:spcAft>
                <a:spcPts val="0"/>
              </a:spcAft>
            </a:pPr>
            <a:r>
              <a:rPr sz="1400" b="0" i="0">
                <a:solidFill>
                  <a:srgbClr val="222222"/>
                </a:solidFill>
                <a:latin typeface="Cambria Math"/>
                <a:ea typeface="Cambria Math"/>
                <a:cs typeface="Cambria Math"/>
              </a:rPr>
              <a:t>W(o) = 10 log₁₀ Λ(o)</a:t>
            </a:r>
          </a:p>
        </p:txBody>
      </p:sp>
      <p:sp>
        <p:nvSpPr>
          <p:cNvPr id="7" name="Rounded Rectangle 6"/>
          <p:cNvSpPr/>
          <p:nvPr/>
        </p:nvSpPr>
        <p:spPr>
          <a:xfrm>
            <a:off x="960120" y="2441448"/>
            <a:ext cx="4434840" cy="1133856"/>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8" name="TextBox 7"/>
          <p:cNvSpPr txBox="1"/>
          <p:nvPr/>
        </p:nvSpPr>
        <p:spPr>
          <a:xfrm>
            <a:off x="1115568" y="2551176"/>
            <a:ext cx="4114800" cy="292608"/>
          </a:xfrm>
          <a:prstGeom prst="rect">
            <a:avLst/>
          </a:prstGeom>
          <a:noFill/>
        </p:spPr>
        <p:txBody>
          <a:bodyPr wrap="square" lIns="0" rIns="0" tIns="0" bIns="0" anchor="t">
            <a:spAutoFit/>
          </a:bodyPr>
          <a:lstStyle/>
          <a:p>
            <a:pPr algn="l">
              <a:spcAft>
                <a:spcPts val="0"/>
              </a:spcAft>
            </a:pPr>
            <a:r>
              <a:rPr sz="1300" b="1" i="0">
                <a:solidFill>
                  <a:srgbClr val="FF0000"/>
                </a:solidFill>
                <a:latin typeface="Times New Roman"/>
                <a:ea typeface="Times New Roman"/>
                <a:cs typeface="Times New Roman"/>
              </a:rPr>
              <a:t>Evidence adds up in log-odds</a:t>
            </a:r>
          </a:p>
        </p:txBody>
      </p:sp>
      <p:sp>
        <p:nvSpPr>
          <p:cNvPr id="9" name="TextBox 8"/>
          <p:cNvSpPr txBox="1"/>
          <p:nvPr/>
        </p:nvSpPr>
        <p:spPr>
          <a:xfrm>
            <a:off x="1115568" y="2862072"/>
            <a:ext cx="4114800" cy="621792"/>
          </a:xfrm>
          <a:prstGeom prst="rect">
            <a:avLst/>
          </a:prstGeom>
          <a:noFill/>
        </p:spPr>
        <p:txBody>
          <a:bodyPr wrap="square" lIns="0" rIns="0" tIns="0" bIns="0" anchor="ctr">
            <a:spAutoFit/>
          </a:bodyPr>
          <a:lstStyle/>
          <a:p>
            <a:pPr algn="l">
              <a:spcAft>
                <a:spcPts val="0"/>
              </a:spcAft>
            </a:pPr>
            <a:r>
              <a:rPr sz="1400" b="0" i="0">
                <a:solidFill>
                  <a:srgbClr val="222222"/>
                </a:solidFill>
                <a:latin typeface="Cambria Math"/>
                <a:ea typeface="Cambria Math"/>
                <a:cs typeface="Cambria Math"/>
              </a:rPr>
              <a:t>logit P(fabricated | O) = logit π + Σ W(o)</a:t>
            </a:r>
          </a:p>
        </p:txBody>
      </p:sp>
      <p:sp>
        <p:nvSpPr>
          <p:cNvPr id="10" name="Rounded Rectangle 9"/>
          <p:cNvSpPr/>
          <p:nvPr/>
        </p:nvSpPr>
        <p:spPr>
          <a:xfrm>
            <a:off x="960120" y="3739896"/>
            <a:ext cx="4434840" cy="1133856"/>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1" name="TextBox 10"/>
          <p:cNvSpPr txBox="1"/>
          <p:nvPr/>
        </p:nvSpPr>
        <p:spPr>
          <a:xfrm>
            <a:off x="1115568" y="3849624"/>
            <a:ext cx="4114800" cy="292608"/>
          </a:xfrm>
          <a:prstGeom prst="rect">
            <a:avLst/>
          </a:prstGeom>
          <a:noFill/>
        </p:spPr>
        <p:txBody>
          <a:bodyPr wrap="square" lIns="0" rIns="0" tIns="0" bIns="0" anchor="t">
            <a:spAutoFit/>
          </a:bodyPr>
          <a:lstStyle/>
          <a:p>
            <a:pPr algn="l">
              <a:spcAft>
                <a:spcPts val="0"/>
              </a:spcAft>
            </a:pPr>
            <a:r>
              <a:rPr sz="1300" b="1" i="0">
                <a:solidFill>
                  <a:srgbClr val="FF0000"/>
                </a:solidFill>
                <a:latin typeface="Times New Roman"/>
                <a:ea typeface="Times New Roman"/>
                <a:cs typeface="Times New Roman"/>
              </a:rPr>
              <a:t>One-sided rule for what the author controls</a:t>
            </a:r>
          </a:p>
        </p:txBody>
      </p:sp>
      <p:sp>
        <p:nvSpPr>
          <p:cNvPr id="12" name="TextBox 11"/>
          <p:cNvSpPr txBox="1"/>
          <p:nvPr/>
        </p:nvSpPr>
        <p:spPr>
          <a:xfrm>
            <a:off x="1115568" y="4160520"/>
            <a:ext cx="4114800" cy="621792"/>
          </a:xfrm>
          <a:prstGeom prst="rect">
            <a:avLst/>
          </a:prstGeom>
          <a:noFill/>
        </p:spPr>
        <p:txBody>
          <a:bodyPr wrap="square" lIns="0" rIns="0" tIns="0" bIns="0" anchor="ctr">
            <a:spAutoFit/>
          </a:bodyPr>
          <a:lstStyle/>
          <a:p>
            <a:pPr algn="l">
              <a:spcAft>
                <a:spcPts val="0"/>
              </a:spcAft>
            </a:pPr>
            <a:r>
              <a:rPr sz="1400" b="0" i="0">
                <a:solidFill>
                  <a:srgbClr val="222222"/>
                </a:solidFill>
                <a:latin typeface="Cambria Math"/>
                <a:ea typeface="Cambria Math"/>
                <a:cs typeface="Cambria Math"/>
              </a:rPr>
              <a:t>W†(o) = max(0, W(o))</a:t>
            </a:r>
          </a:p>
        </p:txBody>
      </p:sp>
      <p:sp>
        <p:nvSpPr>
          <p:cNvPr id="13" name="Rounded Rectangle 12"/>
          <p:cNvSpPr/>
          <p:nvPr/>
        </p:nvSpPr>
        <p:spPr>
          <a:xfrm>
            <a:off x="960120" y="5038344"/>
            <a:ext cx="4434840" cy="1133856"/>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4" name="TextBox 13"/>
          <p:cNvSpPr txBox="1"/>
          <p:nvPr/>
        </p:nvSpPr>
        <p:spPr>
          <a:xfrm>
            <a:off x="1115568" y="5148072"/>
            <a:ext cx="4114800" cy="292608"/>
          </a:xfrm>
          <a:prstGeom prst="rect">
            <a:avLst/>
          </a:prstGeom>
          <a:noFill/>
        </p:spPr>
        <p:txBody>
          <a:bodyPr wrap="square" lIns="0" rIns="0" tIns="0" bIns="0" anchor="t">
            <a:spAutoFit/>
          </a:bodyPr>
          <a:lstStyle/>
          <a:p>
            <a:pPr algn="l">
              <a:spcAft>
                <a:spcPts val="0"/>
              </a:spcAft>
            </a:pPr>
            <a:r>
              <a:rPr sz="1300" b="1" i="0">
                <a:solidFill>
                  <a:srgbClr val="FF0000"/>
                </a:solidFill>
                <a:latin typeface="Times New Roman"/>
                <a:ea typeface="Times New Roman"/>
                <a:cs typeface="Times New Roman"/>
              </a:rPr>
              <a:t>Correlated writing checks are damped</a:t>
            </a:r>
          </a:p>
        </p:txBody>
      </p:sp>
      <p:sp>
        <p:nvSpPr>
          <p:cNvPr id="15" name="TextBox 14"/>
          <p:cNvSpPr txBox="1"/>
          <p:nvPr/>
        </p:nvSpPr>
        <p:spPr>
          <a:xfrm>
            <a:off x="1115568" y="5458968"/>
            <a:ext cx="4114800" cy="621792"/>
          </a:xfrm>
          <a:prstGeom prst="rect">
            <a:avLst/>
          </a:prstGeom>
          <a:noFill/>
        </p:spPr>
        <p:txBody>
          <a:bodyPr wrap="square" lIns="0" rIns="0" tIns="0" bIns="0" anchor="ctr">
            <a:spAutoFit/>
          </a:bodyPr>
          <a:lstStyle/>
          <a:p>
            <a:pPr algn="l">
              <a:spcAft>
                <a:spcPts val="0"/>
              </a:spcAft>
            </a:pPr>
            <a:r>
              <a:rPr sz="1400" b="0" i="0">
                <a:solidFill>
                  <a:srgbClr val="222222"/>
                </a:solidFill>
                <a:latin typeface="Cambria Math"/>
                <a:ea typeface="Cambria Math"/>
                <a:cs typeface="Cambria Math"/>
              </a:rPr>
              <a:t>mean r = 0.55 over 4 checks → 1.52 effective checks</a:t>
            </a:r>
          </a:p>
          <a:p>
            <a:pPr algn="l">
              <a:spcAft>
                <a:spcPts val="0"/>
              </a:spcAft>
            </a:pPr>
            <a:r>
              <a:rPr sz="1400" b="0" i="0">
                <a:solidFill>
                  <a:srgbClr val="222222"/>
                </a:solidFill>
                <a:latin typeface="Cambria Math"/>
                <a:ea typeface="Cambria Math"/>
                <a:cs typeface="Cambria Math"/>
              </a:rPr>
              <a:t>summed weight × 0.379, capped at 8 dB</a:t>
            </a:r>
          </a:p>
        </p:txBody>
      </p:sp>
      <p:sp>
        <p:nvSpPr>
          <p:cNvPr id="16" name="TextBox 15"/>
          <p:cNvSpPr txBox="1"/>
          <p:nvPr/>
        </p:nvSpPr>
        <p:spPr>
          <a:xfrm>
            <a:off x="5623560" y="1143000"/>
            <a:ext cx="3154680" cy="320040"/>
          </a:xfrm>
          <a:prstGeom prst="rect">
            <a:avLst/>
          </a:prstGeom>
          <a:noFill/>
        </p:spPr>
        <p:txBody>
          <a:bodyPr wrap="square" lIns="0" rIns="0" tIns="0" bIns="0" anchor="t">
            <a:spAutoFit/>
          </a:bodyPr>
          <a:lstStyle/>
          <a:p>
            <a:pPr algn="ctr">
              <a:spcAft>
                <a:spcPts val="0"/>
              </a:spcAft>
            </a:pPr>
            <a:r>
              <a:rPr sz="1500" b="1" i="0">
                <a:solidFill>
                  <a:srgbClr val="3F7A46"/>
                </a:solidFill>
                <a:latin typeface="Times New Roman"/>
                <a:ea typeface="Times New Roman"/>
                <a:cs typeface="Times New Roman"/>
              </a:rPr>
              <a:t>Prior by publisher band</a:t>
            </a:r>
          </a:p>
        </p:txBody>
      </p:sp>
      <p:graphicFrame>
        <p:nvGraphicFramePr>
          <p:cNvPr id="17" name="Table 16"/>
          <p:cNvGraphicFramePr>
            <a:graphicFrameLocks noGrp="1"/>
          </p:cNvGraphicFramePr>
          <p:nvPr/>
        </p:nvGraphicFramePr>
        <p:xfrm>
          <a:off x="5623560" y="1536192"/>
          <a:ext cx="3154680" cy="2414016"/>
        </p:xfrm>
        <a:graphic>
          <a:graphicData uri="http://schemas.openxmlformats.org/drawingml/2006/table">
            <a:tbl>
              <a:tblPr firstRow="0" bandRow="0">
                <a:tableStyleId>{5C22544A-7EE6-4342-B048-85BDC9FD1C3A}</a:tableStyleId>
              </a:tblPr>
              <a:tblGrid>
                <a:gridCol w="2331720"/>
                <a:gridCol w="822960"/>
              </a:tblGrid>
              <a:tr h="402336">
                <a:tc>
                  <a:txBody>
                    <a:bodyPr wrap="square"/>
                    <a:lstStyle/>
                    <a:p>
                      <a:pPr algn="ctr">
                        <a:spcAft>
                          <a:spcPts val="0"/>
                        </a:spcAft>
                      </a:pPr>
                      <a:r>
                        <a:rPr sz="1400" b="1" i="0">
                          <a:solidFill>
                            <a:srgbClr val="FFFFFF"/>
                          </a:solidFill>
                          <a:latin typeface="Times New Roman"/>
                          <a:ea typeface="Times New Roman"/>
                          <a:cs typeface="Times New Roman"/>
                        </a:rPr>
                        <a:t>Publisher band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400" b="1" i="0">
                          <a:solidFill>
                            <a:srgbClr val="FFFFFF"/>
                          </a:solidFill>
                          <a:latin typeface="Times New Roman"/>
                          <a:ea typeface="Times New Roman"/>
                          <a:cs typeface="Times New Roman"/>
                        </a:rPr>
                        <a:t>Prior</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r>
              <a:tr h="402336">
                <a:tc>
                  <a:txBody>
                    <a:bodyPr wrap="square"/>
                    <a:lstStyle/>
                    <a:p>
                      <a:pPr algn="l">
                        <a:spcAft>
                          <a:spcPts val="0"/>
                        </a:spcAft>
                      </a:pPr>
                      <a:r>
                        <a:rPr sz="1300" b="0" i="0">
                          <a:solidFill>
                            <a:srgbClr val="222222"/>
                          </a:solidFill>
                          <a:latin typeface="Times New Roman"/>
                          <a:ea typeface="Times New Roman"/>
                          <a:cs typeface="Times New Roman"/>
                        </a:rPr>
                        <a:t>Strong factual record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300" b="0" i="0">
                          <a:solidFill>
                            <a:srgbClr val="222222"/>
                          </a:solidFill>
                          <a:latin typeface="Times New Roman"/>
                          <a:ea typeface="Times New Roman"/>
                          <a:cs typeface="Times New Roman"/>
                        </a:rPr>
                        <a:t>0.02</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02336">
                <a:tc>
                  <a:txBody>
                    <a:bodyPr wrap="square"/>
                    <a:lstStyle/>
                    <a:p>
                      <a:pPr algn="l">
                        <a:spcAft>
                          <a:spcPts val="0"/>
                        </a:spcAft>
                      </a:pPr>
                      <a:r>
                        <a:rPr sz="1300" b="0" i="0">
                          <a:solidFill>
                            <a:srgbClr val="222222"/>
                          </a:solidFill>
                          <a:latin typeface="Times New Roman"/>
                          <a:ea typeface="Times New Roman"/>
                          <a:cs typeface="Times New Roman"/>
                        </a:rPr>
                        <a:t>Ordinary record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300" b="0" i="0">
                          <a:solidFill>
                            <a:srgbClr val="222222"/>
                          </a:solidFill>
                          <a:latin typeface="Times New Roman"/>
                          <a:ea typeface="Times New Roman"/>
                          <a:cs typeface="Times New Roman"/>
                        </a:rPr>
                        <a:t>0.06</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02336">
                <a:tc>
                  <a:txBody>
                    <a:bodyPr wrap="square"/>
                    <a:lstStyle/>
                    <a:p>
                      <a:pPr algn="l">
                        <a:spcAft>
                          <a:spcPts val="0"/>
                        </a:spcAft>
                      </a:pPr>
                      <a:r>
                        <a:rPr sz="1300" b="0" i="0">
                          <a:solidFill>
                            <a:srgbClr val="222222"/>
                          </a:solidFill>
                          <a:latin typeface="Times New Roman"/>
                          <a:ea typeface="Times New Roman"/>
                          <a:cs typeface="Times New Roman"/>
                        </a:rPr>
                        <a:t>Unrated outlet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300" b="0" i="0">
                          <a:solidFill>
                            <a:srgbClr val="222222"/>
                          </a:solidFill>
                          <a:latin typeface="Times New Roman"/>
                          <a:ea typeface="Times New Roman"/>
                          <a:cs typeface="Times New Roman"/>
                        </a:rPr>
                        <a:t>0.15</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02336">
                <a:tc>
                  <a:txBody>
                    <a:bodyPr wrap="square"/>
                    <a:lstStyle/>
                    <a:p>
                      <a:pPr algn="l">
                        <a:spcAft>
                          <a:spcPts val="0"/>
                        </a:spcAft>
                      </a:pPr>
                      <a:r>
                        <a:rPr sz="1300" b="0" i="0">
                          <a:solidFill>
                            <a:srgbClr val="222222"/>
                          </a:solidFill>
                          <a:latin typeface="Times New Roman"/>
                          <a:ea typeface="Times New Roman"/>
                          <a:cs typeface="Times New Roman"/>
                        </a:rPr>
                        <a:t>Poor record or impersonating</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300" b="0" i="0">
                          <a:solidFill>
                            <a:srgbClr val="222222"/>
                          </a:solidFill>
                          <a:latin typeface="Times New Roman"/>
                          <a:ea typeface="Times New Roman"/>
                          <a:cs typeface="Times New Roman"/>
                        </a:rPr>
                        <a:t>0.25</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02336">
                <a:tc>
                  <a:txBody>
                    <a:bodyPr wrap="square"/>
                    <a:lstStyle/>
                    <a:p>
                      <a:pPr algn="l">
                        <a:spcAft>
                          <a:spcPts val="0"/>
                        </a:spcAft>
                      </a:pPr>
                      <a:r>
                        <a:rPr sz="1300" b="0" i="0">
                          <a:solidFill>
                            <a:srgbClr val="222222"/>
                          </a:solidFill>
                          <a:latin typeface="Times New Roman"/>
                          <a:ea typeface="Times New Roman"/>
                          <a:cs typeface="Times New Roman"/>
                        </a:rPr>
                        <a:t>Social media post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300" b="0" i="0">
                          <a:solidFill>
                            <a:srgbClr val="222222"/>
                          </a:solidFill>
                          <a:latin typeface="Times New Roman"/>
                          <a:ea typeface="Times New Roman"/>
                          <a:cs typeface="Times New Roman"/>
                        </a:rPr>
                        <a:t>0.35</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bl>
          </a:graphicData>
        </a:graphic>
      </p:graphicFrame>
      <p:sp>
        <p:nvSpPr>
          <p:cNvPr id="18" name="Rounded Rectangle 17"/>
          <p:cNvSpPr/>
          <p:nvPr/>
        </p:nvSpPr>
        <p:spPr>
          <a:xfrm>
            <a:off x="5623560" y="4206240"/>
            <a:ext cx="3154680" cy="2130552"/>
          </a:xfrm>
          <a:prstGeom prst="roundRect">
            <a:avLst>
              <a:gd name="adj" fmla="val 5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0"/>
              </a:spcAft>
            </a:pPr>
            <a:r>
              <a:rPr sz="1300" b="0" i="0">
                <a:solidFill>
                  <a:srgbClr val="222222"/>
                </a:solidFill>
                <a:latin typeface="Times New Roman"/>
                <a:ea typeface="Times New Roman"/>
                <a:cs typeface="Times New Roman"/>
              </a:rPr>
              <a:t>Ratios estimated on 119 labelled ISOT articles with a Jeffreys prior and shrunk to the cautious end of a 95% interval. Isotonic calibration fitted on held-out data, then the one-sided rule is applied again. Priors are declared, not measured.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VERDICT ENGINE</a:t>
            </a:r>
          </a:p>
        </p:txBody>
      </p:sp>
      <p:graphicFrame>
        <p:nvGraphicFramePr>
          <p:cNvPr id="4" name="Table 3"/>
          <p:cNvGraphicFramePr>
            <a:graphicFrameLocks noGrp="1"/>
          </p:cNvGraphicFramePr>
          <p:nvPr/>
        </p:nvGraphicFramePr>
        <p:xfrm>
          <a:off x="960120" y="1115568"/>
          <a:ext cx="7863840" cy="4535424"/>
        </p:xfrm>
        <a:graphic>
          <a:graphicData uri="http://schemas.openxmlformats.org/drawingml/2006/table">
            <a:tbl>
              <a:tblPr firstRow="0" bandRow="0">
                <a:tableStyleId>{5C22544A-7EE6-4342-B048-85BDC9FD1C3A}</a:tableStyleId>
              </a:tblPr>
              <a:tblGrid>
                <a:gridCol w="685800"/>
                <a:gridCol w="4983480"/>
                <a:gridCol w="2194560"/>
              </a:tblGrid>
              <a:tr h="420624">
                <a:tc>
                  <a:txBody>
                    <a:bodyPr wrap="square"/>
                    <a:lstStyle/>
                    <a:p>
                      <a:pPr algn="ctr">
                        <a:spcAft>
                          <a:spcPts val="0"/>
                        </a:spcAft>
                      </a:pPr>
                      <a:r>
                        <a:rPr sz="1500" b="1" i="0">
                          <a:solidFill>
                            <a:srgbClr val="FFFFFF"/>
                          </a:solidFill>
                          <a:latin typeface="Times New Roman"/>
                          <a:ea typeface="Times New Roman"/>
                          <a:cs typeface="Times New Roman"/>
                        </a:rPr>
                        <a:t>Rule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500" b="1" i="0">
                          <a:solidFill>
                            <a:srgbClr val="FFFFFF"/>
                          </a:solidFill>
                          <a:latin typeface="Times New Roman"/>
                          <a:ea typeface="Times New Roman"/>
                          <a:cs typeface="Times New Roman"/>
                        </a:rPr>
                        <a:t>Condition (first match decides)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500" b="1" i="0">
                          <a:solidFill>
                            <a:srgbClr val="FFFFFF"/>
                          </a:solidFill>
                          <a:latin typeface="Times New Roman"/>
                          <a:ea typeface="Times New Roman"/>
                          <a:cs typeface="Times New Roman"/>
                        </a:rPr>
                        <a:t>Verdict shown</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r>
              <a:tr h="411480">
                <a:tc>
                  <a:txBody>
                    <a:bodyPr wrap="square"/>
                    <a:lstStyle/>
                    <a:p>
                      <a:pPr algn="ctr">
                        <a:spcAft>
                          <a:spcPts val="0"/>
                        </a:spcAft>
                      </a:pPr>
                      <a:r>
                        <a:rPr sz="1300" b="0" i="0">
                          <a:solidFill>
                            <a:srgbClr val="222222"/>
                          </a:solidFill>
                          <a:latin typeface="Times New Roman"/>
                          <a:ea typeface="Times New Roman"/>
                          <a:cs typeface="Times New Roman"/>
                        </a:rPr>
                        <a:t>R0</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The publisher is a known satirical outlet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SATIRE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11480">
                <a:tc>
                  <a:txBody>
                    <a:bodyPr wrap="square"/>
                    <a:lstStyle/>
                    <a:p>
                      <a:pPr algn="ctr">
                        <a:spcAft>
                          <a:spcPts val="0"/>
                        </a:spcAft>
                      </a:pPr>
                      <a:r>
                        <a:rPr sz="1300" b="0" i="0">
                          <a:solidFill>
                            <a:srgbClr val="222222"/>
                          </a:solidFill>
                          <a:latin typeface="Times New Roman"/>
                          <a:ea typeface="Times New Roman"/>
                          <a:cs typeface="Times New Roman"/>
                        </a:rPr>
                        <a:t>R1</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Two or more independent outlets contradict a claim</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FAKE (false)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11480">
                <a:tc>
                  <a:txBody>
                    <a:bodyPr wrap="square"/>
                    <a:lstStyle/>
                    <a:p>
                      <a:pPr algn="ctr">
                        <a:spcAft>
                          <a:spcPts val="0"/>
                        </a:spcAft>
                      </a:pPr>
                      <a:r>
                        <a:rPr sz="1300" b="0" i="0">
                          <a:solidFill>
                            <a:srgbClr val="222222"/>
                          </a:solidFill>
                          <a:latin typeface="Times New Roman"/>
                          <a:ea typeface="Times New Roman"/>
                          <a:cs typeface="Times New Roman"/>
                        </a:rPr>
                        <a:t>R2</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One independent outlet contradicts a claim</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FAKE (likely false)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11480">
                <a:tc>
                  <a:txBody>
                    <a:bodyPr wrap="square"/>
                    <a:lstStyle/>
                    <a:p>
                      <a:pPr algn="ctr">
                        <a:spcAft>
                          <a:spcPts val="0"/>
                        </a:spcAft>
                      </a:pPr>
                      <a:r>
                        <a:rPr sz="1300" b="0" i="0">
                          <a:solidFill>
                            <a:srgbClr val="222222"/>
                          </a:solidFill>
                          <a:latin typeface="Times New Roman"/>
                          <a:ea typeface="Times New Roman"/>
                          <a:cs typeface="Times New Roman"/>
                        </a:rPr>
                        <a:t>R3</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A reference entry contradicts the story's premise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FAKE (likely false)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11480">
                <a:tc>
                  <a:txBody>
                    <a:bodyPr wrap="square"/>
                    <a:lstStyle/>
                    <a:p>
                      <a:pPr algn="ctr">
                        <a:spcAft>
                          <a:spcPts val="0"/>
                        </a:spcAft>
                      </a:pPr>
                      <a:r>
                        <a:rPr sz="1300" b="0" i="0">
                          <a:solidFill>
                            <a:srgbClr val="222222"/>
                          </a:solidFill>
                          <a:latin typeface="Times New Roman"/>
                          <a:ea typeface="Times New Roman"/>
                          <a:cs typeface="Times New Roman"/>
                        </a:rPr>
                        <a:t>R4</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The search could not run, or the story is newer than the news index</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CANNOT VERIFY</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11480">
                <a:tc>
                  <a:txBody>
                    <a:bodyPr wrap="square"/>
                    <a:lstStyle/>
                    <a:p>
                      <a:pPr algn="ctr">
                        <a:spcAft>
                          <a:spcPts val="0"/>
                        </a:spcAft>
                      </a:pPr>
                      <a:r>
                        <a:rPr sz="1300" b="0" i="0">
                          <a:solidFill>
                            <a:srgbClr val="222222"/>
                          </a:solidFill>
                          <a:latin typeface="Times New Roman"/>
                          <a:ea typeface="Times New Roman"/>
                          <a:cs typeface="Times New Roman"/>
                        </a:rPr>
                        <a:t>R5</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No checkable claim is left after extraction</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NOT A FACTUAL CLAIM</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11480">
                <a:tc>
                  <a:txBody>
                    <a:bodyPr wrap="square"/>
                    <a:lstStyle/>
                    <a:p>
                      <a:pPr algn="ctr">
                        <a:spcAft>
                          <a:spcPts val="0"/>
                        </a:spcAft>
                      </a:pPr>
                      <a:r>
                        <a:rPr sz="1300" b="0" i="0">
                          <a:solidFill>
                            <a:srgbClr val="222222"/>
                          </a:solidFill>
                          <a:latin typeface="Times New Roman"/>
                          <a:ea typeface="Times New Roman"/>
                          <a:cs typeface="Times New Roman"/>
                        </a:rPr>
                        <a:t>R6</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Two or more independent outlets support the claims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REAL (confirmed)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11480">
                <a:tc>
                  <a:txBody>
                    <a:bodyPr wrap="square"/>
                    <a:lstStyle/>
                    <a:p>
                      <a:pPr algn="ctr">
                        <a:spcAft>
                          <a:spcPts val="0"/>
                        </a:spcAft>
                      </a:pPr>
                      <a:r>
                        <a:rPr sz="1300" b="0" i="0">
                          <a:solidFill>
                            <a:srgbClr val="222222"/>
                          </a:solidFill>
                          <a:latin typeface="Times New Roman"/>
                          <a:ea typeface="Times New Roman"/>
                          <a:cs typeface="Times New Roman"/>
                        </a:rPr>
                        <a:t>R7</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One independent outlet supports the claims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REAL (likely true)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11480">
                <a:tc>
                  <a:txBody>
                    <a:bodyPr wrap="square"/>
                    <a:lstStyle/>
                    <a:p>
                      <a:pPr algn="ctr">
                        <a:spcAft>
                          <a:spcPts val="0"/>
                        </a:spcAft>
                      </a:pPr>
                      <a:r>
                        <a:rPr sz="1300" b="0" i="0">
                          <a:solidFill>
                            <a:srgbClr val="222222"/>
                          </a:solidFill>
                          <a:latin typeface="Times New Roman"/>
                          <a:ea typeface="Times New Roman"/>
                          <a:cs typeface="Times New Roman"/>
                        </a:rPr>
                        <a:t>R8</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High-impact claim, uncorroborated, three or more risk signals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FAKE (likely false)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11480">
                <a:tc>
                  <a:txBody>
                    <a:bodyPr wrap="square"/>
                    <a:lstStyle/>
                    <a:p>
                      <a:pPr algn="ctr">
                        <a:spcAft>
                          <a:spcPts val="0"/>
                        </a:spcAft>
                      </a:pPr>
                      <a:r>
                        <a:rPr sz="1300" b="0" i="0">
                          <a:solidFill>
                            <a:srgbClr val="222222"/>
                          </a:solidFill>
                          <a:latin typeface="Times New Roman"/>
                          <a:ea typeface="Times New Roman"/>
                          <a:cs typeface="Times New Roman"/>
                        </a:rPr>
                        <a:t>R9</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None of the above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300" b="0" i="0">
                          <a:solidFill>
                            <a:srgbClr val="222222"/>
                          </a:solidFill>
                          <a:latin typeface="Times New Roman"/>
                          <a:ea typeface="Times New Roman"/>
                          <a:cs typeface="Times New Roman"/>
                        </a:rPr>
                        <a:t>CANNOT VERIFY</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bl>
          </a:graphicData>
        </a:graphic>
      </p:graphicFrame>
      <p:sp>
        <p:nvSpPr>
          <p:cNvPr id="5" name="TextBox 4"/>
          <p:cNvSpPr txBox="1"/>
          <p:nvPr/>
        </p:nvSpPr>
        <p:spPr>
          <a:xfrm>
            <a:off x="1005840" y="5806440"/>
            <a:ext cx="7772400" cy="548640"/>
          </a:xfrm>
          <a:prstGeom prst="rect">
            <a:avLst/>
          </a:prstGeom>
          <a:noFill/>
        </p:spPr>
        <p:txBody>
          <a:bodyPr wrap="square" lIns="0" rIns="0" tIns="0" bIns="0" anchor="t">
            <a:spAutoFit/>
          </a:bodyPr>
          <a:lstStyle/>
          <a:p>
            <a:pPr algn="l">
              <a:spcAft>
                <a:spcPts val="0"/>
              </a:spcAft>
            </a:pPr>
            <a:r>
              <a:rPr sz="1300" b="0" i="0">
                <a:solidFill>
                  <a:srgbClr val="222222"/>
                </a:solidFill>
                <a:latin typeface="Times New Roman"/>
                <a:ea typeface="Times New Roman"/>
                <a:cs typeface="Times New Roman"/>
              </a:rPr>
              <a:t>Input that fails the admissibility gate is refused before these rules run. Each verdict also caps the score shown, so an unconfirmed story can never read as trustworthy.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MODULES OF THE PROJECT</a:t>
            </a:r>
          </a:p>
        </p:txBody>
      </p:sp>
      <p:sp>
        <p:nvSpPr>
          <p:cNvPr id="4" name="Rounded Rectangle 3"/>
          <p:cNvSpPr/>
          <p:nvPr/>
        </p:nvSpPr>
        <p:spPr>
          <a:xfrm>
            <a:off x="960120" y="1097280"/>
            <a:ext cx="3703320" cy="457200"/>
          </a:xfrm>
          <a:prstGeom prst="roundRect">
            <a:avLst>
              <a:gd name="adj" fmla="val 6000"/>
            </a:avLst>
          </a:prstGeom>
          <a:solidFill>
            <a:srgbClr val="7FB285"/>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wrap="square"/>
          <a:lstStyle/>
          <a:p>
            <a:pPr algn="ctr">
              <a:spcAft>
                <a:spcPts val="0"/>
              </a:spcAft>
            </a:pPr>
            <a:r>
              <a:rPr sz="1500" b="1" i="0">
                <a:solidFill>
                  <a:srgbClr val="FFFFFF"/>
                </a:solidFill>
                <a:latin typeface="Times New Roman"/>
                <a:ea typeface="Times New Roman"/>
                <a:cs typeface="Times New Roman"/>
              </a:rPr>
              <a:t>Built by Review 2</a:t>
            </a:r>
          </a:p>
        </p:txBody>
      </p:sp>
      <p:sp>
        <p:nvSpPr>
          <p:cNvPr id="5" name="Rounded Rectangle 4"/>
          <p:cNvSpPr/>
          <p:nvPr/>
        </p:nvSpPr>
        <p:spPr>
          <a:xfrm>
            <a:off x="960120" y="1645920"/>
            <a:ext cx="3703320" cy="4709160"/>
          </a:xfrm>
          <a:prstGeom prst="roundRect">
            <a:avLst>
              <a:gd name="adj" fmla="val 3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6" name="TextBox 5"/>
          <p:cNvSpPr txBox="1"/>
          <p:nvPr/>
        </p:nvSpPr>
        <p:spPr>
          <a:xfrm>
            <a:off x="1143000" y="1810512"/>
            <a:ext cx="3383280" cy="4434840"/>
          </a:xfrm>
          <a:prstGeom prst="rect">
            <a:avLst/>
          </a:prstGeom>
          <a:noFill/>
        </p:spPr>
        <p:txBody>
          <a:bodyPr wrap="square" lIns="0" rIns="0" tIns="0" bIns="0" anchor="t">
            <a:spAutoFit/>
          </a:bodyPr>
          <a:lstStyle/>
          <a:p>
            <a:pPr algn="l" marL="182880" indent="-182880">
              <a:spcAft>
                <a:spcPts val="1600"/>
              </a:spcAft>
              <a:buFont typeface="Arial"/>
              <a:buChar char="•"/>
            </a:pPr>
            <a:r>
              <a:rPr sz="1500" b="0" i="0">
                <a:solidFill>
                  <a:srgbClr val="222222"/>
                </a:solidFill>
                <a:latin typeface="Times New Roman"/>
                <a:ea typeface="Times New Roman"/>
                <a:cs typeface="Times New Roman"/>
              </a:rPr>
              <a:t>News platform: feed, login, history, dashboard</a:t>
            </a:r>
          </a:p>
          <a:p>
            <a:pPr algn="l" marL="182880" indent="-182880">
              <a:spcAft>
                <a:spcPts val="1600"/>
              </a:spcAft>
              <a:buFont typeface="Arial"/>
              <a:buChar char="•"/>
            </a:pPr>
            <a:r>
              <a:rPr sz="1500" b="0" i="0">
                <a:solidFill>
                  <a:srgbClr val="222222"/>
                </a:solidFill>
                <a:latin typeface="Times New Roman"/>
                <a:ea typeface="Times New Roman"/>
                <a:cs typeface="Times New Roman"/>
              </a:rPr>
              <a:t>Clickbait, bias, persuasion and transparency checks</a:t>
            </a:r>
          </a:p>
          <a:p>
            <a:pPr algn="l" marL="182880" indent="-182880">
              <a:spcAft>
                <a:spcPts val="1600"/>
              </a:spcAft>
              <a:buFont typeface="Arial"/>
              <a:buChar char="•"/>
            </a:pPr>
            <a:r>
              <a:rPr sz="1500" b="0" i="0">
                <a:solidFill>
                  <a:srgbClr val="222222"/>
                </a:solidFill>
                <a:latin typeface="Times New Roman"/>
                <a:ea typeface="Times New Roman"/>
                <a:cs typeface="Times New Roman"/>
              </a:rPr>
              <a:t>Cross-source claim verification</a:t>
            </a:r>
          </a:p>
          <a:p>
            <a:pPr algn="l" marL="182880" indent="-182880">
              <a:spcAft>
                <a:spcPts val="1600"/>
              </a:spcAft>
              <a:buFont typeface="Arial"/>
              <a:buChar char="•"/>
            </a:pPr>
            <a:r>
              <a:rPr sz="1500" b="0" i="0">
                <a:solidFill>
                  <a:srgbClr val="222222"/>
                </a:solidFill>
                <a:latin typeface="Times New Roman"/>
                <a:ea typeface="Times New Roman"/>
                <a:cs typeface="Times New Roman"/>
              </a:rPr>
              <a:t>Multi-provider AI gateway with failover</a:t>
            </a:r>
          </a:p>
          <a:p>
            <a:pPr algn="l" marL="182880" indent="-182880">
              <a:spcAft>
                <a:spcPts val="1600"/>
              </a:spcAft>
              <a:buFont typeface="Arial"/>
              <a:buChar char="•"/>
            </a:pPr>
            <a:r>
              <a:rPr sz="1500" b="0" i="0">
                <a:solidFill>
                  <a:srgbClr val="222222"/>
                </a:solidFill>
                <a:latin typeface="Times New Roman"/>
                <a:ea typeface="Times New Roman"/>
                <a:cs typeface="Times New Roman"/>
              </a:rPr>
              <a:t>Compare Coverage page</a:t>
            </a:r>
          </a:p>
          <a:p>
            <a:pPr algn="l" marL="182880" indent="-182880">
              <a:spcAft>
                <a:spcPts val="1600"/>
              </a:spcAft>
              <a:buFont typeface="Arial"/>
              <a:buChar char="•"/>
            </a:pPr>
            <a:r>
              <a:rPr sz="1500" b="0" i="0">
                <a:solidFill>
                  <a:srgbClr val="222222"/>
                </a:solidFill>
                <a:latin typeface="Times New Roman"/>
                <a:ea typeface="Times New Roman"/>
                <a:cs typeface="Times New Roman"/>
              </a:rPr>
              <a:t>Analyse any article by link</a:t>
            </a:r>
          </a:p>
          <a:p>
            <a:pPr algn="l" marL="182880" indent="-182880">
              <a:spcAft>
                <a:spcPts val="1600"/>
              </a:spcAft>
              <a:buFont typeface="Arial"/>
              <a:buChar char="•"/>
            </a:pPr>
            <a:r>
              <a:rPr sz="1500" b="0" i="0">
                <a:solidFill>
                  <a:srgbClr val="222222"/>
                </a:solidFill>
                <a:latin typeface="Times New Roman"/>
                <a:ea typeface="Times New Roman"/>
                <a:cs typeface="Times New Roman"/>
              </a:rPr>
              <a:t>Rule-based fallback analysers</a:t>
            </a:r>
          </a:p>
        </p:txBody>
      </p:sp>
      <p:sp>
        <p:nvSpPr>
          <p:cNvPr id="7" name="Rounded Rectangle 6"/>
          <p:cNvSpPr/>
          <p:nvPr/>
        </p:nvSpPr>
        <p:spPr>
          <a:xfrm>
            <a:off x="5029200" y="1097280"/>
            <a:ext cx="3749039" cy="457200"/>
          </a:xfrm>
          <a:prstGeom prst="roundRect">
            <a:avLst>
              <a:gd name="adj" fmla="val 6000"/>
            </a:avLst>
          </a:prstGeom>
          <a:solidFill>
            <a:srgbClr val="3F7A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wrap="square"/>
          <a:lstStyle/>
          <a:p>
            <a:pPr algn="ctr">
              <a:spcAft>
                <a:spcPts val="0"/>
              </a:spcAft>
            </a:pPr>
            <a:r>
              <a:rPr sz="1500" b="1" i="0">
                <a:solidFill>
                  <a:srgbClr val="FFFFFF"/>
                </a:solidFill>
                <a:latin typeface="Times New Roman"/>
                <a:ea typeface="Times New Roman"/>
                <a:cs typeface="Times New Roman"/>
              </a:rPr>
              <a:t>Added for Review 3</a:t>
            </a:r>
          </a:p>
        </p:txBody>
      </p:sp>
      <p:sp>
        <p:nvSpPr>
          <p:cNvPr id="8" name="Rounded Rectangle 7"/>
          <p:cNvSpPr/>
          <p:nvPr/>
        </p:nvSpPr>
        <p:spPr>
          <a:xfrm>
            <a:off x="5029200" y="1645920"/>
            <a:ext cx="3749039" cy="4709160"/>
          </a:xfrm>
          <a:prstGeom prst="roundRect">
            <a:avLst>
              <a:gd name="adj" fmla="val 3000"/>
            </a:avLst>
          </a:prstGeom>
          <a:solidFill>
            <a:srgbClr val="3F7A46"/>
          </a:solidFill>
          <a:ln>
            <a:no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9" name="TextBox 8"/>
          <p:cNvSpPr txBox="1"/>
          <p:nvPr/>
        </p:nvSpPr>
        <p:spPr>
          <a:xfrm>
            <a:off x="5212080" y="1810512"/>
            <a:ext cx="3429000" cy="4434840"/>
          </a:xfrm>
          <a:prstGeom prst="rect">
            <a:avLst/>
          </a:prstGeom>
          <a:noFill/>
        </p:spPr>
        <p:txBody>
          <a:bodyPr wrap="square" lIns="0" rIns="0" tIns="0" bIns="0" anchor="t">
            <a:spAutoFit/>
          </a:bodyPr>
          <a:lstStyle/>
          <a:p>
            <a:pPr algn="l" marL="182880" indent="-182880">
              <a:spcAft>
                <a:spcPts val="800"/>
              </a:spcAft>
              <a:buFont typeface="Arial"/>
              <a:buChar char="•"/>
            </a:pPr>
            <a:r>
              <a:rPr sz="1400" b="0" i="0">
                <a:solidFill>
                  <a:srgbClr val="FFFFFF"/>
                </a:solidFill>
                <a:latin typeface="Times New Roman"/>
                <a:ea typeface="Times New Roman"/>
                <a:cs typeface="Times New Roman"/>
              </a:rPr>
              <a:t>Evidence-first verdict engine (R0 to R9)</a:t>
            </a:r>
          </a:p>
          <a:p>
            <a:pPr algn="l" marL="182880" indent="-182880">
              <a:spcAft>
                <a:spcPts val="800"/>
              </a:spcAft>
              <a:buFont typeface="Arial"/>
              <a:buChar char="•"/>
            </a:pPr>
            <a:r>
              <a:rPr sz="1400" b="0" i="0">
                <a:solidFill>
                  <a:srgbClr val="FFFFFF"/>
                </a:solidFill>
                <a:latin typeface="Times New Roman"/>
                <a:ea typeface="Times New Roman"/>
                <a:cs typeface="Times New Roman"/>
              </a:rPr>
              <a:t>Weight-of-evidence scoring with calibration</a:t>
            </a:r>
          </a:p>
          <a:p>
            <a:pPr algn="l" marL="182880" indent="-182880">
              <a:spcAft>
                <a:spcPts val="800"/>
              </a:spcAft>
              <a:buFont typeface="Arial"/>
              <a:buChar char="•"/>
            </a:pPr>
            <a:r>
              <a:rPr sz="1400" b="0" i="0">
                <a:solidFill>
                  <a:srgbClr val="FFFFFF"/>
                </a:solidFill>
                <a:latin typeface="Times New Roman"/>
                <a:ea typeface="Times New Roman"/>
                <a:cs typeface="Times New Roman"/>
              </a:rPr>
              <a:t>Source independence analysis</a:t>
            </a:r>
          </a:p>
          <a:p>
            <a:pPr algn="l" marL="182880" indent="-182880">
              <a:spcAft>
                <a:spcPts val="800"/>
              </a:spcAft>
              <a:buFont typeface="Arial"/>
              <a:buChar char="•"/>
            </a:pPr>
            <a:r>
              <a:rPr sz="1400" b="0" i="0">
                <a:solidFill>
                  <a:srgbClr val="FFFFFF"/>
                </a:solidFill>
                <a:latin typeface="Times New Roman"/>
                <a:ea typeface="Times New Roman"/>
                <a:cs typeface="Times New Roman"/>
              </a:rPr>
              <a:t>Premise check against Wikipedia</a:t>
            </a:r>
          </a:p>
          <a:p>
            <a:pPr algn="l" marL="182880" indent="-182880">
              <a:spcAft>
                <a:spcPts val="800"/>
              </a:spcAft>
              <a:buFont typeface="Arial"/>
              <a:buChar char="•"/>
            </a:pPr>
            <a:r>
              <a:rPr sz="1400" b="0" i="0">
                <a:solidFill>
                  <a:srgbClr val="FFFFFF"/>
                </a:solidFill>
                <a:latin typeface="Times New Roman"/>
                <a:ea typeface="Times New Roman"/>
                <a:cs typeface="Times New Roman"/>
              </a:rPr>
              <a:t>Publisher identity from the web address, 11,520 rated domains, domain age</a:t>
            </a:r>
          </a:p>
          <a:p>
            <a:pPr algn="l" marL="182880" indent="-182880">
              <a:spcAft>
                <a:spcPts val="800"/>
              </a:spcAft>
              <a:buFont typeface="Arial"/>
              <a:buChar char="•"/>
            </a:pPr>
            <a:r>
              <a:rPr sz="1400" b="0" i="0">
                <a:solidFill>
                  <a:srgbClr val="FFFFFF"/>
                </a:solidFill>
                <a:latin typeface="Times New Roman"/>
                <a:ea typeface="Times New Roman"/>
                <a:cs typeface="Times New Roman"/>
              </a:rPr>
              <a:t>Check Anything: text, screenshot, YouTube, Tamil</a:t>
            </a:r>
          </a:p>
          <a:p>
            <a:pPr algn="l" marL="182880" indent="-182880">
              <a:spcAft>
                <a:spcPts val="800"/>
              </a:spcAft>
              <a:buFont typeface="Arial"/>
              <a:buChar char="•"/>
            </a:pPr>
            <a:r>
              <a:rPr sz="1400" b="0" i="0">
                <a:solidFill>
                  <a:srgbClr val="FFFFFF"/>
                </a:solidFill>
                <a:latin typeface="Times New Roman"/>
                <a:ea typeface="Times New Roman"/>
                <a:cs typeface="Times New Roman"/>
              </a:rPr>
              <a:t>Admissibility gate for uncheckable input</a:t>
            </a:r>
          </a:p>
          <a:p>
            <a:pPr algn="l" marL="182880" indent="-182880">
              <a:spcAft>
                <a:spcPts val="800"/>
              </a:spcAft>
              <a:buFont typeface="Arial"/>
              <a:buChar char="•"/>
            </a:pPr>
            <a:r>
              <a:rPr sz="1400" b="0" i="0">
                <a:solidFill>
                  <a:srgbClr val="FFFFFF"/>
                </a:solidFill>
                <a:latin typeface="Times New Roman"/>
                <a:ea typeface="Times New Roman"/>
                <a:cs typeface="Times New Roman"/>
              </a:rPr>
              <a:t>Local model routing: 9 of 10 tasks on Ollama</a:t>
            </a:r>
          </a:p>
          <a:p>
            <a:pPr algn="l" marL="182880" indent="-182880">
              <a:spcAft>
                <a:spcPts val="800"/>
              </a:spcAft>
              <a:buFont typeface="Arial"/>
              <a:buChar char="•"/>
            </a:pPr>
            <a:r>
              <a:rPr sz="1400" b="0" i="0">
                <a:solidFill>
                  <a:srgbClr val="FFFFFF"/>
                </a:solidFill>
                <a:latin typeface="Times New Roman"/>
                <a:ea typeface="Times New Roman"/>
                <a:cs typeface="Times New Roman"/>
              </a:rPr>
              <a:t>API access control and link guard</a:t>
            </a:r>
          </a:p>
          <a:p>
            <a:pPr algn="l" marL="182880" indent="-182880">
              <a:spcAft>
                <a:spcPts val="800"/>
              </a:spcAft>
              <a:buFont typeface="Arial"/>
              <a:buChar char="•"/>
            </a:pPr>
            <a:r>
              <a:rPr sz="1400" b="0" i="0">
                <a:solidFill>
                  <a:srgbClr val="FFFFFF"/>
                </a:solidFill>
                <a:latin typeface="Times New Roman"/>
                <a:ea typeface="Times New Roman"/>
                <a:cs typeface="Times New Roman"/>
              </a:rPr>
              <a:t>182 backend and 14 frontend tests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RESULTS: HELD-OUT EVALUATION</a:t>
            </a:r>
          </a:p>
        </p:txBody>
      </p:sp>
      <p:sp>
        <p:nvSpPr>
          <p:cNvPr id="4" name="TextBox 3"/>
          <p:cNvSpPr txBox="1"/>
          <p:nvPr/>
        </p:nvSpPr>
        <p:spPr>
          <a:xfrm>
            <a:off x="960120" y="987552"/>
            <a:ext cx="7818120" cy="320040"/>
          </a:xfrm>
          <a:prstGeom prst="rect">
            <a:avLst/>
          </a:prstGeom>
          <a:noFill/>
        </p:spPr>
        <p:txBody>
          <a:bodyPr wrap="square" lIns="0" rIns="0" tIns="0" bIns="0" anchor="t">
            <a:spAutoFit/>
          </a:bodyPr>
          <a:lstStyle/>
          <a:p>
            <a:pPr algn="ctr">
              <a:spcAft>
                <a:spcPts val="0"/>
              </a:spcAft>
            </a:pPr>
            <a:r>
              <a:rPr sz="1300" b="0" i="1">
                <a:solidFill>
                  <a:srgbClr val="222222"/>
                </a:solidFill>
                <a:latin typeface="Times New Roman"/>
                <a:ea typeface="Times New Roman"/>
                <a:cs typeface="Times New Roman"/>
              </a:rPr>
              <a:t>120 held-out ISOT articles; source hidden, agency tags removed</a:t>
            </a:r>
          </a:p>
        </p:txBody>
      </p:sp>
      <p:graphicFrame>
        <p:nvGraphicFramePr>
          <p:cNvPr id="5" name="Chart 4"/>
          <p:cNvGraphicFramePr>
            <a:graphicFrameLocks noGrp="1"/>
          </p:cNvGraphicFramePr>
          <p:nvPr/>
        </p:nvGraphicFramePr>
        <p:xfrm>
          <a:off x="960120" y="1371600"/>
          <a:ext cx="3840480" cy="3931920"/>
        </p:xfrm>
        <a:graphic>
          <a:graphicData uri="http://schemas.openxmlformats.org/drawingml/2006/chart">
            <c:chart xmlns:c="http://schemas.openxmlformats.org/drawingml/2006/chart" r:id="rId4"/>
          </a:graphicData>
        </a:graphic>
      </p:graphicFrame>
      <p:graphicFrame>
        <p:nvGraphicFramePr>
          <p:cNvPr id="6" name="Chart 5"/>
          <p:cNvGraphicFramePr>
            <a:graphicFrameLocks noGrp="1"/>
          </p:cNvGraphicFramePr>
          <p:nvPr/>
        </p:nvGraphicFramePr>
        <p:xfrm>
          <a:off x="4937760" y="1371600"/>
          <a:ext cx="3840480" cy="3931920"/>
        </p:xfrm>
        <a:graphic>
          <a:graphicData uri="http://schemas.openxmlformats.org/drawingml/2006/chart">
            <c:chart xmlns:c="http://schemas.openxmlformats.org/drawingml/2006/chart" r:id="rId5"/>
          </a:graphicData>
        </a:graphic>
      </p:graphicFrame>
      <p:sp>
        <p:nvSpPr>
          <p:cNvPr id="7" name="Rounded Rectangle 6"/>
          <p:cNvSpPr/>
          <p:nvPr/>
        </p:nvSpPr>
        <p:spPr>
          <a:xfrm>
            <a:off x="960120" y="5486400"/>
            <a:ext cx="7818120" cy="868680"/>
          </a:xfrm>
          <a:prstGeom prst="roundRect">
            <a:avLst>
              <a:gd name="adj" fmla="val 6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0"/>
              </a:spcAft>
            </a:pPr>
            <a:r>
              <a:rPr sz="1300" b="0" i="0">
                <a:solidFill>
                  <a:srgbClr val="222222"/>
                </a:solidFill>
                <a:latin typeface="Times New Roman"/>
                <a:ea typeface="Times New Roman"/>
                <a:cs typeface="Times New Roman"/>
              </a:rPr>
              <a:t>Accuracy is the same to within one article </a:t>
            </a:r>
            <a:r>
              <a:rPr sz="1300" b="1" i="0">
                <a:solidFill>
                  <a:srgbClr val="222222"/>
                </a:solidFill>
                <a:latin typeface="Times New Roman"/>
                <a:ea typeface="Times New Roman"/>
                <a:cs typeface="Times New Roman"/>
              </a:rPr>
              <a:t>(114 vs 115 of 120)</a:t>
            </a:r>
            <a:r>
              <a:rPr sz="1300" b="0" i="0">
                <a:solidFill>
                  <a:srgbClr val="222222"/>
                </a:solidFill>
                <a:latin typeface="Times New Roman"/>
                <a:ea typeface="Times New Roman"/>
                <a:cs typeface="Times New Roman"/>
              </a:rPr>
              <a:t>. Calibration error when the system accuses fell from </a:t>
            </a:r>
            <a:r>
              <a:rPr sz="1300" b="1" i="0">
                <a:solidFill>
                  <a:srgbClr val="222222"/>
                </a:solidFill>
                <a:latin typeface="Times New Roman"/>
                <a:ea typeface="Times New Roman"/>
                <a:cs typeface="Times New Roman"/>
              </a:rPr>
              <a:t>0.267 to 0.152</a:t>
            </a:r>
            <a:r>
              <a:rPr sz="1300" b="0" i="0">
                <a:solidFill>
                  <a:srgbClr val="222222"/>
                </a:solidFill>
                <a:latin typeface="Times New Roman"/>
                <a:ea typeface="Times New Roman"/>
                <a:cs typeface="Times New Roman"/>
              </a:rPr>
              <a:t>, 43% lower. Turning the one-sided rule off raises ROC-AUC to 0.983 but accusing ECE to 0.191.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ADVERSARIAL &amp; PUBLISHER TESTS</a:t>
            </a:r>
          </a:p>
        </p:txBody>
      </p:sp>
      <p:sp>
        <p:nvSpPr>
          <p:cNvPr id="4" name="Rounded Rectangle 3"/>
          <p:cNvSpPr/>
          <p:nvPr/>
        </p:nvSpPr>
        <p:spPr>
          <a:xfrm>
            <a:off x="960120" y="1097280"/>
            <a:ext cx="2514600" cy="1874519"/>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5" name="TextBox 4"/>
          <p:cNvSpPr txBox="1"/>
          <p:nvPr/>
        </p:nvSpPr>
        <p:spPr>
          <a:xfrm>
            <a:off x="1097280" y="1207007"/>
            <a:ext cx="2240280" cy="640080"/>
          </a:xfrm>
          <a:prstGeom prst="rect">
            <a:avLst/>
          </a:prstGeom>
          <a:noFill/>
        </p:spPr>
        <p:txBody>
          <a:bodyPr wrap="square" lIns="0" rIns="0" tIns="0" bIns="0" anchor="ctr">
            <a:spAutoFit/>
          </a:bodyPr>
          <a:lstStyle/>
          <a:p>
            <a:pPr algn="ctr">
              <a:spcAft>
                <a:spcPts val="0"/>
              </a:spcAft>
            </a:pPr>
            <a:r>
              <a:rPr sz="3600" b="1" i="0">
                <a:solidFill>
                  <a:srgbClr val="3F7A46"/>
                </a:solidFill>
                <a:latin typeface="Times New Roman"/>
                <a:ea typeface="Times New Roman"/>
                <a:cs typeface="Times New Roman"/>
              </a:rPr>
              <a:t>0 of 6</a:t>
            </a:r>
          </a:p>
        </p:txBody>
      </p:sp>
      <p:sp>
        <p:nvSpPr>
          <p:cNvPr id="6" name="TextBox 5"/>
          <p:cNvSpPr txBox="1"/>
          <p:nvPr/>
        </p:nvSpPr>
        <p:spPr>
          <a:xfrm>
            <a:off x="1097280" y="1874519"/>
            <a:ext cx="2240280" cy="1005839"/>
          </a:xfrm>
          <a:prstGeom prst="rect">
            <a:avLst/>
          </a:prstGeom>
          <a:noFill/>
        </p:spPr>
        <p:txBody>
          <a:bodyPr wrap="square" lIns="0" rIns="0" tIns="0" bIns="0" anchor="t">
            <a:spAutoFit/>
          </a:bodyPr>
          <a:lstStyle/>
          <a:p>
            <a:pPr algn="ctr">
              <a:spcAft>
                <a:spcPts val="0"/>
              </a:spcAft>
            </a:pPr>
            <a:r>
              <a:rPr sz="1300" b="1" i="0">
                <a:solidFill>
                  <a:srgbClr val="222222"/>
                </a:solidFill>
                <a:latin typeface="Times New Roman"/>
                <a:ea typeface="Times New Roman"/>
                <a:cs typeface="Times New Roman"/>
              </a:rPr>
              <a:t>deceptive items rated credible</a:t>
            </a:r>
          </a:p>
          <a:p>
            <a:pPr algn="ctr">
              <a:spcAft>
                <a:spcPts val="0"/>
              </a:spcAft>
            </a:pPr>
            <a:r>
              <a:rPr sz="1300" b="0" i="0">
                <a:solidFill>
                  <a:srgbClr val="222222"/>
                </a:solidFill>
                <a:latin typeface="Times New Roman"/>
                <a:ea typeface="Times New Roman"/>
                <a:cs typeface="Times New Roman"/>
              </a:rPr>
              <a:t>baseline: 4 of 6</a:t>
            </a:r>
          </a:p>
        </p:txBody>
      </p:sp>
      <p:sp>
        <p:nvSpPr>
          <p:cNvPr id="7" name="Rounded Rectangle 6"/>
          <p:cNvSpPr/>
          <p:nvPr/>
        </p:nvSpPr>
        <p:spPr>
          <a:xfrm>
            <a:off x="3611880" y="1097280"/>
            <a:ext cx="2514600" cy="1874519"/>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8" name="TextBox 7"/>
          <p:cNvSpPr txBox="1"/>
          <p:nvPr/>
        </p:nvSpPr>
        <p:spPr>
          <a:xfrm>
            <a:off x="3749040" y="1207007"/>
            <a:ext cx="2240280" cy="640080"/>
          </a:xfrm>
          <a:prstGeom prst="rect">
            <a:avLst/>
          </a:prstGeom>
          <a:noFill/>
        </p:spPr>
        <p:txBody>
          <a:bodyPr wrap="square" lIns="0" rIns="0" tIns="0" bIns="0" anchor="ctr">
            <a:spAutoFit/>
          </a:bodyPr>
          <a:lstStyle/>
          <a:p>
            <a:pPr algn="ctr">
              <a:spcAft>
                <a:spcPts val="0"/>
              </a:spcAft>
            </a:pPr>
            <a:r>
              <a:rPr sz="3600" b="1" i="0">
                <a:solidFill>
                  <a:srgbClr val="3F7A46"/>
                </a:solidFill>
                <a:latin typeface="Times New Roman"/>
                <a:ea typeface="Times New Roman"/>
                <a:cs typeface="Times New Roman"/>
              </a:rPr>
              <a:t>6 of 6</a:t>
            </a:r>
          </a:p>
        </p:txBody>
      </p:sp>
      <p:sp>
        <p:nvSpPr>
          <p:cNvPr id="9" name="TextBox 8"/>
          <p:cNvSpPr txBox="1"/>
          <p:nvPr/>
        </p:nvSpPr>
        <p:spPr>
          <a:xfrm>
            <a:off x="3749040" y="1874519"/>
            <a:ext cx="2240280" cy="1005839"/>
          </a:xfrm>
          <a:prstGeom prst="rect">
            <a:avLst/>
          </a:prstGeom>
          <a:noFill/>
        </p:spPr>
        <p:txBody>
          <a:bodyPr wrap="square" lIns="0" rIns="0" tIns="0" bIns="0" anchor="t">
            <a:spAutoFit/>
          </a:bodyPr>
          <a:lstStyle/>
          <a:p>
            <a:pPr algn="ctr">
              <a:spcAft>
                <a:spcPts val="0"/>
              </a:spcAft>
            </a:pPr>
            <a:r>
              <a:rPr sz="1300" b="1" i="0">
                <a:solidFill>
                  <a:srgbClr val="222222"/>
                </a:solidFill>
                <a:latin typeface="Times New Roman"/>
                <a:ea typeface="Times New Roman"/>
                <a:cs typeface="Times New Roman"/>
              </a:rPr>
              <a:t>verdicts as expected</a:t>
            </a:r>
          </a:p>
          <a:p>
            <a:pPr algn="ctr">
              <a:spcAft>
                <a:spcPts val="0"/>
              </a:spcAft>
            </a:pPr>
            <a:r>
              <a:rPr sz="1300" b="0" i="0">
                <a:solidFill>
                  <a:srgbClr val="222222"/>
                </a:solidFill>
                <a:latin typeface="Times New Roman"/>
                <a:ea typeface="Times New Roman"/>
                <a:cs typeface="Times New Roman"/>
              </a:rPr>
              <a:t>0 of 2 genuine reports condemned</a:t>
            </a:r>
          </a:p>
        </p:txBody>
      </p:sp>
      <p:sp>
        <p:nvSpPr>
          <p:cNvPr id="10" name="Rounded Rectangle 9"/>
          <p:cNvSpPr/>
          <p:nvPr/>
        </p:nvSpPr>
        <p:spPr>
          <a:xfrm>
            <a:off x="6263640" y="1097280"/>
            <a:ext cx="2514600" cy="1874519"/>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1" name="TextBox 10"/>
          <p:cNvSpPr txBox="1"/>
          <p:nvPr/>
        </p:nvSpPr>
        <p:spPr>
          <a:xfrm>
            <a:off x="6400800" y="1207007"/>
            <a:ext cx="2240280" cy="640080"/>
          </a:xfrm>
          <a:prstGeom prst="rect">
            <a:avLst/>
          </a:prstGeom>
          <a:noFill/>
        </p:spPr>
        <p:txBody>
          <a:bodyPr wrap="square" lIns="0" rIns="0" tIns="0" bIns="0" anchor="ctr">
            <a:spAutoFit/>
          </a:bodyPr>
          <a:lstStyle/>
          <a:p>
            <a:pPr algn="ctr">
              <a:spcAft>
                <a:spcPts val="0"/>
              </a:spcAft>
            </a:pPr>
            <a:r>
              <a:rPr sz="3200" b="1" i="0">
                <a:solidFill>
                  <a:srgbClr val="3F7A46"/>
                </a:solidFill>
                <a:latin typeface="Times New Roman"/>
                <a:ea typeface="Times New Roman"/>
                <a:cs typeface="Times New Roman"/>
              </a:rPr>
              <a:t>2% → 33%</a:t>
            </a:r>
          </a:p>
        </p:txBody>
      </p:sp>
      <p:sp>
        <p:nvSpPr>
          <p:cNvPr id="12" name="TextBox 11"/>
          <p:cNvSpPr txBox="1"/>
          <p:nvPr/>
        </p:nvSpPr>
        <p:spPr>
          <a:xfrm>
            <a:off x="6400800" y="1874519"/>
            <a:ext cx="2240280" cy="1005839"/>
          </a:xfrm>
          <a:prstGeom prst="rect">
            <a:avLst/>
          </a:prstGeom>
          <a:noFill/>
        </p:spPr>
        <p:txBody>
          <a:bodyPr wrap="square" lIns="0" rIns="0" tIns="0" bIns="0" anchor="t">
            <a:spAutoFit/>
          </a:bodyPr>
          <a:lstStyle/>
          <a:p>
            <a:pPr algn="ctr">
              <a:spcAft>
                <a:spcPts val="0"/>
              </a:spcAft>
            </a:pPr>
            <a:r>
              <a:rPr sz="1300" b="1" i="0">
                <a:solidFill>
                  <a:srgbClr val="222222"/>
                </a:solidFill>
                <a:latin typeface="Times New Roman"/>
                <a:ea typeface="Times New Roman"/>
                <a:cs typeface="Times New Roman"/>
              </a:rPr>
              <a:t>fabricated story on a copycat BBC site</a:t>
            </a:r>
          </a:p>
          <a:p>
            <a:pPr algn="ctr">
              <a:spcAft>
                <a:spcPts val="0"/>
              </a:spcAft>
            </a:pPr>
            <a:r>
              <a:rPr sz="1300" b="0" i="0">
                <a:solidFill>
                  <a:srgbClr val="222222"/>
                </a:solidFill>
                <a:latin typeface="Times New Roman"/>
                <a:ea typeface="Times New Roman"/>
                <a:cs typeface="Times New Roman"/>
              </a:rPr>
              <a:t>probability of fabrication</a:t>
            </a:r>
          </a:p>
        </p:txBody>
      </p:sp>
      <p:sp>
        <p:nvSpPr>
          <p:cNvPr id="13" name="TextBox 12"/>
          <p:cNvSpPr txBox="1"/>
          <p:nvPr/>
        </p:nvSpPr>
        <p:spPr>
          <a:xfrm>
            <a:off x="960120" y="3154680"/>
            <a:ext cx="7818120" cy="320040"/>
          </a:xfrm>
          <a:prstGeom prst="rect">
            <a:avLst/>
          </a:prstGeom>
          <a:noFill/>
        </p:spPr>
        <p:txBody>
          <a:bodyPr wrap="square" lIns="0" rIns="0" tIns="0" bIns="0" anchor="t">
            <a:spAutoFit/>
          </a:bodyPr>
          <a:lstStyle/>
          <a:p>
            <a:pPr algn="ctr">
              <a:spcAft>
                <a:spcPts val="0"/>
              </a:spcAft>
            </a:pPr>
            <a:r>
              <a:rPr sz="1400" b="1" i="0">
                <a:solidFill>
                  <a:srgbClr val="3F7A46"/>
                </a:solidFill>
                <a:latin typeface="Times New Roman"/>
                <a:ea typeface="Times New Roman"/>
                <a:cs typeface="Times New Roman"/>
              </a:rPr>
              <a:t>Lookalike publishers: identity from the page name vs from the web address</a:t>
            </a:r>
          </a:p>
        </p:txBody>
      </p:sp>
      <p:graphicFrame>
        <p:nvGraphicFramePr>
          <p:cNvPr id="14" name="Table 13"/>
          <p:cNvGraphicFramePr>
            <a:graphicFrameLocks noGrp="1"/>
          </p:cNvGraphicFramePr>
          <p:nvPr/>
        </p:nvGraphicFramePr>
        <p:xfrm>
          <a:off x="960120" y="3547872"/>
          <a:ext cx="7818120" cy="2688336"/>
        </p:xfrm>
        <a:graphic>
          <a:graphicData uri="http://schemas.openxmlformats.org/drawingml/2006/table">
            <a:tbl>
              <a:tblPr firstRow="0" bandRow="0">
                <a:tableStyleId>{5C22544A-7EE6-4342-B048-85BDC9FD1C3A}</a:tableStyleId>
              </a:tblPr>
              <a:tblGrid>
                <a:gridCol w="3520440"/>
                <a:gridCol w="1828800"/>
                <a:gridCol w="2468880"/>
              </a:tblGrid>
              <a:tr h="402336">
                <a:tc>
                  <a:txBody>
                    <a:bodyPr wrap="square"/>
                    <a:lstStyle/>
                    <a:p>
                      <a:pPr algn="ctr">
                        <a:spcAft>
                          <a:spcPts val="0"/>
                        </a:spcAft>
                      </a:pPr>
                      <a:r>
                        <a:rPr sz="1400" b="1" i="0">
                          <a:solidFill>
                            <a:srgbClr val="FFFFFF"/>
                          </a:solidFill>
                          <a:latin typeface="Times New Roman"/>
                          <a:ea typeface="Times New Roman"/>
                          <a:cs typeface="Times New Roman"/>
                        </a:rPr>
                        <a:t>Address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400" b="1" i="0">
                          <a:solidFill>
                            <a:srgbClr val="FFFFFF"/>
                          </a:solidFill>
                          <a:latin typeface="Times New Roman"/>
                          <a:ea typeface="Times New Roman"/>
                          <a:cs typeface="Times New Roman"/>
                        </a:rPr>
                        <a:t>By page name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400" b="1" i="0">
                          <a:solidFill>
                            <a:srgbClr val="FFFFFF"/>
                          </a:solidFill>
                          <a:latin typeface="Times New Roman"/>
                          <a:ea typeface="Times New Roman"/>
                          <a:cs typeface="Times New Roman"/>
                        </a:rPr>
                        <a:t>By web address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r>
              <a:tr h="457200">
                <a:tc>
                  <a:txBody>
                    <a:bodyPr wrap="square"/>
                    <a:lstStyle/>
                    <a:p>
                      <a:pPr algn="l">
                        <a:spcAft>
                          <a:spcPts val="0"/>
                        </a:spcAft>
                      </a:pPr>
                      <a:r>
                        <a:rPr sz="1200" b="0" i="0">
                          <a:solidFill>
                            <a:srgbClr val="222222"/>
                          </a:solidFill>
                          <a:latin typeface="Times New Roman"/>
                          <a:ea typeface="Times New Roman"/>
                          <a:cs typeface="Times New Roman"/>
                        </a:rPr>
                        <a:t>bbc-breaking-news.xyz, calling itself "BBC News"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BBC News, 9/10</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No rating; impersonation flagged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57200">
                <a:tc>
                  <a:txBody>
                    <a:bodyPr wrap="square"/>
                    <a:lstStyle/>
                    <a:p>
                      <a:pPr algn="l">
                        <a:spcAft>
                          <a:spcPts val="0"/>
                        </a:spcAft>
                      </a:pPr>
                      <a:r>
                        <a:rPr sz="1200" b="0" i="0">
                          <a:solidFill>
                            <a:srgbClr val="222222"/>
                          </a:solidFill>
                          <a:latin typeface="Times New Roman"/>
                          <a:ea typeface="Times New Roman"/>
                          <a:cs typeface="Times New Roman"/>
                        </a:rPr>
                        <a:t>bbc-world.com</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BBC News, 9/10</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No rating</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57200">
                <a:tc>
                  <a:txBody>
                    <a:bodyPr wrap="square"/>
                    <a:lstStyle/>
                    <a:p>
                      <a:pPr algn="l">
                        <a:spcAft>
                          <a:spcPts val="0"/>
                        </a:spcAft>
                      </a:pPr>
                      <a:r>
                        <a:rPr sz="1200" b="0" i="0">
                          <a:solidFill>
                            <a:srgbClr val="222222"/>
                          </a:solidFill>
                          <a:latin typeface="Times New Roman"/>
                          <a:ea typeface="Times New Roman"/>
                          <a:cs typeface="Times New Roman"/>
                        </a:rPr>
                        <a:t>bbc.news-today.com</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BBC News, 9/10</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No rating</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57200">
                <a:tc>
                  <a:txBody>
                    <a:bodyPr wrap="square"/>
                    <a:lstStyle/>
                    <a:p>
                      <a:pPr algn="l">
                        <a:spcAft>
                          <a:spcPts val="0"/>
                        </a:spcAft>
                      </a:pPr>
                      <a:r>
                        <a:rPr sz="1200" b="0" i="0">
                          <a:solidFill>
                            <a:srgbClr val="222222"/>
                          </a:solidFill>
                          <a:latin typeface="Times New Roman"/>
                          <a:ea typeface="Times New Roman"/>
                          <a:cs typeface="Times New Roman"/>
                        </a:rPr>
                        <a:t>reuters-updates.info, calling itself "Reuters"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Reuters, 9.5/10</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No rating; impersonation flagged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457200">
                <a:tc>
                  <a:txBody>
                    <a:bodyPr wrap="square"/>
                    <a:lstStyle/>
                    <a:p>
                      <a:pPr algn="l">
                        <a:spcAft>
                          <a:spcPts val="0"/>
                        </a:spcAft>
                      </a:pPr>
                      <a:r>
                        <a:rPr sz="1200" b="0" i="0">
                          <a:solidFill>
                            <a:srgbClr val="222222"/>
                          </a:solidFill>
                          <a:latin typeface="Times New Roman"/>
                          <a:ea typeface="Times New Roman"/>
                          <a:cs typeface="Times New Roman"/>
                        </a:rPr>
                        <a:t>YouTube channel named "Associated Press"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AP, 9.5/10</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No rating</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END-TO-END TESTING</a:t>
            </a:r>
          </a:p>
        </p:txBody>
      </p:sp>
      <p:graphicFrame>
        <p:nvGraphicFramePr>
          <p:cNvPr id="4" name="Table 3"/>
          <p:cNvGraphicFramePr>
            <a:graphicFrameLocks noGrp="1"/>
          </p:cNvGraphicFramePr>
          <p:nvPr/>
        </p:nvGraphicFramePr>
        <p:xfrm>
          <a:off x="960120" y="1051560"/>
          <a:ext cx="7909560" cy="4498848"/>
        </p:xfrm>
        <a:graphic>
          <a:graphicData uri="http://schemas.openxmlformats.org/drawingml/2006/table">
            <a:tbl>
              <a:tblPr firstRow="0" bandRow="0">
                <a:tableStyleId>{5C22544A-7EE6-4342-B048-85BDC9FD1C3A}</a:tableStyleId>
              </a:tblPr>
              <a:tblGrid>
                <a:gridCol w="457200"/>
                <a:gridCol w="1508760"/>
                <a:gridCol w="1783080"/>
                <a:gridCol w="1463040"/>
                <a:gridCol w="2011680"/>
                <a:gridCol w="685800"/>
              </a:tblGrid>
              <a:tr h="384048">
                <a:tc>
                  <a:txBody>
                    <a:bodyPr wrap="square"/>
                    <a:lstStyle/>
                    <a:p>
                      <a:pPr algn="ctr">
                        <a:spcAft>
                          <a:spcPts val="0"/>
                        </a:spcAft>
                      </a:pPr>
                      <a:r>
                        <a:rPr sz="1400" b="1" i="0">
                          <a:solidFill>
                            <a:srgbClr val="FFFFFF"/>
                          </a:solidFill>
                          <a:latin typeface="Times New Roman"/>
                          <a:ea typeface="Times New Roman"/>
                          <a:cs typeface="Times New Roman"/>
                        </a:rPr>
                        <a:t>No.</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400" b="1" i="0">
                          <a:solidFill>
                            <a:srgbClr val="FFFFFF"/>
                          </a:solidFill>
                          <a:latin typeface="Times New Roman"/>
                          <a:ea typeface="Times New Roman"/>
                          <a:cs typeface="Times New Roman"/>
                        </a:rPr>
                        <a:t>Input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400" b="1" i="0">
                          <a:solidFill>
                            <a:srgbClr val="FFFFFF"/>
                          </a:solidFill>
                          <a:latin typeface="Times New Roman"/>
                          <a:ea typeface="Times New Roman"/>
                          <a:cs typeface="Times New Roman"/>
                        </a:rPr>
                        <a:t>Expected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400" b="1" i="0">
                          <a:solidFill>
                            <a:srgbClr val="FFFFFF"/>
                          </a:solidFill>
                          <a:latin typeface="Times New Roman"/>
                          <a:ea typeface="Times New Roman"/>
                          <a:cs typeface="Times New Roman"/>
                        </a:rPr>
                        <a:t>Result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400" b="1" i="0">
                          <a:solidFill>
                            <a:srgbClr val="FFFFFF"/>
                          </a:solidFill>
                          <a:latin typeface="Times New Roman"/>
                          <a:ea typeface="Times New Roman"/>
                          <a:cs typeface="Times New Roman"/>
                        </a:rPr>
                        <a:t>Decided by</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c>
                  <a:txBody>
                    <a:bodyPr wrap="square"/>
                    <a:lstStyle/>
                    <a:p>
                      <a:pPr algn="ctr">
                        <a:spcAft>
                          <a:spcPts val="0"/>
                        </a:spcAft>
                      </a:pPr>
                      <a:r>
                        <a:rPr sz="1400" b="1" i="0">
                          <a:solidFill>
                            <a:srgbClr val="FFFFFF"/>
                          </a:solidFill>
                          <a:latin typeface="Times New Roman"/>
                          <a:ea typeface="Times New Roman"/>
                          <a:cs typeface="Times New Roman"/>
                        </a:rPr>
                        <a:t>Time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3F7A46"/>
                    </a:solidFill>
                  </a:tcPr>
                </a:tc>
              </a:tr>
              <a:tr h="342900">
                <a:tc>
                  <a:txBody>
                    <a:bodyPr wrap="square"/>
                    <a:lstStyle/>
                    <a:p>
                      <a:pPr algn="ctr">
                        <a:spcAft>
                          <a:spcPts val="0"/>
                        </a:spcAft>
                      </a:pPr>
                      <a:r>
                        <a:rPr sz="1200" b="0" i="0">
                          <a:solidFill>
                            <a:srgbClr val="222222"/>
                          </a:solidFill>
                          <a:latin typeface="Times New Roman"/>
                          <a:ea typeface="Times New Roman"/>
                          <a:cs typeface="Times New Roman"/>
                        </a:rPr>
                        <a:t>1</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Pasted text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REAL</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REAL</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5 independent outlets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100 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342900">
                <a:tc>
                  <a:txBody>
                    <a:bodyPr wrap="square"/>
                    <a:lstStyle/>
                    <a:p>
                      <a:pPr algn="ctr">
                        <a:spcAft>
                          <a:spcPts val="0"/>
                        </a:spcAft>
                      </a:pPr>
                      <a:r>
                        <a:rPr sz="1200" b="0" i="0">
                          <a:solidFill>
                            <a:srgbClr val="222222"/>
                          </a:solidFill>
                          <a:latin typeface="Times New Roman"/>
                          <a:ea typeface="Times New Roman"/>
                          <a:cs typeface="Times New Roman"/>
                        </a:rPr>
                        <a:t>2</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News link</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REAL</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REAL</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3 independent outlets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33 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342900">
                <a:tc>
                  <a:txBody>
                    <a:bodyPr wrap="square"/>
                    <a:lstStyle/>
                    <a:p>
                      <a:pPr algn="ctr">
                        <a:spcAft>
                          <a:spcPts val="0"/>
                        </a:spcAft>
                      </a:pPr>
                      <a:r>
                        <a:rPr sz="1200" b="0" i="0">
                          <a:solidFill>
                            <a:srgbClr val="222222"/>
                          </a:solidFill>
                          <a:latin typeface="Times New Roman"/>
                          <a:ea typeface="Times New Roman"/>
                          <a:cs typeface="Times New Roman"/>
                        </a:rPr>
                        <a:t>3</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Screenshot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REAL</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REAL</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5 independent outlets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112 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342900">
                <a:tc>
                  <a:txBody>
                    <a:bodyPr wrap="square"/>
                    <a:lstStyle/>
                    <a:p>
                      <a:pPr algn="ctr">
                        <a:spcAft>
                          <a:spcPts val="0"/>
                        </a:spcAft>
                      </a:pPr>
                      <a:r>
                        <a:rPr sz="1200" b="0" i="0">
                          <a:solidFill>
                            <a:srgbClr val="222222"/>
                          </a:solidFill>
                          <a:latin typeface="Times New Roman"/>
                          <a:ea typeface="Times New Roman"/>
                          <a:cs typeface="Times New Roman"/>
                        </a:rPr>
                        <a:t>4</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Tamil text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REAL</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REAL</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4 independent outlets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30 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342900">
                <a:tc>
                  <a:txBody>
                    <a:bodyPr wrap="square"/>
                    <a:lstStyle/>
                    <a:p>
                      <a:pPr algn="ctr">
                        <a:spcAft>
                          <a:spcPts val="0"/>
                        </a:spcAft>
                      </a:pPr>
                      <a:r>
                        <a:rPr sz="1200" b="0" i="0">
                          <a:solidFill>
                            <a:srgbClr val="222222"/>
                          </a:solidFill>
                          <a:latin typeface="Times New Roman"/>
                          <a:ea typeface="Times New Roman"/>
                          <a:cs typeface="Times New Roman"/>
                        </a:rPr>
                        <a:t>5</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YouTube video</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REAL or CANNOT VERIFY</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CANNOT VERIFY</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No coverage found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55 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342900">
                <a:tc>
                  <a:txBody>
                    <a:bodyPr wrap="square"/>
                    <a:lstStyle/>
                    <a:p>
                      <a:pPr algn="ctr">
                        <a:spcAft>
                          <a:spcPts val="0"/>
                        </a:spcAft>
                      </a:pPr>
                      <a:r>
                        <a:rPr sz="1200" b="0" i="0">
                          <a:solidFill>
                            <a:srgbClr val="222222"/>
                          </a:solidFill>
                          <a:latin typeface="Times New Roman"/>
                          <a:ea typeface="Times New Roman"/>
                          <a:cs typeface="Times New Roman"/>
                        </a:rPr>
                        <a:t>6</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Pasted text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FAKE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FAKE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Premise contradicted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22 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342900">
                <a:tc>
                  <a:txBody>
                    <a:bodyPr wrap="square"/>
                    <a:lstStyle/>
                    <a:p>
                      <a:pPr algn="ctr">
                        <a:spcAft>
                          <a:spcPts val="0"/>
                        </a:spcAft>
                      </a:pPr>
                      <a:r>
                        <a:rPr sz="1200" b="0" i="0">
                          <a:solidFill>
                            <a:srgbClr val="222222"/>
                          </a:solidFill>
                          <a:latin typeface="Times New Roman"/>
                          <a:ea typeface="Times New Roman"/>
                          <a:cs typeface="Times New Roman"/>
                        </a:rPr>
                        <a:t>7</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Screenshot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FAKE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FAKE</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Premise contradicted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30 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342900">
                <a:tc>
                  <a:txBody>
                    <a:bodyPr wrap="square"/>
                    <a:lstStyle/>
                    <a:p>
                      <a:pPr algn="ctr">
                        <a:spcAft>
                          <a:spcPts val="0"/>
                        </a:spcAft>
                      </a:pPr>
                      <a:r>
                        <a:rPr sz="1200" b="0" i="0">
                          <a:solidFill>
                            <a:srgbClr val="222222"/>
                          </a:solidFill>
                          <a:latin typeface="Times New Roman"/>
                          <a:ea typeface="Times New Roman"/>
                          <a:cs typeface="Times New Roman"/>
                        </a:rPr>
                        <a:t>8</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Pasted text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CANNOT VERIFY</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CANNOT VERIFY</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No coverage found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25 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342900">
                <a:tc>
                  <a:txBody>
                    <a:bodyPr wrap="square"/>
                    <a:lstStyle/>
                    <a:p>
                      <a:pPr algn="ctr">
                        <a:spcAft>
                          <a:spcPts val="0"/>
                        </a:spcAft>
                      </a:pPr>
                      <a:r>
                        <a:rPr sz="1200" b="0" i="0">
                          <a:solidFill>
                            <a:srgbClr val="222222"/>
                          </a:solidFill>
                          <a:latin typeface="Times New Roman"/>
                          <a:ea typeface="Times New Roman"/>
                          <a:cs typeface="Times New Roman"/>
                        </a:rPr>
                        <a:t>9</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Pasted text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CANNOT VERIFY</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CANNOT VERIFY</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No coverage found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28 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342900">
                <a:tc>
                  <a:txBody>
                    <a:bodyPr wrap="square"/>
                    <a:lstStyle/>
                    <a:p>
                      <a:pPr algn="ctr">
                        <a:spcAft>
                          <a:spcPts val="0"/>
                        </a:spcAft>
                      </a:pPr>
                      <a:r>
                        <a:rPr sz="1200" b="0" i="0">
                          <a:solidFill>
                            <a:srgbClr val="222222"/>
                          </a:solidFill>
                          <a:latin typeface="Times New Roman"/>
                          <a:ea typeface="Times New Roman"/>
                          <a:cs typeface="Times New Roman"/>
                        </a:rPr>
                        <a:t>10</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Pasted text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Refused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Refused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A question</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&lt; 1 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342900">
                <a:tc>
                  <a:txBody>
                    <a:bodyPr wrap="square"/>
                    <a:lstStyle/>
                    <a:p>
                      <a:pPr algn="ctr">
                        <a:spcAft>
                          <a:spcPts val="0"/>
                        </a:spcAft>
                      </a:pPr>
                      <a:r>
                        <a:rPr sz="1200" b="0" i="0">
                          <a:solidFill>
                            <a:srgbClr val="222222"/>
                          </a:solidFill>
                          <a:latin typeface="Times New Roman"/>
                          <a:ea typeface="Times New Roman"/>
                          <a:cs typeface="Times New Roman"/>
                        </a:rPr>
                        <a:t>11</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Screenshot</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Refused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Refused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A call to action</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&lt; 1 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r h="342900">
                <a:tc>
                  <a:txBody>
                    <a:bodyPr wrap="square"/>
                    <a:lstStyle/>
                    <a:p>
                      <a:pPr algn="ctr">
                        <a:spcAft>
                          <a:spcPts val="0"/>
                        </a:spcAft>
                      </a:pPr>
                      <a:r>
                        <a:rPr sz="1200" b="0" i="0">
                          <a:solidFill>
                            <a:srgbClr val="222222"/>
                          </a:solidFill>
                          <a:latin typeface="Times New Roman"/>
                          <a:ea typeface="Times New Roman"/>
                          <a:cs typeface="Times New Roman"/>
                        </a:rPr>
                        <a:t>12</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News link</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Refused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Refused</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l">
                        <a:spcAft>
                          <a:spcPts val="0"/>
                        </a:spcAft>
                      </a:pPr>
                      <a:r>
                        <a:rPr sz="1200" b="0" i="0">
                          <a:solidFill>
                            <a:srgbClr val="222222"/>
                          </a:solidFill>
                          <a:latin typeface="Times New Roman"/>
                          <a:ea typeface="Times New Roman"/>
                          <a:cs typeface="Times New Roman"/>
                        </a:rPr>
                        <a:t>Site blocks reading</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c>
                  <a:txBody>
                    <a:bodyPr wrap="square"/>
                    <a:lstStyle/>
                    <a:p>
                      <a:pPr algn="ctr">
                        <a:spcAft>
                          <a:spcPts val="0"/>
                        </a:spcAft>
                      </a:pPr>
                      <a:r>
                        <a:rPr sz="1200" b="0" i="0">
                          <a:solidFill>
                            <a:srgbClr val="222222"/>
                          </a:solidFill>
                          <a:latin typeface="Times New Roman"/>
                          <a:ea typeface="Times New Roman"/>
                          <a:cs typeface="Times New Roman"/>
                        </a:rPr>
                        <a:t>&lt; 1 s</a:t>
                      </a:r>
                    </a:p>
                  </a:txBody>
                  <a:tcPr marL="73152" marR="73152" marT="27432" marB="27432" anchor="ctr">
                    <a:lnL w="9525">
                      <a:solidFill>
                        <a:srgbClr val="CBD8CC"/>
                      </a:solidFill>
                    </a:lnL>
                    <a:lnR w="9525">
                      <a:solidFill>
                        <a:srgbClr val="CBD8CC"/>
                      </a:solidFill>
                    </a:lnR>
                    <a:lnT w="9525">
                      <a:solidFill>
                        <a:srgbClr val="CBD8CC"/>
                      </a:solidFill>
                    </a:lnT>
                    <a:lnB w="9525">
                      <a:solidFill>
                        <a:srgbClr val="CBD8CC"/>
                      </a:solidFill>
                    </a:lnB>
                    <a:solidFill>
                      <a:srgbClr val="FFFFFF"/>
                    </a:solidFill>
                  </a:tcPr>
                </a:tc>
              </a:tr>
            </a:tbl>
          </a:graphicData>
        </a:graphic>
      </p:graphicFrame>
      <p:sp>
        <p:nvSpPr>
          <p:cNvPr id="5" name="Rounded Rectangle 4"/>
          <p:cNvSpPr/>
          <p:nvPr/>
        </p:nvSpPr>
        <p:spPr>
          <a:xfrm>
            <a:off x="960120" y="5715000"/>
            <a:ext cx="7909560" cy="658368"/>
          </a:xfrm>
          <a:prstGeom prst="roundRect">
            <a:avLst>
              <a:gd name="adj" fmla="val 8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137160" bIns="137160" wrap="square"/>
          <a:lstStyle/>
          <a:p>
            <a:pPr algn="l">
              <a:spcAft>
                <a:spcPts val="0"/>
              </a:spcAft>
            </a:pPr>
            <a:r>
              <a:rPr sz="1300" b="0" i="0">
                <a:solidFill>
                  <a:srgbClr val="222222"/>
                </a:solidFill>
                <a:latin typeface="Times New Roman"/>
                <a:ea typeface="Times New Roman"/>
                <a:cs typeface="Times New Roman"/>
              </a:rPr>
              <a:t>11 of 12 matched exactly. The AP video, mostly a French interview, found no matching coverage on that run and returned CANNOT VERIFY; it was not called false.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PERFORMANCE &amp; MODEL ROUTING</a:t>
            </a:r>
          </a:p>
        </p:txBody>
      </p:sp>
      <p:graphicFrame>
        <p:nvGraphicFramePr>
          <p:cNvPr id="4" name="Chart 3"/>
          <p:cNvGraphicFramePr>
            <a:graphicFrameLocks noGrp="1"/>
          </p:cNvGraphicFramePr>
          <p:nvPr/>
        </p:nvGraphicFramePr>
        <p:xfrm>
          <a:off x="960120" y="1051560"/>
          <a:ext cx="5074920" cy="4983480"/>
        </p:xfrm>
        <a:graphic>
          <a:graphicData uri="http://schemas.openxmlformats.org/drawingml/2006/chart">
            <c:chart xmlns:c="http://schemas.openxmlformats.org/drawingml/2006/chart" r:id="rId4"/>
          </a:graphicData>
        </a:graphic>
      </p:graphicFrame>
      <p:sp>
        <p:nvSpPr>
          <p:cNvPr id="5" name="TextBox 4"/>
          <p:cNvSpPr txBox="1"/>
          <p:nvPr/>
        </p:nvSpPr>
        <p:spPr>
          <a:xfrm>
            <a:off x="960120" y="6053328"/>
            <a:ext cx="5074920" cy="365760"/>
          </a:xfrm>
          <a:prstGeom prst="rect">
            <a:avLst/>
          </a:prstGeom>
          <a:noFill/>
        </p:spPr>
        <p:txBody>
          <a:bodyPr wrap="square" lIns="0" rIns="0" tIns="0" bIns="0" anchor="t">
            <a:spAutoFit/>
          </a:bodyPr>
          <a:lstStyle/>
          <a:p>
            <a:pPr algn="l">
              <a:spcAft>
                <a:spcPts val="0"/>
              </a:spcAft>
            </a:pPr>
            <a:r>
              <a:rPr sz="1100" b="0" i="1">
                <a:solidFill>
                  <a:srgbClr val="222222"/>
                </a:solidFill>
                <a:latin typeface="Times New Roman"/>
                <a:ea typeface="Times New Roman"/>
                <a:cs typeface="Times New Roman"/>
              </a:rPr>
              <a:t>* Routed to NVIDIA NIM: the local model missed the known contradiction in 3 of 3 runs.</a:t>
            </a:r>
          </a:p>
        </p:txBody>
      </p:sp>
      <p:sp>
        <p:nvSpPr>
          <p:cNvPr id="6" name="Rounded Rectangle 5"/>
          <p:cNvSpPr/>
          <p:nvPr/>
        </p:nvSpPr>
        <p:spPr>
          <a:xfrm>
            <a:off x="6263640" y="1051560"/>
            <a:ext cx="2514600" cy="1207008"/>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7" name="TextBox 6"/>
          <p:cNvSpPr txBox="1"/>
          <p:nvPr/>
        </p:nvSpPr>
        <p:spPr>
          <a:xfrm>
            <a:off x="6400800" y="1161288"/>
            <a:ext cx="2240280" cy="640080"/>
          </a:xfrm>
          <a:prstGeom prst="rect">
            <a:avLst/>
          </a:prstGeom>
          <a:noFill/>
        </p:spPr>
        <p:txBody>
          <a:bodyPr wrap="square" lIns="0" rIns="0" tIns="0" bIns="0" anchor="ctr">
            <a:spAutoFit/>
          </a:bodyPr>
          <a:lstStyle/>
          <a:p>
            <a:pPr algn="ctr">
              <a:spcAft>
                <a:spcPts val="0"/>
              </a:spcAft>
            </a:pPr>
            <a:r>
              <a:rPr sz="2800" b="1" i="0">
                <a:solidFill>
                  <a:srgbClr val="3F7A46"/>
                </a:solidFill>
                <a:latin typeface="Times New Roman"/>
                <a:ea typeface="Times New Roman"/>
                <a:cs typeface="Times New Roman"/>
              </a:rPr>
              <a:t>9 of 10</a:t>
            </a:r>
          </a:p>
        </p:txBody>
      </p:sp>
      <p:sp>
        <p:nvSpPr>
          <p:cNvPr id="8" name="TextBox 7"/>
          <p:cNvSpPr txBox="1"/>
          <p:nvPr/>
        </p:nvSpPr>
        <p:spPr>
          <a:xfrm>
            <a:off x="6400800" y="1828800"/>
            <a:ext cx="2240280" cy="338328"/>
          </a:xfrm>
          <a:prstGeom prst="rect">
            <a:avLst/>
          </a:prstGeom>
          <a:noFill/>
        </p:spPr>
        <p:txBody>
          <a:bodyPr wrap="square" lIns="0" rIns="0" tIns="0" bIns="0" anchor="t">
            <a:spAutoFit/>
          </a:bodyPr>
          <a:lstStyle/>
          <a:p>
            <a:pPr algn="ctr">
              <a:spcAft>
                <a:spcPts val="0"/>
              </a:spcAft>
            </a:pPr>
            <a:r>
              <a:rPr sz="1300" b="1" i="0">
                <a:solidFill>
                  <a:srgbClr val="222222"/>
                </a:solidFill>
                <a:latin typeface="Times New Roman"/>
                <a:ea typeface="Times New Roman"/>
                <a:cs typeface="Times New Roman"/>
              </a:rPr>
              <a:t>model tasks run on the local GPU</a:t>
            </a:r>
          </a:p>
        </p:txBody>
      </p:sp>
      <p:sp>
        <p:nvSpPr>
          <p:cNvPr id="9" name="Rounded Rectangle 8"/>
          <p:cNvSpPr/>
          <p:nvPr/>
        </p:nvSpPr>
        <p:spPr>
          <a:xfrm>
            <a:off x="6263640" y="2395728"/>
            <a:ext cx="2514600" cy="1207008"/>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0" name="TextBox 9"/>
          <p:cNvSpPr txBox="1"/>
          <p:nvPr/>
        </p:nvSpPr>
        <p:spPr>
          <a:xfrm>
            <a:off x="6400800" y="2505456"/>
            <a:ext cx="2240280" cy="640080"/>
          </a:xfrm>
          <a:prstGeom prst="rect">
            <a:avLst/>
          </a:prstGeom>
          <a:noFill/>
        </p:spPr>
        <p:txBody>
          <a:bodyPr wrap="square" lIns="0" rIns="0" tIns="0" bIns="0" anchor="ctr">
            <a:spAutoFit/>
          </a:bodyPr>
          <a:lstStyle/>
          <a:p>
            <a:pPr algn="ctr">
              <a:spcAft>
                <a:spcPts val="0"/>
              </a:spcAft>
            </a:pPr>
            <a:r>
              <a:rPr sz="2800" b="1" i="0">
                <a:solidFill>
                  <a:srgbClr val="3F7A46"/>
                </a:solidFill>
                <a:latin typeface="Times New Roman"/>
                <a:ea typeface="Times New Roman"/>
                <a:cs typeface="Times New Roman"/>
              </a:rPr>
              <a:t>1.47 s</a:t>
            </a:r>
          </a:p>
        </p:txBody>
      </p:sp>
      <p:sp>
        <p:nvSpPr>
          <p:cNvPr id="11" name="TextBox 10"/>
          <p:cNvSpPr txBox="1"/>
          <p:nvPr/>
        </p:nvSpPr>
        <p:spPr>
          <a:xfrm>
            <a:off x="6400800" y="3172968"/>
            <a:ext cx="2240280" cy="338328"/>
          </a:xfrm>
          <a:prstGeom prst="rect">
            <a:avLst/>
          </a:prstGeom>
          <a:noFill/>
        </p:spPr>
        <p:txBody>
          <a:bodyPr wrap="square" lIns="0" rIns="0" tIns="0" bIns="0" anchor="t">
            <a:spAutoFit/>
          </a:bodyPr>
          <a:lstStyle/>
          <a:p>
            <a:pPr algn="ctr">
              <a:spcAft>
                <a:spcPts val="0"/>
              </a:spcAft>
            </a:pPr>
            <a:r>
              <a:rPr sz="1300" b="1" i="0">
                <a:solidFill>
                  <a:srgbClr val="222222"/>
                </a:solidFill>
                <a:latin typeface="Times New Roman"/>
                <a:ea typeface="Times New Roman"/>
                <a:cs typeface="Times New Roman"/>
              </a:rPr>
              <a:t>until the first check is on screen</a:t>
            </a:r>
          </a:p>
        </p:txBody>
      </p:sp>
      <p:sp>
        <p:nvSpPr>
          <p:cNvPr id="12" name="Rounded Rectangle 11"/>
          <p:cNvSpPr/>
          <p:nvPr/>
        </p:nvSpPr>
        <p:spPr>
          <a:xfrm>
            <a:off x="6263640" y="3739896"/>
            <a:ext cx="2514600" cy="1207008"/>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3" name="TextBox 12"/>
          <p:cNvSpPr txBox="1"/>
          <p:nvPr/>
        </p:nvSpPr>
        <p:spPr>
          <a:xfrm>
            <a:off x="6400800" y="3849624"/>
            <a:ext cx="2240280" cy="640080"/>
          </a:xfrm>
          <a:prstGeom prst="rect">
            <a:avLst/>
          </a:prstGeom>
          <a:noFill/>
        </p:spPr>
        <p:txBody>
          <a:bodyPr wrap="square" lIns="0" rIns="0" tIns="0" bIns="0" anchor="ctr">
            <a:spAutoFit/>
          </a:bodyPr>
          <a:lstStyle/>
          <a:p>
            <a:pPr algn="ctr">
              <a:spcAft>
                <a:spcPts val="0"/>
              </a:spcAft>
            </a:pPr>
            <a:r>
              <a:rPr sz="2800" b="1" i="0">
                <a:solidFill>
                  <a:srgbClr val="3F7A46"/>
                </a:solidFill>
                <a:latin typeface="Times New Roman"/>
                <a:ea typeface="Times New Roman"/>
                <a:cs typeface="Times New Roman"/>
              </a:rPr>
              <a:t>2.7 ms</a:t>
            </a:r>
          </a:p>
        </p:txBody>
      </p:sp>
      <p:sp>
        <p:nvSpPr>
          <p:cNvPr id="14" name="TextBox 13"/>
          <p:cNvSpPr txBox="1"/>
          <p:nvPr/>
        </p:nvSpPr>
        <p:spPr>
          <a:xfrm>
            <a:off x="6400800" y="4517136"/>
            <a:ext cx="2240280" cy="338328"/>
          </a:xfrm>
          <a:prstGeom prst="rect">
            <a:avLst/>
          </a:prstGeom>
          <a:noFill/>
        </p:spPr>
        <p:txBody>
          <a:bodyPr wrap="square" lIns="0" rIns="0" tIns="0" bIns="0" anchor="t">
            <a:spAutoFit/>
          </a:bodyPr>
          <a:lstStyle/>
          <a:p>
            <a:pPr algn="ctr">
              <a:spcAft>
                <a:spcPts val="0"/>
              </a:spcAft>
            </a:pPr>
            <a:r>
              <a:rPr sz="1300" b="1" i="0">
                <a:solidFill>
                  <a:srgbClr val="222222"/>
                </a:solidFill>
                <a:latin typeface="Times New Roman"/>
                <a:ea typeface="Times New Roman"/>
                <a:cs typeface="Times New Roman"/>
              </a:rPr>
              <a:t>to return a cached report</a:t>
            </a:r>
          </a:p>
        </p:txBody>
      </p:sp>
      <p:sp>
        <p:nvSpPr>
          <p:cNvPr id="15" name="Rounded Rectangle 14"/>
          <p:cNvSpPr/>
          <p:nvPr/>
        </p:nvSpPr>
        <p:spPr>
          <a:xfrm>
            <a:off x="6263640" y="5084064"/>
            <a:ext cx="2514600" cy="1207008"/>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6" name="TextBox 15"/>
          <p:cNvSpPr txBox="1"/>
          <p:nvPr/>
        </p:nvSpPr>
        <p:spPr>
          <a:xfrm>
            <a:off x="6400800" y="5193792"/>
            <a:ext cx="2240280" cy="640080"/>
          </a:xfrm>
          <a:prstGeom prst="rect">
            <a:avLst/>
          </a:prstGeom>
          <a:noFill/>
        </p:spPr>
        <p:txBody>
          <a:bodyPr wrap="square" lIns="0" rIns="0" tIns="0" bIns="0" anchor="ctr">
            <a:spAutoFit/>
          </a:bodyPr>
          <a:lstStyle/>
          <a:p>
            <a:pPr algn="ctr">
              <a:spcAft>
                <a:spcPts val="0"/>
              </a:spcAft>
            </a:pPr>
            <a:r>
              <a:rPr sz="2800" b="1" i="0">
                <a:solidFill>
                  <a:srgbClr val="3F7A46"/>
                </a:solidFill>
                <a:latin typeface="Times New Roman"/>
                <a:ea typeface="Times New Roman"/>
                <a:cs typeface="Times New Roman"/>
              </a:rPr>
              <a:t>182 + 14</a:t>
            </a:r>
          </a:p>
        </p:txBody>
      </p:sp>
      <p:sp>
        <p:nvSpPr>
          <p:cNvPr id="17" name="TextBox 16"/>
          <p:cNvSpPr txBox="1"/>
          <p:nvPr/>
        </p:nvSpPr>
        <p:spPr>
          <a:xfrm>
            <a:off x="6400800" y="5861304"/>
            <a:ext cx="2240280" cy="338328"/>
          </a:xfrm>
          <a:prstGeom prst="rect">
            <a:avLst/>
          </a:prstGeom>
          <a:noFill/>
        </p:spPr>
        <p:txBody>
          <a:bodyPr wrap="square" lIns="0" rIns="0" tIns="0" bIns="0" anchor="t">
            <a:spAutoFit/>
          </a:bodyPr>
          <a:lstStyle/>
          <a:p>
            <a:pPr algn="ctr">
              <a:spcAft>
                <a:spcPts val="0"/>
              </a:spcAft>
            </a:pPr>
            <a:r>
              <a:rPr sz="1300" b="1" i="0">
                <a:solidFill>
                  <a:srgbClr val="222222"/>
                </a:solidFill>
                <a:latin typeface="Times New Roman"/>
                <a:ea typeface="Times New Roman"/>
                <a:cs typeface="Times New Roman"/>
              </a:rPr>
              <a:t>backend and frontend tests passing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GIT TRACKING &amp; DOCUMENTATION</a:t>
            </a:r>
          </a:p>
        </p:txBody>
      </p:sp>
      <p:sp>
        <p:nvSpPr>
          <p:cNvPr id="4" name="Rounded Rectangle 3"/>
          <p:cNvSpPr/>
          <p:nvPr/>
        </p:nvSpPr>
        <p:spPr>
          <a:xfrm>
            <a:off x="960120" y="1188720"/>
            <a:ext cx="7818120" cy="777240"/>
          </a:xfrm>
          <a:prstGeom prst="roundRect">
            <a:avLst>
              <a:gd name="adj" fmla="val 8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wrap="square"/>
          <a:lstStyle/>
          <a:p>
            <a:pPr algn="ctr">
              <a:spcAft>
                <a:spcPts val="0"/>
              </a:spcAft>
            </a:pPr>
            <a:r>
              <a:rPr sz="1600" b="1" i="0">
                <a:solidFill>
                  <a:srgbClr val="222222"/>
                </a:solidFill>
                <a:latin typeface="Times New Roman"/>
                <a:ea typeface="Times New Roman"/>
                <a:cs typeface="Times New Roman"/>
              </a:rPr>
              <a:t>Repo URL:  </a:t>
            </a:r>
            <a:r>
              <a:rPr sz="1600" b="1" i="0">
                <a:solidFill>
                  <a:srgbClr val="1F5FA8"/>
                </a:solidFill>
                <a:latin typeface="Times New Roman"/>
                <a:ea typeface="Times New Roman"/>
                <a:cs typeface="Times New Roman"/>
              </a:rPr>
              <a:t>github.com/Arumuganandhini/FakeNews_Detection</a:t>
            </a:r>
          </a:p>
        </p:txBody>
      </p:sp>
      <p:sp>
        <p:nvSpPr>
          <p:cNvPr id="5" name="TextBox 4"/>
          <p:cNvSpPr txBox="1"/>
          <p:nvPr/>
        </p:nvSpPr>
        <p:spPr>
          <a:xfrm>
            <a:off x="960120" y="2331720"/>
            <a:ext cx="3794760" cy="365760"/>
          </a:xfrm>
          <a:prstGeom prst="rect">
            <a:avLst/>
          </a:prstGeom>
          <a:noFill/>
        </p:spPr>
        <p:txBody>
          <a:bodyPr wrap="square" lIns="0" rIns="0" tIns="0" bIns="0" anchor="t">
            <a:spAutoFit/>
          </a:bodyPr>
          <a:lstStyle/>
          <a:p>
            <a:pPr algn="ctr">
              <a:spcAft>
                <a:spcPts val="0"/>
              </a:spcAft>
            </a:pPr>
            <a:r>
              <a:rPr sz="1700" b="1" i="0">
                <a:solidFill>
                  <a:srgbClr val="FF0000"/>
                </a:solidFill>
                <a:latin typeface="Times New Roman"/>
                <a:ea typeface="Times New Roman"/>
                <a:cs typeface="Times New Roman"/>
              </a:rPr>
              <a:t>Repository</a:t>
            </a:r>
          </a:p>
        </p:txBody>
      </p:sp>
      <p:sp>
        <p:nvSpPr>
          <p:cNvPr id="6" name="Rounded Rectangle 5"/>
          <p:cNvSpPr/>
          <p:nvPr/>
        </p:nvSpPr>
        <p:spPr>
          <a:xfrm>
            <a:off x="960120" y="2788920"/>
            <a:ext cx="3794760" cy="3108960"/>
          </a:xfrm>
          <a:prstGeom prst="roundRect">
            <a:avLst>
              <a:gd name="adj" fmla="val 4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7" name="TextBox 6"/>
          <p:cNvSpPr txBox="1"/>
          <p:nvPr/>
        </p:nvSpPr>
        <p:spPr>
          <a:xfrm>
            <a:off x="1161288" y="2971800"/>
            <a:ext cx="3429000" cy="2788920"/>
          </a:xfrm>
          <a:prstGeom prst="rect">
            <a:avLst/>
          </a:prstGeom>
          <a:noFill/>
        </p:spPr>
        <p:txBody>
          <a:bodyPr wrap="square" lIns="0" rIns="0" tIns="0" bIns="0" anchor="t">
            <a:spAutoFit/>
          </a:bodyPr>
          <a:lstStyle/>
          <a:p>
            <a:pPr algn="l" marL="182880" indent="-182880">
              <a:spcAft>
                <a:spcPts val="1000"/>
              </a:spcAft>
              <a:buFont typeface="Arial"/>
              <a:buChar char="•"/>
            </a:pPr>
            <a:r>
              <a:rPr sz="1500" b="0" i="0">
                <a:solidFill>
                  <a:srgbClr val="222222"/>
                </a:solidFill>
                <a:latin typeface="Times New Roman"/>
                <a:ea typeface="Times New Roman"/>
                <a:cs typeface="Times New Roman"/>
              </a:rPr>
              <a:t>main: stable project</a:t>
            </a:r>
          </a:p>
          <a:p>
            <a:pPr algn="l" marL="182880" indent="-182880">
              <a:spcAft>
                <a:spcPts val="1000"/>
              </a:spcAft>
              <a:buFont typeface="Arial"/>
              <a:buChar char="•"/>
            </a:pPr>
            <a:r>
              <a:rPr sz="1500" b="0" i="0">
                <a:solidFill>
                  <a:srgbClr val="222222"/>
                </a:solidFill>
                <a:latin typeface="Times New Roman"/>
                <a:ea typeface="Times New Roman"/>
                <a:cs typeface="Times New Roman"/>
              </a:rPr>
              <a:t>project: development branch</a:t>
            </a:r>
          </a:p>
          <a:p>
            <a:pPr algn="l" marL="182880" indent="-182880">
              <a:spcAft>
                <a:spcPts val="1000"/>
              </a:spcAft>
              <a:buFont typeface="Arial"/>
              <a:buChar char="•"/>
            </a:pPr>
            <a:r>
              <a:rPr sz="1500" b="0" i="0">
                <a:solidFill>
                  <a:srgbClr val="222222"/>
                </a:solidFill>
                <a:latin typeface="Times New Roman"/>
                <a:ea typeface="Times New Roman"/>
                <a:cs typeface="Times New Roman"/>
              </a:rPr>
              <a:t>API keys, .env files and datasets excluded</a:t>
            </a:r>
          </a:p>
          <a:p>
            <a:pPr algn="l" marL="182880" indent="-182880">
              <a:spcAft>
                <a:spcPts val="1000"/>
              </a:spcAft>
              <a:buFont typeface="Arial"/>
              <a:buChar char="•"/>
            </a:pPr>
            <a:r>
              <a:rPr sz="1500" b="0" i="0">
                <a:solidFill>
                  <a:srgbClr val="222222"/>
                </a:solidFill>
                <a:latin typeface="Times New Roman"/>
                <a:ea typeface="Times New Roman"/>
                <a:cs typeface="Times New Roman"/>
              </a:rPr>
              <a:t>Every change committed and pushed</a:t>
            </a:r>
          </a:p>
          <a:p>
            <a:pPr algn="l" marL="182880" indent="-182880">
              <a:spcAft>
                <a:spcPts val="1000"/>
              </a:spcAft>
              <a:buFont typeface="Arial"/>
              <a:buChar char="•"/>
            </a:pPr>
            <a:r>
              <a:rPr sz="1500" b="0" i="0">
                <a:solidFill>
                  <a:srgbClr val="222222"/>
                </a:solidFill>
                <a:latin typeface="Times New Roman"/>
                <a:ea typeface="Times New Roman"/>
                <a:cs typeface="Times New Roman"/>
              </a:rPr>
              <a:t>Backend and frontend tests run on every change</a:t>
            </a:r>
          </a:p>
        </p:txBody>
      </p:sp>
      <p:sp>
        <p:nvSpPr>
          <p:cNvPr id="8" name="TextBox 7"/>
          <p:cNvSpPr txBox="1"/>
          <p:nvPr/>
        </p:nvSpPr>
        <p:spPr>
          <a:xfrm>
            <a:off x="4983480" y="2331720"/>
            <a:ext cx="3794760" cy="365760"/>
          </a:xfrm>
          <a:prstGeom prst="rect">
            <a:avLst/>
          </a:prstGeom>
          <a:noFill/>
        </p:spPr>
        <p:txBody>
          <a:bodyPr wrap="square" lIns="0" rIns="0" tIns="0" bIns="0" anchor="t">
            <a:spAutoFit/>
          </a:bodyPr>
          <a:lstStyle/>
          <a:p>
            <a:pPr algn="ctr">
              <a:spcAft>
                <a:spcPts val="0"/>
              </a:spcAft>
            </a:pPr>
            <a:r>
              <a:rPr sz="1700" b="1" i="0">
                <a:solidFill>
                  <a:srgbClr val="FF0000"/>
                </a:solidFill>
                <a:latin typeface="Times New Roman"/>
                <a:ea typeface="Times New Roman"/>
                <a:cs typeface="Times New Roman"/>
              </a:rPr>
              <a:t>Documentation</a:t>
            </a:r>
          </a:p>
        </p:txBody>
      </p:sp>
      <p:sp>
        <p:nvSpPr>
          <p:cNvPr id="9" name="Rounded Rectangle 8"/>
          <p:cNvSpPr/>
          <p:nvPr/>
        </p:nvSpPr>
        <p:spPr>
          <a:xfrm>
            <a:off x="4983480" y="2788920"/>
            <a:ext cx="3794760" cy="3108960"/>
          </a:xfrm>
          <a:prstGeom prst="roundRect">
            <a:avLst>
              <a:gd name="adj" fmla="val 4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0" name="TextBox 9"/>
          <p:cNvSpPr txBox="1"/>
          <p:nvPr/>
        </p:nvSpPr>
        <p:spPr>
          <a:xfrm>
            <a:off x="5184648" y="2971800"/>
            <a:ext cx="3429000" cy="2788920"/>
          </a:xfrm>
          <a:prstGeom prst="rect">
            <a:avLst/>
          </a:prstGeom>
          <a:noFill/>
        </p:spPr>
        <p:txBody>
          <a:bodyPr wrap="square" lIns="0" rIns="0" tIns="0" bIns="0" anchor="t">
            <a:spAutoFit/>
          </a:bodyPr>
          <a:lstStyle/>
          <a:p>
            <a:pPr algn="l" marL="182880" indent="-182880">
              <a:spcAft>
                <a:spcPts val="1000"/>
              </a:spcAft>
              <a:buFont typeface="Arial"/>
              <a:buChar char="•"/>
            </a:pPr>
            <a:r>
              <a:rPr sz="1500" b="0" i="0">
                <a:solidFill>
                  <a:srgbClr val="222222"/>
                </a:solidFill>
                <a:latin typeface="Times New Roman"/>
                <a:ea typeface="Times New Roman"/>
                <a:cs typeface="Times New Roman"/>
              </a:rPr>
              <a:t>Project report in the college format: 6 chapters, appendix, references, SDG page (56 pages)</a:t>
            </a:r>
          </a:p>
          <a:p>
            <a:pPr algn="l" marL="182880" indent="-182880">
              <a:spcAft>
                <a:spcPts val="1000"/>
              </a:spcAft>
              <a:buFont typeface="Arial"/>
              <a:buChar char="•"/>
            </a:pPr>
            <a:r>
              <a:rPr sz="1500" b="0" i="0">
                <a:solidFill>
                  <a:srgbClr val="222222"/>
                </a:solidFill>
                <a:latin typeface="Times New Roman"/>
                <a:ea typeface="Times New Roman"/>
                <a:cs typeface="Times New Roman"/>
              </a:rPr>
              <a:t>docs/measurements.md: every result with the command that reproduces it</a:t>
            </a:r>
          </a:p>
          <a:p>
            <a:pPr algn="l" marL="182880" indent="-182880">
              <a:spcAft>
                <a:spcPts val="1000"/>
              </a:spcAft>
              <a:buFont typeface="Arial"/>
              <a:buChar char="•"/>
            </a:pPr>
            <a:r>
              <a:rPr sz="1500" b="0" i="0">
                <a:solidFill>
                  <a:srgbClr val="222222"/>
                </a:solidFill>
                <a:latin typeface="Times New Roman"/>
                <a:ea typeface="Times New Roman"/>
                <a:cs typeface="Times New Roman"/>
              </a:rPr>
              <a:t>backend/eval: held-out, adversarial and end-to-end test scripts</a:t>
            </a:r>
          </a:p>
          <a:p>
            <a:pPr algn="l" marL="182880" indent="-182880">
              <a:spcAft>
                <a:spcPts val="1000"/>
              </a:spcAft>
              <a:buFont typeface="Arial"/>
              <a:buChar char="•"/>
            </a:pPr>
            <a:r>
              <a:rPr sz="1500" b="0" i="0">
                <a:solidFill>
                  <a:srgbClr val="222222"/>
                </a:solidFill>
                <a:latin typeface="Times New Roman"/>
                <a:ea typeface="Times New Roman"/>
                <a:cs typeface="Times New Roman"/>
              </a:rPr>
              <a:t>Automated tests: 182 backend, 14 frontend, all passing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SDG GOALS ADDRESSED</a:t>
            </a:r>
          </a:p>
        </p:txBody>
      </p:sp>
      <p:sp>
        <p:nvSpPr>
          <p:cNvPr id="4" name="TextBox 3"/>
          <p:cNvSpPr txBox="1"/>
          <p:nvPr/>
        </p:nvSpPr>
        <p:spPr>
          <a:xfrm>
            <a:off x="1005840" y="1097280"/>
            <a:ext cx="7726679" cy="548640"/>
          </a:xfrm>
          <a:prstGeom prst="rect">
            <a:avLst/>
          </a:prstGeom>
          <a:noFill/>
        </p:spPr>
        <p:txBody>
          <a:bodyPr wrap="square" lIns="0" rIns="0" tIns="0" bIns="0" anchor="t">
            <a:spAutoFit/>
          </a:bodyPr>
          <a:lstStyle/>
          <a:p>
            <a:pPr algn="ctr">
              <a:spcAft>
                <a:spcPts val="0"/>
              </a:spcAft>
            </a:pPr>
            <a:r>
              <a:rPr sz="1500" b="1" i="0">
                <a:solidFill>
                  <a:srgbClr val="222222"/>
                </a:solidFill>
                <a:latin typeface="Times New Roman"/>
                <a:ea typeface="Times New Roman"/>
                <a:cs typeface="Times New Roman"/>
              </a:rPr>
              <a:t>Reliable verification that any reader can check, without removing or blocking content.</a:t>
            </a:r>
          </a:p>
        </p:txBody>
      </p:sp>
      <p:sp>
        <p:nvSpPr>
          <p:cNvPr id="5" name="Rounded Rectangle 4"/>
          <p:cNvSpPr/>
          <p:nvPr/>
        </p:nvSpPr>
        <p:spPr>
          <a:xfrm>
            <a:off x="960120" y="1828800"/>
            <a:ext cx="2514600" cy="4023360"/>
          </a:xfrm>
          <a:prstGeom prst="roundRect">
            <a:avLst>
              <a:gd name="adj" fmla="val 4000"/>
            </a:avLst>
          </a:prstGeom>
          <a:solidFill>
            <a:srgbClr val="EEF5E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6" name="TextBox 5"/>
          <p:cNvSpPr txBox="1"/>
          <p:nvPr/>
        </p:nvSpPr>
        <p:spPr>
          <a:xfrm>
            <a:off x="1097280" y="1993392"/>
            <a:ext cx="2240280" cy="640080"/>
          </a:xfrm>
          <a:prstGeom prst="rect">
            <a:avLst/>
          </a:prstGeom>
          <a:noFill/>
        </p:spPr>
        <p:txBody>
          <a:bodyPr wrap="square" lIns="0" rIns="0" tIns="0" bIns="0" anchor="ctr">
            <a:spAutoFit/>
          </a:bodyPr>
          <a:lstStyle/>
          <a:p>
            <a:pPr algn="ctr">
              <a:spcAft>
                <a:spcPts val="0"/>
              </a:spcAft>
            </a:pPr>
            <a:r>
              <a:rPr sz="3200" b="1" i="0">
                <a:solidFill>
                  <a:srgbClr val="3F7A46"/>
                </a:solidFill>
                <a:latin typeface="Times New Roman"/>
                <a:ea typeface="Times New Roman"/>
                <a:cs typeface="Times New Roman"/>
              </a:rPr>
              <a:t>SDG 16</a:t>
            </a:r>
          </a:p>
        </p:txBody>
      </p:sp>
      <p:sp>
        <p:nvSpPr>
          <p:cNvPr id="7" name="TextBox 6"/>
          <p:cNvSpPr txBox="1"/>
          <p:nvPr/>
        </p:nvSpPr>
        <p:spPr>
          <a:xfrm>
            <a:off x="1097280" y="2697480"/>
            <a:ext cx="2240280" cy="658368"/>
          </a:xfrm>
          <a:prstGeom prst="rect">
            <a:avLst/>
          </a:prstGeom>
          <a:noFill/>
        </p:spPr>
        <p:txBody>
          <a:bodyPr wrap="square" lIns="0" rIns="0" tIns="0" bIns="0" anchor="ctr">
            <a:spAutoFit/>
          </a:bodyPr>
          <a:lstStyle/>
          <a:p>
            <a:pPr algn="ctr">
              <a:spcAft>
                <a:spcPts val="0"/>
              </a:spcAft>
            </a:pPr>
            <a:r>
              <a:rPr sz="1500" b="1" i="0">
                <a:solidFill>
                  <a:srgbClr val="FF0000"/>
                </a:solidFill>
                <a:latin typeface="Times New Roman"/>
                <a:ea typeface="Times New Roman"/>
                <a:cs typeface="Times New Roman"/>
              </a:rPr>
              <a:t>Peace, Justice and Strong Institutions</a:t>
            </a:r>
          </a:p>
        </p:txBody>
      </p:sp>
      <p:sp>
        <p:nvSpPr>
          <p:cNvPr id="8" name="TextBox 7"/>
          <p:cNvSpPr txBox="1"/>
          <p:nvPr/>
        </p:nvSpPr>
        <p:spPr>
          <a:xfrm>
            <a:off x="1143000" y="3474720"/>
            <a:ext cx="2148840" cy="2286000"/>
          </a:xfrm>
          <a:prstGeom prst="rect">
            <a:avLst/>
          </a:prstGeom>
          <a:noFill/>
        </p:spPr>
        <p:txBody>
          <a:bodyPr wrap="square" lIns="0" rIns="0" tIns="0" bIns="0" anchor="t">
            <a:spAutoFit/>
          </a:bodyPr>
          <a:lstStyle/>
          <a:p>
            <a:pPr algn="l">
              <a:spcAft>
                <a:spcPts val="0"/>
              </a:spcAft>
            </a:pPr>
            <a:r>
              <a:rPr sz="1500" b="0" i="0">
                <a:solidFill>
                  <a:srgbClr val="222222"/>
                </a:solidFill>
                <a:latin typeface="Times New Roman"/>
                <a:ea typeface="Times New Roman"/>
                <a:cs typeface="Times New Roman"/>
              </a:rPr>
              <a:t>Target 16.10, public access to information: every verdict comes with its reason, the outlets involved and quoted text. Impersonating pages are flagged; opinion is not judged.</a:t>
            </a:r>
          </a:p>
        </p:txBody>
      </p:sp>
      <p:sp>
        <p:nvSpPr>
          <p:cNvPr id="9" name="Rounded Rectangle 8"/>
          <p:cNvSpPr/>
          <p:nvPr/>
        </p:nvSpPr>
        <p:spPr>
          <a:xfrm>
            <a:off x="3611880" y="1828800"/>
            <a:ext cx="2514600" cy="4023360"/>
          </a:xfrm>
          <a:prstGeom prst="roundRect">
            <a:avLst>
              <a:gd name="adj" fmla="val 4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0" name="TextBox 9"/>
          <p:cNvSpPr txBox="1"/>
          <p:nvPr/>
        </p:nvSpPr>
        <p:spPr>
          <a:xfrm>
            <a:off x="3749040" y="1993392"/>
            <a:ext cx="2240280" cy="640080"/>
          </a:xfrm>
          <a:prstGeom prst="rect">
            <a:avLst/>
          </a:prstGeom>
          <a:noFill/>
        </p:spPr>
        <p:txBody>
          <a:bodyPr wrap="square" lIns="0" rIns="0" tIns="0" bIns="0" anchor="ctr">
            <a:spAutoFit/>
          </a:bodyPr>
          <a:lstStyle/>
          <a:p>
            <a:pPr algn="ctr">
              <a:spcAft>
                <a:spcPts val="0"/>
              </a:spcAft>
            </a:pPr>
            <a:r>
              <a:rPr sz="3200" b="1" i="0">
                <a:solidFill>
                  <a:srgbClr val="3F7A46"/>
                </a:solidFill>
                <a:latin typeface="Times New Roman"/>
                <a:ea typeface="Times New Roman"/>
                <a:cs typeface="Times New Roman"/>
              </a:rPr>
              <a:t>SDG 4</a:t>
            </a:r>
          </a:p>
        </p:txBody>
      </p:sp>
      <p:sp>
        <p:nvSpPr>
          <p:cNvPr id="11" name="TextBox 10"/>
          <p:cNvSpPr txBox="1"/>
          <p:nvPr/>
        </p:nvSpPr>
        <p:spPr>
          <a:xfrm>
            <a:off x="3749040" y="2697480"/>
            <a:ext cx="2240280" cy="658368"/>
          </a:xfrm>
          <a:prstGeom prst="rect">
            <a:avLst/>
          </a:prstGeom>
          <a:noFill/>
        </p:spPr>
        <p:txBody>
          <a:bodyPr wrap="square" lIns="0" rIns="0" tIns="0" bIns="0" anchor="ctr">
            <a:spAutoFit/>
          </a:bodyPr>
          <a:lstStyle/>
          <a:p>
            <a:pPr algn="ctr">
              <a:spcAft>
                <a:spcPts val="0"/>
              </a:spcAft>
            </a:pPr>
            <a:r>
              <a:rPr sz="1500" b="1" i="0">
                <a:solidFill>
                  <a:srgbClr val="FF0000"/>
                </a:solidFill>
                <a:latin typeface="Times New Roman"/>
                <a:ea typeface="Times New Roman"/>
                <a:cs typeface="Times New Roman"/>
              </a:rPr>
              <a:t>Quality Education</a:t>
            </a:r>
          </a:p>
        </p:txBody>
      </p:sp>
      <p:sp>
        <p:nvSpPr>
          <p:cNvPr id="12" name="TextBox 11"/>
          <p:cNvSpPr txBox="1"/>
          <p:nvPr/>
        </p:nvSpPr>
        <p:spPr>
          <a:xfrm>
            <a:off x="3794760" y="3474720"/>
            <a:ext cx="2148840" cy="2286000"/>
          </a:xfrm>
          <a:prstGeom prst="rect">
            <a:avLst/>
          </a:prstGeom>
          <a:noFill/>
        </p:spPr>
        <p:txBody>
          <a:bodyPr wrap="square" lIns="0" rIns="0" tIns="0" bIns="0" anchor="t">
            <a:spAutoFit/>
          </a:bodyPr>
          <a:lstStyle/>
          <a:p>
            <a:pPr algn="l">
              <a:spcAft>
                <a:spcPts val="0"/>
              </a:spcAft>
            </a:pPr>
            <a:r>
              <a:rPr sz="1500" b="0" i="0">
                <a:solidFill>
                  <a:srgbClr val="222222"/>
                </a:solidFill>
                <a:latin typeface="Times New Roman"/>
                <a:ea typeface="Times New Roman"/>
                <a:cs typeface="Times New Roman"/>
              </a:rPr>
              <a:t>Quoted evidence shows readers how to judge a story themselves, building media literacy instead of asking for blind trust.</a:t>
            </a:r>
          </a:p>
        </p:txBody>
      </p:sp>
      <p:sp>
        <p:nvSpPr>
          <p:cNvPr id="13" name="Rounded Rectangle 12"/>
          <p:cNvSpPr/>
          <p:nvPr/>
        </p:nvSpPr>
        <p:spPr>
          <a:xfrm>
            <a:off x="6263640" y="1828800"/>
            <a:ext cx="2514600" cy="4023360"/>
          </a:xfrm>
          <a:prstGeom prst="roundRect">
            <a:avLst>
              <a:gd name="adj" fmla="val 4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14" name="TextBox 13"/>
          <p:cNvSpPr txBox="1"/>
          <p:nvPr/>
        </p:nvSpPr>
        <p:spPr>
          <a:xfrm>
            <a:off x="6400800" y="1993392"/>
            <a:ext cx="2240280" cy="640080"/>
          </a:xfrm>
          <a:prstGeom prst="rect">
            <a:avLst/>
          </a:prstGeom>
          <a:noFill/>
        </p:spPr>
        <p:txBody>
          <a:bodyPr wrap="square" lIns="0" rIns="0" tIns="0" bIns="0" anchor="ctr">
            <a:spAutoFit/>
          </a:bodyPr>
          <a:lstStyle/>
          <a:p>
            <a:pPr algn="ctr">
              <a:spcAft>
                <a:spcPts val="0"/>
              </a:spcAft>
            </a:pPr>
            <a:r>
              <a:rPr sz="3200" b="1" i="0">
                <a:solidFill>
                  <a:srgbClr val="3F7A46"/>
                </a:solidFill>
                <a:latin typeface="Times New Roman"/>
                <a:ea typeface="Times New Roman"/>
                <a:cs typeface="Times New Roman"/>
              </a:rPr>
              <a:t>SDG 9</a:t>
            </a:r>
          </a:p>
        </p:txBody>
      </p:sp>
      <p:sp>
        <p:nvSpPr>
          <p:cNvPr id="15" name="TextBox 14"/>
          <p:cNvSpPr txBox="1"/>
          <p:nvPr/>
        </p:nvSpPr>
        <p:spPr>
          <a:xfrm>
            <a:off x="6400800" y="2697480"/>
            <a:ext cx="2240280" cy="658368"/>
          </a:xfrm>
          <a:prstGeom prst="rect">
            <a:avLst/>
          </a:prstGeom>
          <a:noFill/>
        </p:spPr>
        <p:txBody>
          <a:bodyPr wrap="square" lIns="0" rIns="0" tIns="0" bIns="0" anchor="ctr">
            <a:spAutoFit/>
          </a:bodyPr>
          <a:lstStyle/>
          <a:p>
            <a:pPr algn="ctr">
              <a:spcAft>
                <a:spcPts val="0"/>
              </a:spcAft>
            </a:pPr>
            <a:r>
              <a:rPr sz="1500" b="1" i="0">
                <a:solidFill>
                  <a:srgbClr val="FF0000"/>
                </a:solidFill>
                <a:latin typeface="Times New Roman"/>
                <a:ea typeface="Times New Roman"/>
                <a:cs typeface="Times New Roman"/>
              </a:rPr>
              <a:t>Industry, Innovation and Infrastructure</a:t>
            </a:r>
          </a:p>
        </p:txBody>
      </p:sp>
      <p:sp>
        <p:nvSpPr>
          <p:cNvPr id="16" name="TextBox 15"/>
          <p:cNvSpPr txBox="1"/>
          <p:nvPr/>
        </p:nvSpPr>
        <p:spPr>
          <a:xfrm>
            <a:off x="6446520" y="3474720"/>
            <a:ext cx="2148840" cy="2286000"/>
          </a:xfrm>
          <a:prstGeom prst="rect">
            <a:avLst/>
          </a:prstGeom>
          <a:noFill/>
        </p:spPr>
        <p:txBody>
          <a:bodyPr wrap="square" lIns="0" rIns="0" tIns="0" bIns="0" anchor="t">
            <a:spAutoFit/>
          </a:bodyPr>
          <a:lstStyle/>
          <a:p>
            <a:pPr algn="l">
              <a:spcAft>
                <a:spcPts val="0"/>
              </a:spcAft>
            </a:pPr>
            <a:r>
              <a:rPr sz="1500" b="0" i="0">
                <a:solidFill>
                  <a:srgbClr val="222222"/>
                </a:solidFill>
                <a:latin typeface="Times New Roman"/>
                <a:ea typeface="Times New Roman"/>
                <a:cs typeface="Times New Roman"/>
              </a:rPr>
              <a:t>Verification at low cost: nine of ten model tasks run on a laptop GPU, and Tamil and other Indian-language input is accepted.</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OUTPUT</a:t>
            </a:r>
          </a:p>
        </p:txBody>
      </p:sp>
      <p:pic>
        <p:nvPicPr>
          <p:cNvPr id="4" name="Picture 3" descr="home.png"/>
          <p:cNvPicPr>
            <a:picLocks noChangeAspect="1"/>
          </p:cNvPicPr>
          <p:nvPr/>
        </p:nvPicPr>
        <p:blipFill>
          <a:blip r:embed="rId4"/>
          <a:stretch>
            <a:fillRect/>
          </a:stretch>
        </p:blipFill>
        <p:spPr>
          <a:xfrm>
            <a:off x="960120" y="2004536"/>
            <a:ext cx="3840480" cy="2940367"/>
          </a:xfrm>
          <a:prstGeom prst="rect">
            <a:avLst/>
          </a:prstGeom>
          <a:ln w="9525">
            <a:solidFill>
              <a:srgbClr val="CBD8CC"/>
            </a:solidFill>
          </a:ln>
        </p:spPr>
      </p:pic>
      <p:sp>
        <p:nvSpPr>
          <p:cNvPr id="5" name="TextBox 4"/>
          <p:cNvSpPr txBox="1"/>
          <p:nvPr/>
        </p:nvSpPr>
        <p:spPr>
          <a:xfrm>
            <a:off x="960120" y="5109495"/>
            <a:ext cx="3840480" cy="365760"/>
          </a:xfrm>
          <a:prstGeom prst="rect">
            <a:avLst/>
          </a:prstGeom>
          <a:noFill/>
        </p:spPr>
        <p:txBody>
          <a:bodyPr wrap="square" lIns="0" rIns="0" tIns="0" bIns="0" anchor="t">
            <a:spAutoFit/>
          </a:bodyPr>
          <a:lstStyle/>
          <a:p>
            <a:pPr algn="ctr">
              <a:spcAft>
                <a:spcPts val="0"/>
              </a:spcAft>
            </a:pPr>
            <a:r>
              <a:rPr sz="1500" b="1" i="0">
                <a:solidFill>
                  <a:srgbClr val="3F7A46"/>
                </a:solidFill>
                <a:latin typeface="Times New Roman"/>
                <a:ea typeface="Times New Roman"/>
                <a:cs typeface="Times New Roman"/>
              </a:rPr>
              <a:t>Front page with trust stamps</a:t>
            </a:r>
          </a:p>
        </p:txBody>
      </p:sp>
      <p:pic>
        <p:nvPicPr>
          <p:cNvPr id="6" name="Picture 5" descr="check_form.png"/>
          <p:cNvPicPr>
            <a:picLocks noChangeAspect="1"/>
          </p:cNvPicPr>
          <p:nvPr/>
        </p:nvPicPr>
        <p:blipFill>
          <a:blip r:embed="rId5"/>
          <a:stretch>
            <a:fillRect/>
          </a:stretch>
        </p:blipFill>
        <p:spPr>
          <a:xfrm>
            <a:off x="4937759" y="2165792"/>
            <a:ext cx="3840480" cy="2617855"/>
          </a:xfrm>
          <a:prstGeom prst="rect">
            <a:avLst/>
          </a:prstGeom>
          <a:ln w="9525">
            <a:solidFill>
              <a:srgbClr val="CBD8CC"/>
            </a:solidFill>
          </a:ln>
        </p:spPr>
      </p:pic>
      <p:sp>
        <p:nvSpPr>
          <p:cNvPr id="7" name="TextBox 6"/>
          <p:cNvSpPr txBox="1"/>
          <p:nvPr/>
        </p:nvSpPr>
        <p:spPr>
          <a:xfrm>
            <a:off x="4937759" y="5109495"/>
            <a:ext cx="3840480" cy="365760"/>
          </a:xfrm>
          <a:prstGeom prst="rect">
            <a:avLst/>
          </a:prstGeom>
          <a:noFill/>
        </p:spPr>
        <p:txBody>
          <a:bodyPr wrap="square" lIns="0" rIns="0" tIns="0" bIns="0" anchor="t">
            <a:spAutoFit/>
          </a:bodyPr>
          <a:lstStyle/>
          <a:p>
            <a:pPr algn="ctr">
              <a:spcAft>
                <a:spcPts val="0"/>
              </a:spcAft>
            </a:pPr>
            <a:r>
              <a:rPr sz="1500" b="1" i="0">
                <a:solidFill>
                  <a:srgbClr val="3F7A46"/>
                </a:solidFill>
                <a:latin typeface="Times New Roman"/>
                <a:ea typeface="Times New Roman"/>
                <a:cs typeface="Times New Roman"/>
              </a:rPr>
              <a:t>Check Anything page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OUTPUT</a:t>
            </a:r>
          </a:p>
        </p:txBody>
      </p:sp>
      <p:pic>
        <p:nvPicPr>
          <p:cNvPr id="4" name="Picture 3" descr="check_real.png"/>
          <p:cNvPicPr>
            <a:picLocks noChangeAspect="1"/>
          </p:cNvPicPr>
          <p:nvPr/>
        </p:nvPicPr>
        <p:blipFill>
          <a:blip r:embed="rId4"/>
          <a:stretch>
            <a:fillRect/>
          </a:stretch>
        </p:blipFill>
        <p:spPr>
          <a:xfrm>
            <a:off x="960120" y="2362134"/>
            <a:ext cx="3840480" cy="2225170"/>
          </a:xfrm>
          <a:prstGeom prst="rect">
            <a:avLst/>
          </a:prstGeom>
          <a:ln w="9525">
            <a:solidFill>
              <a:srgbClr val="CBD8CC"/>
            </a:solidFill>
          </a:ln>
        </p:spPr>
      </p:pic>
      <p:sp>
        <p:nvSpPr>
          <p:cNvPr id="5" name="TextBox 4"/>
          <p:cNvSpPr txBox="1"/>
          <p:nvPr/>
        </p:nvSpPr>
        <p:spPr>
          <a:xfrm>
            <a:off x="960120" y="4841178"/>
            <a:ext cx="3840480" cy="365760"/>
          </a:xfrm>
          <a:prstGeom prst="rect">
            <a:avLst/>
          </a:prstGeom>
          <a:noFill/>
        </p:spPr>
        <p:txBody>
          <a:bodyPr wrap="square" lIns="0" rIns="0" tIns="0" bIns="0" anchor="t">
            <a:spAutoFit/>
          </a:bodyPr>
          <a:lstStyle/>
          <a:p>
            <a:pPr algn="ctr">
              <a:spcAft>
                <a:spcPts val="0"/>
              </a:spcAft>
            </a:pPr>
            <a:r>
              <a:rPr sz="1500" b="1" i="0">
                <a:solidFill>
                  <a:srgbClr val="3F7A46"/>
                </a:solidFill>
                <a:latin typeface="Times New Roman"/>
                <a:ea typeface="Times New Roman"/>
                <a:cs typeface="Times New Roman"/>
              </a:rPr>
              <a:t>Verdict: genuine report confirmed</a:t>
            </a:r>
          </a:p>
        </p:txBody>
      </p:sp>
      <p:pic>
        <p:nvPicPr>
          <p:cNvPr id="6" name="Picture 5" descr="check_fake.png"/>
          <p:cNvPicPr>
            <a:picLocks noChangeAspect="1"/>
          </p:cNvPicPr>
          <p:nvPr/>
        </p:nvPicPr>
        <p:blipFill>
          <a:blip r:embed="rId5"/>
          <a:stretch>
            <a:fillRect/>
          </a:stretch>
        </p:blipFill>
        <p:spPr>
          <a:xfrm>
            <a:off x="4937759" y="2272853"/>
            <a:ext cx="3840480" cy="2403733"/>
          </a:xfrm>
          <a:prstGeom prst="rect">
            <a:avLst/>
          </a:prstGeom>
          <a:ln w="9525">
            <a:solidFill>
              <a:srgbClr val="CBD8CC"/>
            </a:solidFill>
          </a:ln>
        </p:spPr>
      </p:pic>
      <p:sp>
        <p:nvSpPr>
          <p:cNvPr id="7" name="TextBox 6"/>
          <p:cNvSpPr txBox="1"/>
          <p:nvPr/>
        </p:nvSpPr>
        <p:spPr>
          <a:xfrm>
            <a:off x="4937759" y="4841178"/>
            <a:ext cx="3840480" cy="365760"/>
          </a:xfrm>
          <a:prstGeom prst="rect">
            <a:avLst/>
          </a:prstGeom>
          <a:noFill/>
        </p:spPr>
        <p:txBody>
          <a:bodyPr wrap="square" lIns="0" rIns="0" tIns="0" bIns="0" anchor="t">
            <a:spAutoFit/>
          </a:bodyPr>
          <a:lstStyle/>
          <a:p>
            <a:pPr algn="ctr">
              <a:spcAft>
                <a:spcPts val="0"/>
              </a:spcAft>
            </a:pPr>
            <a:r>
              <a:rPr sz="1500" b="1" i="0">
                <a:solidFill>
                  <a:srgbClr val="3F7A46"/>
                </a:solidFill>
                <a:latin typeface="Times New Roman"/>
                <a:ea typeface="Times New Roman"/>
                <a:cs typeface="Times New Roman"/>
              </a:rPr>
              <a:t>Verdict: false premise refuted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OUTPUT</a:t>
            </a:r>
          </a:p>
        </p:txBody>
      </p:sp>
      <p:pic>
        <p:nvPicPr>
          <p:cNvPr id="4" name="Picture 3" descr="article_crop.png"/>
          <p:cNvPicPr>
            <a:picLocks noChangeAspect="1"/>
          </p:cNvPicPr>
          <p:nvPr/>
        </p:nvPicPr>
        <p:blipFill>
          <a:blip r:embed="rId4"/>
          <a:stretch>
            <a:fillRect/>
          </a:stretch>
        </p:blipFill>
        <p:spPr>
          <a:xfrm>
            <a:off x="960120" y="1754505"/>
            <a:ext cx="3840480" cy="3440430"/>
          </a:xfrm>
          <a:prstGeom prst="rect">
            <a:avLst/>
          </a:prstGeom>
          <a:ln w="9525">
            <a:solidFill>
              <a:srgbClr val="CBD8CC"/>
            </a:solidFill>
          </a:ln>
        </p:spPr>
      </p:pic>
      <p:sp>
        <p:nvSpPr>
          <p:cNvPr id="5" name="TextBox 4"/>
          <p:cNvSpPr txBox="1"/>
          <p:nvPr/>
        </p:nvSpPr>
        <p:spPr>
          <a:xfrm>
            <a:off x="960120" y="5474541"/>
            <a:ext cx="3840480" cy="365760"/>
          </a:xfrm>
          <a:prstGeom prst="rect">
            <a:avLst/>
          </a:prstGeom>
          <a:noFill/>
        </p:spPr>
        <p:txBody>
          <a:bodyPr wrap="square" lIns="0" rIns="0" tIns="0" bIns="0" anchor="t">
            <a:spAutoFit/>
          </a:bodyPr>
          <a:lstStyle/>
          <a:p>
            <a:pPr algn="ctr">
              <a:spcAft>
                <a:spcPts val="0"/>
              </a:spcAft>
            </a:pPr>
            <a:r>
              <a:rPr sz="1500" b="1" i="0">
                <a:solidFill>
                  <a:srgbClr val="3F7A46"/>
                </a:solidFill>
                <a:latin typeface="Times New Roman"/>
                <a:ea typeface="Times New Roman"/>
                <a:cs typeface="Times New Roman"/>
              </a:rPr>
              <a:t>Article page</a:t>
            </a:r>
          </a:p>
        </p:txBody>
      </p:sp>
      <p:pic>
        <p:nvPicPr>
          <p:cNvPr id="6" name="Picture 5" descr="compare_crop.png"/>
          <p:cNvPicPr>
            <a:picLocks noChangeAspect="1"/>
          </p:cNvPicPr>
          <p:nvPr/>
        </p:nvPicPr>
        <p:blipFill>
          <a:blip r:embed="rId5"/>
          <a:stretch>
            <a:fillRect/>
          </a:stretch>
        </p:blipFill>
        <p:spPr>
          <a:xfrm>
            <a:off x="4937759" y="1639490"/>
            <a:ext cx="3840480" cy="3670458"/>
          </a:xfrm>
          <a:prstGeom prst="rect">
            <a:avLst/>
          </a:prstGeom>
          <a:ln w="9525">
            <a:solidFill>
              <a:srgbClr val="CBD8CC"/>
            </a:solidFill>
          </a:ln>
        </p:spPr>
      </p:pic>
      <p:sp>
        <p:nvSpPr>
          <p:cNvPr id="7" name="TextBox 6"/>
          <p:cNvSpPr txBox="1"/>
          <p:nvPr/>
        </p:nvSpPr>
        <p:spPr>
          <a:xfrm>
            <a:off x="4937759" y="5474541"/>
            <a:ext cx="3840480" cy="365760"/>
          </a:xfrm>
          <a:prstGeom prst="rect">
            <a:avLst/>
          </a:prstGeom>
          <a:noFill/>
        </p:spPr>
        <p:txBody>
          <a:bodyPr wrap="square" lIns="0" rIns="0" tIns="0" bIns="0" anchor="t">
            <a:spAutoFit/>
          </a:bodyPr>
          <a:lstStyle/>
          <a:p>
            <a:pPr algn="ctr">
              <a:spcAft>
                <a:spcPts val="0"/>
              </a:spcAft>
            </a:pPr>
            <a:r>
              <a:rPr sz="1500" b="1" i="0">
                <a:solidFill>
                  <a:srgbClr val="3F7A46"/>
                </a:solidFill>
                <a:latin typeface="Times New Roman"/>
                <a:ea typeface="Times New Roman"/>
                <a:cs typeface="Times New Roman"/>
              </a:rPr>
              <a:t>Coverage comparison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4.jpeg"/>
          <p:cNvPicPr>
            <a:picLocks noChangeAspect="1"/>
          </p:cNvPicPr>
          <p:nvPr/>
        </p:nvPicPr>
        <p:blipFill>
          <a:blip r:embed="rId2"/>
          <a:stretch>
            <a:fillRect/>
          </a:stretch>
        </p:blipFill>
        <p:spPr>
          <a:xfrm>
            <a:off x="0" y="0"/>
            <a:ext cx="9144000" cy="6858000"/>
          </a:xfrm>
          <a:prstGeom prst="rect">
            <a:avLst/>
          </a:prstGeom>
        </p:spPr>
      </p:pic>
      <p:sp>
        <p:nvSpPr>
          <p:cNvPr id="3" name="TextBox 2"/>
          <p:cNvSpPr txBox="1"/>
          <p:nvPr/>
        </p:nvSpPr>
        <p:spPr>
          <a:xfrm>
            <a:off x="960120" y="384048"/>
            <a:ext cx="7818120" cy="566928"/>
          </a:xfrm>
          <a:prstGeom prst="rect">
            <a:avLst/>
          </a:prstGeom>
          <a:noFill/>
        </p:spPr>
        <p:txBody>
          <a:bodyPr wrap="square" lIns="0" rIns="0" tIns="0" bIns="0" anchor="ctr">
            <a:spAutoFit/>
          </a:bodyPr>
          <a:lstStyle/>
          <a:p>
            <a:pPr algn="ctr">
              <a:spcAft>
                <a:spcPts val="0"/>
              </a:spcAft>
            </a:pPr>
            <a:r>
              <a:rPr sz="2600" b="1" i="0">
                <a:solidFill>
                  <a:srgbClr val="FF0000"/>
                </a:solidFill>
                <a:latin typeface="Times New Roman"/>
                <a:ea typeface="Times New Roman"/>
                <a:cs typeface="Times New Roman"/>
              </a:rPr>
              <a:t>CONCLUSION, FUTURE WORK &amp; THANK YOU</a:t>
            </a:r>
          </a:p>
        </p:txBody>
      </p:sp>
      <p:sp>
        <p:nvSpPr>
          <p:cNvPr id="4" name="Rounded Rectangle 3"/>
          <p:cNvSpPr/>
          <p:nvPr/>
        </p:nvSpPr>
        <p:spPr>
          <a:xfrm>
            <a:off x="960120" y="1143000"/>
            <a:ext cx="7818120" cy="1783080"/>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5" name="TextBox 4"/>
          <p:cNvSpPr txBox="1"/>
          <p:nvPr/>
        </p:nvSpPr>
        <p:spPr>
          <a:xfrm>
            <a:off x="1188720" y="1271016"/>
            <a:ext cx="7360920" cy="320040"/>
          </a:xfrm>
          <a:prstGeom prst="rect">
            <a:avLst/>
          </a:prstGeom>
          <a:noFill/>
        </p:spPr>
        <p:txBody>
          <a:bodyPr wrap="square" lIns="0" rIns="0" tIns="0" bIns="0" anchor="t">
            <a:spAutoFit/>
          </a:bodyPr>
          <a:lstStyle/>
          <a:p>
            <a:pPr algn="l">
              <a:spcAft>
                <a:spcPts val="0"/>
              </a:spcAft>
            </a:pPr>
            <a:r>
              <a:rPr sz="1600" b="1" i="0">
                <a:solidFill>
                  <a:srgbClr val="FF0000"/>
                </a:solidFill>
                <a:latin typeface="Times New Roman"/>
                <a:ea typeface="Times New Roman"/>
                <a:cs typeface="Times New Roman"/>
              </a:rPr>
              <a:t>Conclusion</a:t>
            </a:r>
          </a:p>
        </p:txBody>
      </p:sp>
      <p:sp>
        <p:nvSpPr>
          <p:cNvPr id="6" name="TextBox 5"/>
          <p:cNvSpPr txBox="1"/>
          <p:nvPr/>
        </p:nvSpPr>
        <p:spPr>
          <a:xfrm>
            <a:off x="1188720" y="1655064"/>
            <a:ext cx="7360920" cy="1179576"/>
          </a:xfrm>
          <a:prstGeom prst="rect">
            <a:avLst/>
          </a:prstGeom>
          <a:noFill/>
        </p:spPr>
        <p:txBody>
          <a:bodyPr wrap="square" lIns="0" rIns="0" tIns="0" bIns="0" anchor="t">
            <a:spAutoFit/>
          </a:bodyPr>
          <a:lstStyle/>
          <a:p>
            <a:pPr algn="l">
              <a:spcAft>
                <a:spcPts val="0"/>
              </a:spcAft>
            </a:pPr>
            <a:r>
              <a:rPr sz="1500" b="0" i="0">
                <a:solidFill>
                  <a:srgbClr val="222222"/>
                </a:solidFill>
                <a:latin typeface="Times New Roman"/>
                <a:ea typeface="Times New Roman"/>
                <a:cs typeface="Times New Roman"/>
              </a:rPr>
              <a:t>A story is judged by independent evidence, not by its writing. On 120 held-out articles the system matched the baseline's accuracy and cut calibration error on accusations by 43%. It rated none of six careful fabrications as credible and gave an acceptable verdict in all twelve end-to-end cases.</a:t>
            </a:r>
          </a:p>
        </p:txBody>
      </p:sp>
      <p:sp>
        <p:nvSpPr>
          <p:cNvPr id="7" name="Rounded Rectangle 6"/>
          <p:cNvSpPr/>
          <p:nvPr/>
        </p:nvSpPr>
        <p:spPr>
          <a:xfrm>
            <a:off x="960120" y="3108960"/>
            <a:ext cx="7818120" cy="1783080"/>
          </a:xfrm>
          <a:prstGeom prst="roundRect">
            <a:avLst>
              <a:gd name="adj" fmla="val 5000"/>
            </a:avLst>
          </a:prstGeom>
          <a:solidFill>
            <a:srgbClr val="FFFFFF"/>
          </a:solidFill>
          <a:ln w="12700">
            <a:solidFill>
              <a:srgbClr val="7FB285"/>
            </a:solidFill>
          </a:ln>
          <a:effectLst/>
        </p:spPr>
        <p:style>
          <a:lnRef idx="1">
            <a:schemeClr val="accent1"/>
          </a:lnRef>
          <a:fillRef idx="3">
            <a:schemeClr val="accent1"/>
          </a:fillRef>
          <a:effectRef idx="2">
            <a:schemeClr val="accent1"/>
          </a:effectRef>
          <a:fontRef idx="minor">
            <a:schemeClr val="lt1"/>
          </a:fontRef>
        </p:style>
        <p:txBody>
          <a:bodyPr rtlCol="0" anchor="ctr" lIns="54864" rIns="54864" tIns="54864" bIns="54864"/>
          <a:lstStyle/>
          <a:p>
            <a:pPr algn="ctr"/>
          </a:p>
        </p:txBody>
      </p:sp>
      <p:sp>
        <p:nvSpPr>
          <p:cNvPr id="8" name="TextBox 7"/>
          <p:cNvSpPr txBox="1"/>
          <p:nvPr/>
        </p:nvSpPr>
        <p:spPr>
          <a:xfrm>
            <a:off x="1188720" y="3236976"/>
            <a:ext cx="7360920" cy="320040"/>
          </a:xfrm>
          <a:prstGeom prst="rect">
            <a:avLst/>
          </a:prstGeom>
          <a:noFill/>
        </p:spPr>
        <p:txBody>
          <a:bodyPr wrap="square" lIns="0" rIns="0" tIns="0" bIns="0" anchor="t">
            <a:spAutoFit/>
          </a:bodyPr>
          <a:lstStyle/>
          <a:p>
            <a:pPr algn="l">
              <a:spcAft>
                <a:spcPts val="0"/>
              </a:spcAft>
            </a:pPr>
            <a:r>
              <a:rPr sz="1600" b="1" i="0">
                <a:solidFill>
                  <a:srgbClr val="FF0000"/>
                </a:solidFill>
                <a:latin typeface="Times New Roman"/>
                <a:ea typeface="Times New Roman"/>
                <a:cs typeface="Times New Roman"/>
              </a:rPr>
              <a:t>Future Work</a:t>
            </a:r>
          </a:p>
        </p:txBody>
      </p:sp>
      <p:sp>
        <p:nvSpPr>
          <p:cNvPr id="9" name="TextBox 8"/>
          <p:cNvSpPr txBox="1"/>
          <p:nvPr/>
        </p:nvSpPr>
        <p:spPr>
          <a:xfrm>
            <a:off x="1188720" y="3621024"/>
            <a:ext cx="7360920" cy="1179576"/>
          </a:xfrm>
          <a:prstGeom prst="rect">
            <a:avLst/>
          </a:prstGeom>
          <a:noFill/>
        </p:spPr>
        <p:txBody>
          <a:bodyPr wrap="square" lIns="0" rIns="0" tIns="0" bIns="0" anchor="t">
            <a:spAutoFit/>
          </a:bodyPr>
          <a:lstStyle/>
          <a:p>
            <a:pPr algn="l">
              <a:spcAft>
                <a:spcPts val="0"/>
              </a:spcAft>
            </a:pPr>
            <a:r>
              <a:rPr sz="1500" b="0" i="0">
                <a:solidFill>
                  <a:srgbClr val="222222"/>
                </a:solidFill>
                <a:latin typeface="Times New Roman"/>
                <a:ea typeface="Times New Roman"/>
                <a:cs typeface="Times New Roman"/>
              </a:rPr>
              <a:t>Grow the labelled corpus beyond 239 articles so the priors can be measured; hand-check 30 live claims; collect ratings for regional Indian outlets; read full articles with natural-language inference; add image forensics as one more observation.</a:t>
            </a:r>
          </a:p>
        </p:txBody>
      </p:sp>
      <p:sp>
        <p:nvSpPr>
          <p:cNvPr id="10" name="TextBox 9"/>
          <p:cNvSpPr txBox="1"/>
          <p:nvPr/>
        </p:nvSpPr>
        <p:spPr>
          <a:xfrm>
            <a:off x="960120" y="5138928"/>
            <a:ext cx="7818120" cy="640080"/>
          </a:xfrm>
          <a:prstGeom prst="rect">
            <a:avLst/>
          </a:prstGeom>
          <a:noFill/>
        </p:spPr>
        <p:txBody>
          <a:bodyPr wrap="square" lIns="0" rIns="0" tIns="0" bIns="0" anchor="ctr">
            <a:spAutoFit/>
          </a:bodyPr>
          <a:lstStyle/>
          <a:p>
            <a:pPr algn="ctr">
              <a:spcAft>
                <a:spcPts val="0"/>
              </a:spcAft>
            </a:pPr>
            <a:r>
              <a:rPr sz="3200" b="1" i="0">
                <a:solidFill>
                  <a:srgbClr val="FF0000"/>
                </a:solidFill>
                <a:latin typeface="Times New Roman"/>
                <a:ea typeface="Times New Roman"/>
                <a:cs typeface="Times New Roman"/>
              </a:rPr>
              <a:t>THANK YOU</a:t>
            </a:r>
          </a:p>
        </p:txBody>
      </p:sp>
      <p:sp>
        <p:nvSpPr>
          <p:cNvPr id="11" name="TextBox 10"/>
          <p:cNvSpPr txBox="1"/>
          <p:nvPr/>
        </p:nvSpPr>
        <p:spPr>
          <a:xfrm>
            <a:off x="960120" y="5806440"/>
            <a:ext cx="7818120" cy="365760"/>
          </a:xfrm>
          <a:prstGeom prst="rect">
            <a:avLst/>
          </a:prstGeom>
          <a:noFill/>
        </p:spPr>
        <p:txBody>
          <a:bodyPr wrap="square" lIns="0" rIns="0" tIns="0" bIns="0" anchor="t">
            <a:spAutoFit/>
          </a:bodyPr>
          <a:lstStyle/>
          <a:p>
            <a:pPr algn="ctr">
              <a:spcAft>
                <a:spcPts val="0"/>
              </a:spcAft>
            </a:pPr>
            <a:r>
              <a:rPr sz="1500" b="0" i="0">
                <a:solidFill>
                  <a:srgbClr val="222222"/>
                </a:solidFill>
                <a:latin typeface="Times New Roman"/>
                <a:ea typeface="Times New Roman"/>
                <a:cs typeface="Times New Roman"/>
              </a:rPr>
              <a:t>A live demo is available for the panel.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TotalTime>
  <Words>979</Words>
  <Application>Microsoft Office PowerPoint</Application>
  <PresentationFormat>On-screen Show (4:3)</PresentationFormat>
  <Paragraphs>157</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Nandha Kumar S</cp:lastModifiedBy>
  <cp:revision>11</cp:revision>
  <dcterms:created xsi:type="dcterms:W3CDTF">2026-09-10T01:57:36Z</dcterms:created>
  <dcterms:modified xsi:type="dcterms:W3CDTF">2026-09-12T04:25:10Z</dcterms:modified>
</cp:coreProperties>
</file>