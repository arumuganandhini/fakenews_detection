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9" r:id="rId13"/>
    <p:sldId id="265" r:id="rId14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3F7A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Phase I</c:v>
                </c:pt>
                <c:pt idx="1">
                  <c:v>Now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</c:v>
                </c:pt>
                <c:pt idx="1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66-4135-8787-F2B13C1FF8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5770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F9249-7AB9-7CA5-11D2-A85302D39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31BA77-BCF7-BB27-526A-1E3C28ABC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A7975E-53FC-CF19-A7C8-A4D627FB3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236EC-839C-CAAF-BAD4-D68AF59016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250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EE2C8-86EE-2168-27CB-E4FF84CD7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2404E-328B-C467-ED54-5406B9754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7B39A-3BA0-60AC-6C14-7F41FE1B4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111A5-2FD0-B4F8-B732-5D5B7229EB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81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83623-295C-D8A5-BECA-BD2FE1F5E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B13B87-00D6-9807-0CBC-00BA20F6D5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A39E2-951D-8BC9-8DCC-3B9820B37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68B20-1839-A2F0-4B2D-43CBF7909E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01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unpacked/ppt/media/image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36" y="0"/>
            <a:ext cx="3066898" cy="6858000"/>
          </a:xfrm>
          <a:prstGeom prst="rect">
            <a:avLst/>
          </a:prstGeom>
        </p:spPr>
      </p:pic>
      <p:pic>
        <p:nvPicPr>
          <p:cNvPr id="3" name="Image 1" descr="template_unpacked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305" y="1343254"/>
            <a:ext cx="1476756" cy="1380744"/>
          </a:xfrm>
          <a:prstGeom prst="rect">
            <a:avLst/>
          </a:prstGeom>
        </p:spPr>
      </p:pic>
      <p:pic>
        <p:nvPicPr>
          <p:cNvPr id="4" name="Image 2" descr="template_unpacked/ppt/media/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39" y="4495190"/>
            <a:ext cx="1476756" cy="18379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353105" y="650922"/>
            <a:ext cx="5541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22CSP72 – PROJECT WORK II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II REVIEW</a:t>
            </a:r>
            <a:endParaRPr lang="en-US" sz="2000" dirty="0"/>
          </a:p>
        </p:txBody>
      </p:sp>
      <p:sp>
        <p:nvSpPr>
          <p:cNvPr id="6" name="Text 1"/>
          <p:cNvSpPr txBox="1"/>
          <p:nvPr/>
        </p:nvSpPr>
        <p:spPr>
          <a:xfrm>
            <a:off x="3353105" y="1691640"/>
            <a:ext cx="5815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AI-Powered News Trust and Credibility Analysis Platform</a:t>
            </a:r>
          </a:p>
          <a:p>
            <a:pPr algn="ctr"/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
</a:t>
            </a:r>
            <a:r>
              <a:rPr lang="en-US" sz="2000" b="1" dirty="0">
                <a:latin typeface="Times New Roman"/>
                <a:cs typeface="Times New Roman"/>
              </a:rPr>
              <a:t>Date : 12-09-2026</a:t>
            </a:r>
          </a:p>
          <a:p>
            <a:pPr marL="0" indent="0" algn="ctr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"/>
          <p:cNvSpPr txBox="1"/>
          <p:nvPr/>
        </p:nvSpPr>
        <p:spPr>
          <a:xfrm>
            <a:off x="3736848" y="3520440"/>
            <a:ext cx="55412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Number  :   CO5
Team Guide      :   Ms. M. </a:t>
            </a:r>
            <a:r>
              <a:rPr lang="en-US" sz="1600" b="1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Kannukkiniyal</a:t>
            </a:r>
            <a:r>
              <a:rPr lang="en-US" sz="16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Members :
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                          Mugilan K S (23CSR138)
                               Nandha Kumar S (23CSR140)
                               Nandhini A (23CSR141)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unpacked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7224" y="0"/>
            <a:ext cx="9144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2881" y="663411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PROBLEM STATEMENT &amp; PHASE II OBJECTIVES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1124567" y="1403858"/>
            <a:ext cx="7818120" cy="700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Existing fake news detectors only say “Fake” or “Real” — no explanation, no evidence, and often overconfident scores. Phase I built a four-checker explainable pipeline. Phase II asks: is the explanation itself trustworthy, and does it survive the real world?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77095" y="2258314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7FB28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86760" y="23870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7A4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01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069848" y="2830068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Six-Angle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1012447" y="3340136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article checked from 6 independent angles, not 4</a:t>
            </a:r>
            <a:r>
              <a:rPr lang="en-US" sz="11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454075" y="2255193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7FB28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33256" y="24575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7A4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02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3796284" y="2844583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Invented Scores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3760869" y="3323553"/>
            <a:ext cx="18784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Never produce a score for a check that did not run.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115159" y="2255193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7FB285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6299816" y="242566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7A4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03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6219444" y="2826149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Graceful Degradation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6282617" y="3292638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Keep working when the AI service is slow, busy, or withdrawn.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77095" y="4367131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7FB285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960120" y="4503710"/>
            <a:ext cx="642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7A4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04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1109729" y="5049792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Full Article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960120" y="5426456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Judge the real article, not the 200-character feed preview.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390180" y="4367131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7FB285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3647948" y="4517243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7A4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05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3647948" y="501084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Live Visibility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3558325" y="5433531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 enough to use, with results visible while analysis runs.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unpacked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374614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LITERATURE SURVEY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870162"/>
              </p:ext>
            </p:extLst>
          </p:nvPr>
        </p:nvGraphicFramePr>
        <p:xfrm>
          <a:off x="960120" y="1245834"/>
          <a:ext cx="7893368" cy="5166360"/>
        </p:xfrm>
        <a:graphic>
          <a:graphicData uri="http://schemas.openxmlformats.org/drawingml/2006/table">
            <a:tbl>
              <a:tblPr/>
              <a:tblGrid>
                <a:gridCol w="2406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Reference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7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What They Did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7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What's Missing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7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Shu et al., KDD 2021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Explains detection via user comments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Needs social comments; can't check source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Ahmed et al., ISDDC 2022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ML on 44,000 ISOT articles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Fake/Real label only; no explanation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Da San Martino et al., </a:t>
                      </a:r>
                      <a:r>
                        <a:rPr lang="en-US"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SemEval</a:t>
                      </a: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2022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Labels 14 propaganda techniques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Research task only; no reader-facing tool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Thorne et al., NAACL 2023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Verifies claims via FEVER dataset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Wikipedia evidence only; not live news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Wang et al., ACM Web 2024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LLM weighs competing crowd reports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Requires many reports per claim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Guo et al., ICML 2025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Proved neural networks are overconfident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Fix rarely applied in fake news systems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unpacked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461772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RESEARCH GAP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1143000" y="1211580"/>
            <a:ext cx="7818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Despite significant prior work, no single published system combines all the capabilities our platform delivers.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1218438" y="1440180"/>
            <a:ext cx="7818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Labels without explanations or evidence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Rarely cross-checks claims against other outlets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Confidence scores are rarely calibrated or honest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Propaganda detection exists in research, not in tools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Failed checks silently emit neutral scores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platform unifies all seven analysis dimensions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1896165F-EA50-B713-7E3A-A26226BF6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0784" y="1805940"/>
            <a:ext cx="3601212" cy="45521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unpacked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201168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SYSTEM ARCHITECTURE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78168" y="971169"/>
            <a:ext cx="8565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5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35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six-checker parallel pipeline with an intelligent AI Gateway and a transparent Trust Score Engine.</a:t>
            </a:r>
          </a:p>
          <a:p>
            <a:endParaRPr lang="en-US" sz="135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816864" y="1793176"/>
            <a:ext cx="1851660" cy="685800"/>
          </a:xfrm>
          <a:prstGeom prst="chevron">
            <a:avLst/>
          </a:prstGeom>
          <a:solidFill>
            <a:srgbClr val="3F7A4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 txBox="1"/>
          <p:nvPr/>
        </p:nvSpPr>
        <p:spPr>
          <a:xfrm>
            <a:off x="952024" y="1755268"/>
            <a:ext cx="18516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Input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249043" y="2773680"/>
            <a:ext cx="1851660" cy="685800"/>
          </a:xfrm>
          <a:prstGeom prst="chevron">
            <a:avLst/>
          </a:prstGeom>
          <a:solidFill>
            <a:srgbClr val="7FB28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5"/>
          <p:cNvSpPr txBox="1"/>
          <p:nvPr/>
        </p:nvSpPr>
        <p:spPr>
          <a:xfrm rot="10800000" flipV="1">
            <a:off x="2344103" y="2849880"/>
            <a:ext cx="1851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Fetcher &amp; Auth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0822" y="3400044"/>
            <a:ext cx="1851660" cy="685800"/>
          </a:xfrm>
          <a:prstGeom prst="chevron">
            <a:avLst/>
          </a:prstGeom>
          <a:solidFill>
            <a:srgbClr val="3F7A4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7"/>
          <p:cNvSpPr txBox="1"/>
          <p:nvPr/>
        </p:nvSpPr>
        <p:spPr>
          <a:xfrm>
            <a:off x="4376928" y="3506724"/>
            <a:ext cx="1851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Checkers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75870" y="4259580"/>
            <a:ext cx="1851660" cy="685800"/>
          </a:xfrm>
          <a:prstGeom prst="chevron">
            <a:avLst/>
          </a:prstGeom>
          <a:solidFill>
            <a:srgbClr val="7FB28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Text 9"/>
          <p:cNvSpPr txBox="1"/>
          <p:nvPr/>
        </p:nvSpPr>
        <p:spPr>
          <a:xfrm>
            <a:off x="6724745" y="4259580"/>
            <a:ext cx="18516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52024" y="5559552"/>
            <a:ext cx="7818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Gateway (NVIDIA NIM + Google Gemini) handles provider failover and falls back to word-pattern analysis. Results are cached for instant re-opening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unpacked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508254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PROPOSED WORK &amp; INNOVATION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1435608" y="1305687"/>
            <a:ext cx="7708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Trust Score Engine remains our core contribution. </a:t>
            </a:r>
            <a:r>
              <a:rPr lang="en-US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 II additions: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078992" y="2340864"/>
            <a:ext cx="2453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7FB28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493520" y="2841879"/>
            <a:ext cx="2234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Honest Stand-Down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447038" y="3271266"/>
            <a:ext cx="2234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Checks with no evidence contribute nothing; weight redistributes so percentages total exactly 100.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752088" y="2369058"/>
            <a:ext cx="2453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7FB28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 txBox="1"/>
          <p:nvPr/>
        </p:nvSpPr>
        <p:spPr>
          <a:xfrm>
            <a:off x="4213860" y="2804160"/>
            <a:ext cx="2234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Invented Scores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3947160" y="3271266"/>
            <a:ext cx="2353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Removed a defect where failed checkers returned neutral 5/10, masking unchecked articles.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425184" y="2372868"/>
            <a:ext cx="2453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7FB28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77228" y="2784348"/>
            <a:ext cx="2234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Graceful Degradation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6544056" y="3314700"/>
            <a:ext cx="2234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Lexicon and pattern analysis takes over when AI is unreachable; the report states this explicitly</a:t>
            </a:r>
            <a:r>
              <a:rPr lang="en-US" sz="105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129284" y="4270248"/>
            <a:ext cx="2453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7FB28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2"/>
          <p:cNvSpPr txBox="1"/>
          <p:nvPr/>
        </p:nvSpPr>
        <p:spPr>
          <a:xfrm>
            <a:off x="1298448" y="4745736"/>
            <a:ext cx="2234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Provider Independence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239012" y="5116068"/>
            <a:ext cx="2234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behind a gateway; withdrawn or congested providers no longer stop the system.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752088" y="4290060"/>
            <a:ext cx="2453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7FB28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5"/>
          <p:cNvSpPr txBox="1"/>
          <p:nvPr/>
        </p:nvSpPr>
        <p:spPr>
          <a:xfrm>
            <a:off x="3947160" y="4724400"/>
            <a:ext cx="2234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Span-Level Evidence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3959352" y="5116068"/>
            <a:ext cx="2234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flagged sentence and persuasion technique is quoted from the article.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097280" y="374904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OF THE PROJECT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151882" y="2577083"/>
            <a:ext cx="3771900" cy="457200"/>
          </a:xfrm>
          <a:prstGeom prst="roundRect">
            <a:avLst>
              <a:gd name="adj" fmla="val 12000"/>
            </a:avLst>
          </a:prstGeom>
          <a:solidFill>
            <a:srgbClr val="3F7A4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732020" y="2577083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 — New Capabilities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51738" y="1403604"/>
            <a:ext cx="3771900" cy="457200"/>
          </a:xfrm>
          <a:prstGeom prst="roundRect">
            <a:avLst>
              <a:gd name="adj" fmla="val 12000"/>
            </a:avLst>
          </a:prstGeom>
          <a:solidFill>
            <a:srgbClr val="7FB28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51738" y="1426464"/>
            <a:ext cx="3388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 — Core Platform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352669" y="3104387"/>
            <a:ext cx="37719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endParaRPr lang="en-US" sz="1200" dirty="0">
              <a:highlight>
                <a:srgbClr val="008000"/>
              </a:highligh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D1015D-D65E-CDBB-A420-EE17439A2557}"/>
              </a:ext>
            </a:extLst>
          </p:cNvPr>
          <p:cNvSpPr/>
          <p:nvPr/>
        </p:nvSpPr>
        <p:spPr>
          <a:xfrm>
            <a:off x="960120" y="1966721"/>
            <a:ext cx="3771900" cy="2595373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90500" indent="-1905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News platform (feed, login, history, quizzes) — DONE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0" indent="-1905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Source reputation database (~120 outlets) — DONE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0" indent="-1905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Clickbait and bias checkers with highlighting — DONE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0" indent="-1905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Cross-source claim verification with links — DONE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0" indent="-1905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Trust Score Engine + explainable report — DONE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0" indent="-1905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Testing framework for accuracy — DONE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E1EB51-4E28-A5E9-FA3C-69E8E917AF10}"/>
              </a:ext>
            </a:extLst>
          </p:cNvPr>
          <p:cNvSpPr/>
          <p:nvPr/>
        </p:nvSpPr>
        <p:spPr>
          <a:xfrm>
            <a:off x="5152644" y="3104387"/>
            <a:ext cx="3828288" cy="311353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Source Transparency checker — </a:t>
            </a: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Heebo Bold" pitchFamily="34" charset="-122"/>
                <a:cs typeface="Times New Roman" panose="02020603050405020304" pitchFamily="18" charset="0"/>
              </a:rPr>
              <a:t>DONE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Persuasion Technique detector (</a:t>
            </a:r>
            <a:r>
              <a:rPr lang="en-US" sz="1200" dirty="0" err="1">
                <a:solidFill>
                  <a:srgbClr val="FFFFFF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SemEval</a:t>
            </a: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) — </a:t>
            </a: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Heebo Bold" pitchFamily="34" charset="-122"/>
                <a:cs typeface="Times New Roman" panose="02020603050405020304" pitchFamily="18" charset="0"/>
              </a:rPr>
              <a:t>DONE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Multi-provider AI gateway with failover — </a:t>
            </a: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Heebo Bold" pitchFamily="34" charset="-122"/>
                <a:cs typeface="Times New Roman" panose="02020603050405020304" pitchFamily="18" charset="0"/>
              </a:rPr>
              <a:t>DONE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Offline fallback </a:t>
            </a:r>
            <a:r>
              <a:rPr lang="en-US" sz="1200" dirty="0" err="1">
                <a:solidFill>
                  <a:srgbClr val="FFFFFF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analysers</a:t>
            </a: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 — </a:t>
            </a: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Heebo Bold" pitchFamily="34" charset="-122"/>
                <a:cs typeface="Times New Roman" panose="02020603050405020304" pitchFamily="18" charset="0"/>
              </a:rPr>
              <a:t>DONE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Compare Coverage page — </a:t>
            </a: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Heebo Bold" pitchFamily="34" charset="-122"/>
                <a:cs typeface="Times New Roman" panose="02020603050405020304" pitchFamily="18" charset="0"/>
              </a:rPr>
              <a:t>DONE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Analyze Any Article by link — </a:t>
            </a: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Heebo Bold" pitchFamily="34" charset="-122"/>
                <a:cs typeface="Times New Roman" panose="02020603050405020304" pitchFamily="18" charset="0"/>
              </a:rPr>
              <a:t>DONE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Personal reading dashboard — </a:t>
            </a: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Heebo Bold" pitchFamily="34" charset="-122"/>
                <a:cs typeface="Times New Roman" panose="02020603050405020304" pitchFamily="18" charset="0"/>
              </a:rPr>
              <a:t>DONE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0" indent="-1905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unpacked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898"/>
            <a:ext cx="9144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4420" y="665681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IMPLEMENTATION &amp; INTERMEDIATE RESULTS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1577340" y="1550521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923815728"/>
              </p:ext>
            </p:extLst>
          </p:nvPr>
        </p:nvGraphicFramePr>
        <p:xfrm>
          <a:off x="1143001" y="2078738"/>
          <a:ext cx="32918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983480" y="182483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3"/>
          <p:cNvSpPr/>
          <p:nvPr/>
        </p:nvSpPr>
        <p:spPr>
          <a:xfrm>
            <a:off x="937261" y="4491433"/>
            <a:ext cx="7818119" cy="1347220"/>
          </a:xfrm>
          <a:prstGeom prst="roundRect">
            <a:avLst>
              <a:gd name="adj" fmla="val 6316"/>
            </a:avLst>
          </a:prstGeom>
          <a:solidFill>
            <a:srgbClr val="EAF5EC"/>
          </a:solidFill>
          <a:ln w="12700">
            <a:solidFill>
              <a:srgbClr val="7FB28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84149" y="4816706"/>
            <a:ext cx="7818119" cy="85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Resilience test (AI off):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Fabricated article →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2.3/10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Ordinary reporting →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9.8/10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Grounding Test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9/9 quoted sentences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genuinely present in the article</a:t>
            </a: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960120" y="5968749"/>
            <a:ext cx="7818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Removing any checker lowered accuracy — every module contributes. Re-running on the current six-checker pipeline is the next step.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D29471-0462-2B48-E157-5AD9222A3C62}"/>
              </a:ext>
            </a:extLst>
          </p:cNvPr>
          <p:cNvSpPr txBox="1"/>
          <p:nvPr/>
        </p:nvSpPr>
        <p:spPr>
          <a:xfrm>
            <a:off x="4434841" y="1796974"/>
            <a:ext cx="4657344" cy="22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improved: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82% →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91%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any checker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accuracy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checker contributes to the overall result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are now visible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analysis is running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Previously analysed articles can be reopened instantly using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cached results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unpacked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4191" y="0"/>
            <a:ext cx="9144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98791" y="484632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GIT TRACKING &amp; PAPER DRAFT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1790700" y="1307211"/>
            <a:ext cx="26671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Repository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529454" y="1307211"/>
            <a:ext cx="39524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Paper Draft Status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960120" y="4069080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1005840" y="4370832"/>
            <a:ext cx="1472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2523744" y="4069080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2363725" y="3895234"/>
            <a:ext cx="1472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4087368" y="4069080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4133088" y="4370832"/>
            <a:ext cx="1472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5650992" y="4069080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5696712" y="4370832"/>
            <a:ext cx="1472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7214616" y="4069080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7260336" y="4370832"/>
            <a:ext cx="1472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A479974-C361-2E38-C634-AC6153768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295" y="4644771"/>
            <a:ext cx="7369111" cy="219499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6FB6AB49-7BE0-49C3-AF51-70AD39923084}"/>
              </a:ext>
            </a:extLst>
          </p:cNvPr>
          <p:cNvSpPr/>
          <p:nvPr/>
        </p:nvSpPr>
        <p:spPr>
          <a:xfrm>
            <a:off x="4823459" y="1778643"/>
            <a:ext cx="4103370" cy="28260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4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Located in docs/paper 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0" indent="-1905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Title, abstract, and introduction — written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0" indent="-1905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Methodology covers all six checkers and calibration — written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0" indent="-1905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Results section holds real measured numbers — written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0" indent="-1905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Remaining sections to be completed after benchmark re-run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E6493B6-6985-5138-4D9E-AAD13697DF30}"/>
              </a:ext>
            </a:extLst>
          </p:cNvPr>
          <p:cNvSpPr/>
          <p:nvPr/>
        </p:nvSpPr>
        <p:spPr>
          <a:xfrm>
            <a:off x="960121" y="1778643"/>
            <a:ext cx="3611879" cy="28260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en-US" sz="12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github.com/</a:t>
            </a:r>
            <a:r>
              <a:rPr lang="en-US" sz="1200" b="1" dirty="0" err="1">
                <a:solidFill>
                  <a:schemeClr val="accent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Arumuganandhini</a:t>
            </a:r>
            <a:r>
              <a:rPr lang="en-US" sz="12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/</a:t>
            </a:r>
            <a:r>
              <a:rPr lang="en-US" sz="1200" b="1" dirty="0" err="1">
                <a:solidFill>
                  <a:schemeClr val="accent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FakeNews_Detection</a:t>
            </a:r>
            <a:endParaRPr lang="en-US" sz="1200" b="1" dirty="0">
              <a:solidFill>
                <a:schemeClr val="accent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 — stable project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— development branch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API keys and datasets excluded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867732-9919-467F-F022-D0EBB01BC6BA}"/>
              </a:ext>
            </a:extLst>
          </p:cNvPr>
          <p:cNvSpPr txBox="1"/>
          <p:nvPr/>
        </p:nvSpPr>
        <p:spPr>
          <a:xfrm>
            <a:off x="1321169" y="2046089"/>
            <a:ext cx="895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Repo Url</a:t>
            </a:r>
            <a:r>
              <a:rPr lang="en-IN" b="1" dirty="0"/>
              <a:t>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B2F9C-2158-6F92-E361-578CA83FF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>
            <a:extLst>
              <a:ext uri="{FF2B5EF4-FFF2-40B4-BE49-F238E27FC236}">
                <a16:creationId xmlns:a16="http://schemas.microsoft.com/office/drawing/2014/main" id="{240A9D28-A075-239A-9255-3E0D8F301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983A2F6E-B73D-91CE-3311-61E9CCDE2526}"/>
              </a:ext>
            </a:extLst>
          </p:cNvPr>
          <p:cNvSpPr txBox="1"/>
          <p:nvPr/>
        </p:nvSpPr>
        <p:spPr>
          <a:xfrm>
            <a:off x="960120" y="508254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SDG GOALS ADDRESSED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0A784514-20EC-7799-692E-AD317F1CB8FF}"/>
              </a:ext>
            </a:extLst>
          </p:cNvPr>
          <p:cNvSpPr txBox="1"/>
          <p:nvPr/>
        </p:nvSpPr>
        <p:spPr>
          <a:xfrm>
            <a:off x="1435608" y="1305687"/>
            <a:ext cx="7708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platform's mission of verifiable, explainable news trust aligns with four </a:t>
            </a:r>
            <a:r>
              <a:rPr lang="en-US" sz="15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 Sustainable Development Goals.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F1D28E40-2A8F-7AB4-C5A6-BD4F73B4A644}"/>
              </a:ext>
            </a:extLst>
          </p:cNvPr>
          <p:cNvSpPr/>
          <p:nvPr/>
        </p:nvSpPr>
        <p:spPr>
          <a:xfrm>
            <a:off x="960120" y="2340864"/>
            <a:ext cx="3600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7FB285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5A9A2DF-ABA1-FDC5-A9E2-2AE496B8DEF8}"/>
              </a:ext>
            </a:extLst>
          </p:cNvPr>
          <p:cNvSpPr txBox="1"/>
          <p:nvPr/>
        </p:nvSpPr>
        <p:spPr>
          <a:xfrm>
            <a:off x="1160120" y="2820864"/>
            <a:ext cx="3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SDG 16: Institutions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672EDC14-8867-B37D-1436-9B2A35AB8A70}"/>
              </a:ext>
            </a:extLst>
          </p:cNvPr>
          <p:cNvSpPr txBox="1"/>
          <p:nvPr/>
        </p:nvSpPr>
        <p:spPr>
          <a:xfrm>
            <a:off x="1160120" y="3240864"/>
            <a:ext cx="320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Counters misinformation and builds public trust in accountable, transparent information sources.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00774838-ED3F-96A3-3722-37C81B1B9148}"/>
              </a:ext>
            </a:extLst>
          </p:cNvPr>
          <p:cNvSpPr/>
          <p:nvPr/>
        </p:nvSpPr>
        <p:spPr>
          <a:xfrm>
            <a:off x="5060120" y="2340864"/>
            <a:ext cx="3600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7FB28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BB93DD68-C2A1-58B9-A912-06200C3FE3CD}"/>
              </a:ext>
            </a:extLst>
          </p:cNvPr>
          <p:cNvSpPr txBox="1"/>
          <p:nvPr/>
        </p:nvSpPr>
        <p:spPr>
          <a:xfrm>
            <a:off x="5260120" y="2820864"/>
            <a:ext cx="3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SDG 9: Innovation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511DA873-9D6E-C3D7-F610-87E3C8C41B1E}"/>
              </a:ext>
            </a:extLst>
          </p:cNvPr>
          <p:cNvSpPr txBox="1"/>
          <p:nvPr/>
        </p:nvSpPr>
        <p:spPr>
          <a:xfrm>
            <a:off x="5260120" y="3240864"/>
            <a:ext cx="320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Applies AI innovation, a six-checker pipeline with gateway failover, to a real public-interest problem</a:t>
            </a: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527A7424-60C0-D145-D9C5-5A6A0F4320F3}"/>
              </a:ext>
            </a:extLst>
          </p:cNvPr>
          <p:cNvSpPr/>
          <p:nvPr/>
        </p:nvSpPr>
        <p:spPr>
          <a:xfrm>
            <a:off x="960120" y="4270248"/>
            <a:ext cx="3600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7FB28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360083E5-C181-2144-4C61-8C3F57E781B8}"/>
              </a:ext>
            </a:extLst>
          </p:cNvPr>
          <p:cNvSpPr txBox="1"/>
          <p:nvPr/>
        </p:nvSpPr>
        <p:spPr>
          <a:xfrm>
            <a:off x="1160120" y="4750248"/>
            <a:ext cx="3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SDG 4: Media Literacy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2550EF05-B889-1DF9-0735-695A3C5A2142}"/>
              </a:ext>
            </a:extLst>
          </p:cNvPr>
          <p:cNvSpPr txBox="1"/>
          <p:nvPr/>
        </p:nvSpPr>
        <p:spPr>
          <a:xfrm>
            <a:off x="1160120" y="5170248"/>
            <a:ext cx="320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Evidence-quoted, explainable reports teach readers to evaluate news critically, not just accept a label.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E1238393-A03F-0C0B-8ABD-6DAA1DA31430}"/>
              </a:ext>
            </a:extLst>
          </p:cNvPr>
          <p:cNvSpPr/>
          <p:nvPr/>
        </p:nvSpPr>
        <p:spPr>
          <a:xfrm>
            <a:off x="5060120" y="4270248"/>
            <a:ext cx="3600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7FB28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8B0E70A4-23F2-0E4B-B050-BF5F52A45DFA}"/>
              </a:ext>
            </a:extLst>
          </p:cNvPr>
          <p:cNvSpPr txBox="1"/>
          <p:nvPr/>
        </p:nvSpPr>
        <p:spPr>
          <a:xfrm>
            <a:off x="5260120" y="4750248"/>
            <a:ext cx="3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SDG 17: Partnerships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4EEC212B-6E1C-2062-8EEC-844492AD0FF1}"/>
              </a:ext>
            </a:extLst>
          </p:cNvPr>
          <p:cNvSpPr txBox="1"/>
          <p:nvPr/>
        </p:nvSpPr>
        <p:spPr>
          <a:xfrm>
            <a:off x="5260120" y="5170248"/>
            <a:ext cx="320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Open-source repository and shared datasets invite collaboration on public verification tools.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079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6F33C-7B24-5D56-3B8A-C52311F89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>
            <a:extLst>
              <a:ext uri="{FF2B5EF4-FFF2-40B4-BE49-F238E27FC236}">
                <a16:creationId xmlns:a16="http://schemas.microsoft.com/office/drawing/2014/main" id="{F25AD77C-4BEB-9D5E-DCD6-2BD64CF6D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4D62AAF4-B1CC-FE40-817D-F4696C5C3C21}"/>
              </a:ext>
            </a:extLst>
          </p:cNvPr>
          <p:cNvSpPr txBox="1"/>
          <p:nvPr/>
        </p:nvSpPr>
        <p:spPr>
          <a:xfrm>
            <a:off x="842000" y="508254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EBC543A4-2430-0018-75C0-3F47B1F265B7}"/>
              </a:ext>
            </a:extLst>
          </p:cNvPr>
          <p:cNvSpPr txBox="1"/>
          <p:nvPr/>
        </p:nvSpPr>
        <p:spPr>
          <a:xfrm>
            <a:off x="1435608" y="1305687"/>
            <a:ext cx="7708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D005A5CE-6E7D-E43A-3210-BC457169FE53}"/>
              </a:ext>
            </a:extLst>
          </p:cNvPr>
          <p:cNvSpPr txBox="1"/>
          <p:nvPr/>
        </p:nvSpPr>
        <p:spPr>
          <a:xfrm>
            <a:off x="1160120" y="2820864"/>
            <a:ext cx="3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2386FEAF-A18A-FB80-E93E-E8CA604ABF30}"/>
              </a:ext>
            </a:extLst>
          </p:cNvPr>
          <p:cNvSpPr txBox="1"/>
          <p:nvPr/>
        </p:nvSpPr>
        <p:spPr>
          <a:xfrm>
            <a:off x="1160120" y="3240864"/>
            <a:ext cx="320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2E7BAA22-9223-29B9-FE27-85A379BA3E05}"/>
              </a:ext>
            </a:extLst>
          </p:cNvPr>
          <p:cNvSpPr txBox="1"/>
          <p:nvPr/>
        </p:nvSpPr>
        <p:spPr>
          <a:xfrm>
            <a:off x="5260120" y="2820864"/>
            <a:ext cx="3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C0247631-10FD-DAD5-35B4-063F38A495E1}"/>
              </a:ext>
            </a:extLst>
          </p:cNvPr>
          <p:cNvSpPr txBox="1"/>
          <p:nvPr/>
        </p:nvSpPr>
        <p:spPr>
          <a:xfrm>
            <a:off x="5260120" y="3240864"/>
            <a:ext cx="320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59DF5423-7750-4805-AE7E-2EA879BD04FC}"/>
              </a:ext>
            </a:extLst>
          </p:cNvPr>
          <p:cNvSpPr txBox="1"/>
          <p:nvPr/>
        </p:nvSpPr>
        <p:spPr>
          <a:xfrm>
            <a:off x="1160120" y="4750248"/>
            <a:ext cx="3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A5054034-BC66-8D68-D1CF-1F28F7DE4891}"/>
              </a:ext>
            </a:extLst>
          </p:cNvPr>
          <p:cNvSpPr txBox="1"/>
          <p:nvPr/>
        </p:nvSpPr>
        <p:spPr>
          <a:xfrm>
            <a:off x="1160120" y="5170248"/>
            <a:ext cx="320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F61224FB-5655-3681-4DEA-6912492E4135}"/>
              </a:ext>
            </a:extLst>
          </p:cNvPr>
          <p:cNvSpPr txBox="1"/>
          <p:nvPr/>
        </p:nvSpPr>
        <p:spPr>
          <a:xfrm>
            <a:off x="5260120" y="4941648"/>
            <a:ext cx="3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AD140499-634F-A3E1-12A5-48ACC3CC5636}"/>
              </a:ext>
            </a:extLst>
          </p:cNvPr>
          <p:cNvSpPr txBox="1"/>
          <p:nvPr/>
        </p:nvSpPr>
        <p:spPr>
          <a:xfrm>
            <a:off x="5260120" y="5170248"/>
            <a:ext cx="320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3D7905-F0B5-FAA8-DE9D-29294FE0D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217" y="1177749"/>
            <a:ext cx="7733685" cy="50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031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3A3CF-FF56-1EB4-2C91-601DB30D7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>
            <a:extLst>
              <a:ext uri="{FF2B5EF4-FFF2-40B4-BE49-F238E27FC236}">
                <a16:creationId xmlns:a16="http://schemas.microsoft.com/office/drawing/2014/main" id="{54C98C49-3F19-4928-4210-24DFC9894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ED031CF8-C855-5B74-32BD-CE3B6DB55FFD}"/>
              </a:ext>
            </a:extLst>
          </p:cNvPr>
          <p:cNvSpPr txBox="1"/>
          <p:nvPr/>
        </p:nvSpPr>
        <p:spPr>
          <a:xfrm>
            <a:off x="842000" y="508254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88B761D7-C45C-5464-5435-B2612EDD668B}"/>
              </a:ext>
            </a:extLst>
          </p:cNvPr>
          <p:cNvSpPr txBox="1"/>
          <p:nvPr/>
        </p:nvSpPr>
        <p:spPr>
          <a:xfrm>
            <a:off x="1435608" y="1305687"/>
            <a:ext cx="7708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EA9E38A7-B546-3102-F629-A5EE25D04C09}"/>
              </a:ext>
            </a:extLst>
          </p:cNvPr>
          <p:cNvSpPr txBox="1"/>
          <p:nvPr/>
        </p:nvSpPr>
        <p:spPr>
          <a:xfrm>
            <a:off x="1160120" y="2820864"/>
            <a:ext cx="3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F598A6A0-7E27-C69D-20CA-2409461E0855}"/>
              </a:ext>
            </a:extLst>
          </p:cNvPr>
          <p:cNvSpPr txBox="1"/>
          <p:nvPr/>
        </p:nvSpPr>
        <p:spPr>
          <a:xfrm>
            <a:off x="1160120" y="3240864"/>
            <a:ext cx="320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9B46B375-84E4-274A-31A6-F4039E252E95}"/>
              </a:ext>
            </a:extLst>
          </p:cNvPr>
          <p:cNvSpPr txBox="1"/>
          <p:nvPr/>
        </p:nvSpPr>
        <p:spPr>
          <a:xfrm>
            <a:off x="5260120" y="2820864"/>
            <a:ext cx="3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427122F3-207E-AB63-B7F9-19A280651418}"/>
              </a:ext>
            </a:extLst>
          </p:cNvPr>
          <p:cNvSpPr txBox="1"/>
          <p:nvPr/>
        </p:nvSpPr>
        <p:spPr>
          <a:xfrm>
            <a:off x="5260120" y="3240864"/>
            <a:ext cx="320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316FE06A-431C-2ABE-26A7-BBB1EB211383}"/>
              </a:ext>
            </a:extLst>
          </p:cNvPr>
          <p:cNvSpPr txBox="1"/>
          <p:nvPr/>
        </p:nvSpPr>
        <p:spPr>
          <a:xfrm>
            <a:off x="1160120" y="4750248"/>
            <a:ext cx="3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6D97D720-FC6E-F810-4F96-9BA9FA769E69}"/>
              </a:ext>
            </a:extLst>
          </p:cNvPr>
          <p:cNvSpPr txBox="1"/>
          <p:nvPr/>
        </p:nvSpPr>
        <p:spPr>
          <a:xfrm>
            <a:off x="1160120" y="5170248"/>
            <a:ext cx="320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9870E200-C27B-469F-67F3-1C2018A84663}"/>
              </a:ext>
            </a:extLst>
          </p:cNvPr>
          <p:cNvSpPr txBox="1"/>
          <p:nvPr/>
        </p:nvSpPr>
        <p:spPr>
          <a:xfrm>
            <a:off x="5260120" y="4941648"/>
            <a:ext cx="3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261F128D-A645-71DB-43DF-DC2C597BD638}"/>
              </a:ext>
            </a:extLst>
          </p:cNvPr>
          <p:cNvSpPr txBox="1"/>
          <p:nvPr/>
        </p:nvSpPr>
        <p:spPr>
          <a:xfrm>
            <a:off x="5260120" y="5170248"/>
            <a:ext cx="320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452DE9-4596-ECBD-66BD-9D862980C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120" y="1305687"/>
            <a:ext cx="7853001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317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unpacked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010" y="-13716"/>
            <a:ext cx="9144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604076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PHASE III PLAN &amp; THANK YOU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002030" y="1625346"/>
            <a:ext cx="7818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7FB28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301115" y="1900809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Reading Trust History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1139190" y="2409444"/>
            <a:ext cx="7543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chart showing how reliable the news a user reads has been, week by week. Data is already stored; only the chart is new.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960120" y="3429000"/>
            <a:ext cx="7818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7FB28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3571875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Self-Learning Outlet Ratings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097280" y="4069080"/>
            <a:ext cx="7543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Our database covers ~120 outlets, so smaller sites show “no reliability record.” Phase III builds ratings from articles already analyzed — coverage grows automatically.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960120" y="5182552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THANK YOU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960120" y="5930265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 II scope is complete. A live demo is available for the panel.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994</Words>
  <Application>Microsoft Office PowerPoint</Application>
  <PresentationFormat>On-screen Show (4:3)</PresentationFormat>
  <Paragraphs>147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Nandhini Arumugam</cp:lastModifiedBy>
  <cp:revision>9</cp:revision>
  <dcterms:created xsi:type="dcterms:W3CDTF">2026-09-10T01:57:36Z</dcterms:created>
  <dcterms:modified xsi:type="dcterms:W3CDTF">2026-09-12T04:10:43Z</dcterms:modified>
</cp:coreProperties>
</file>